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2" r:id="rId2"/>
    <p:sldId id="265" r:id="rId3"/>
    <p:sldId id="263" r:id="rId4"/>
    <p:sldId id="264" r:id="rId5"/>
    <p:sldId id="266" r:id="rId6"/>
    <p:sldId id="267"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A50"/>
    <a:srgbClr val="76E0D1"/>
    <a:srgbClr val="FFFFFF"/>
    <a:srgbClr val="26AA97"/>
    <a:srgbClr val="FFFF99"/>
    <a:srgbClr val="959595"/>
    <a:srgbClr val="B7931F"/>
    <a:srgbClr val="7B5D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12" autoAdjust="0"/>
  </p:normalViewPr>
  <p:slideViewPr>
    <p:cSldViewPr snapToGrid="0" snapToObjects="1">
      <p:cViewPr varScale="1">
        <p:scale>
          <a:sx n="69" d="100"/>
          <a:sy n="69" d="100"/>
        </p:scale>
        <p:origin x="40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Net benefit (USD)</c:v>
                </c:pt>
              </c:strCache>
            </c:strRef>
          </c:tx>
          <c:spPr>
            <a:ln>
              <a:solidFill>
                <a:schemeClr val="tx1"/>
              </a:solidFill>
            </a:ln>
          </c:spPr>
          <c:invertIfNegative val="0"/>
          <c:dPt>
            <c:idx val="0"/>
            <c:invertIfNegative val="1"/>
            <c:bubble3D val="0"/>
            <c:spPr>
              <a:solidFill>
                <a:srgbClr val="B42318"/>
              </a:solidFill>
              <a:ln>
                <a:solidFill>
                  <a:schemeClr val="tx1"/>
                </a:solidFill>
              </a:ln>
            </c:spPr>
            <c:extLst>
              <c:ext xmlns:c16="http://schemas.microsoft.com/office/drawing/2014/chart" uri="{C3380CC4-5D6E-409C-BE32-E72D297353CC}">
                <c16:uniqueId val="{00000001-0515-4DE5-A6E3-ABFDAB7453F9}"/>
              </c:ext>
            </c:extLst>
          </c:dPt>
          <c:dPt>
            <c:idx val="1"/>
            <c:invertIfNegative val="1"/>
            <c:bubble3D val="0"/>
            <c:spPr>
              <a:solidFill>
                <a:srgbClr val="667085"/>
              </a:solidFill>
              <a:ln>
                <a:solidFill>
                  <a:schemeClr val="tx1"/>
                </a:solidFill>
              </a:ln>
            </c:spPr>
            <c:extLst>
              <c:ext xmlns:c16="http://schemas.microsoft.com/office/drawing/2014/chart" uri="{C3380CC4-5D6E-409C-BE32-E72D297353CC}">
                <c16:uniqueId val="{00000003-0515-4DE5-A6E3-ABFDAB7453F9}"/>
              </c:ext>
            </c:extLst>
          </c:dPt>
          <c:dPt>
            <c:idx val="2"/>
            <c:invertIfNegative val="1"/>
            <c:bubble3D val="0"/>
            <c:spPr>
              <a:solidFill>
                <a:srgbClr val="667085"/>
              </a:solidFill>
              <a:ln>
                <a:solidFill>
                  <a:schemeClr val="tx1"/>
                </a:solidFill>
              </a:ln>
            </c:spPr>
            <c:extLst>
              <c:ext xmlns:c16="http://schemas.microsoft.com/office/drawing/2014/chart" uri="{C3380CC4-5D6E-409C-BE32-E72D297353CC}">
                <c16:uniqueId val="{00000005-0515-4DE5-A6E3-ABFDAB7453F9}"/>
              </c:ext>
            </c:extLst>
          </c:dPt>
          <c:dPt>
            <c:idx val="3"/>
            <c:invertIfNegative val="1"/>
            <c:bubble3D val="0"/>
            <c:spPr>
              <a:solidFill>
                <a:srgbClr val="8FC7BA"/>
              </a:solidFill>
              <a:ln>
                <a:solidFill>
                  <a:schemeClr val="tx1"/>
                </a:solidFill>
              </a:ln>
            </c:spPr>
            <c:extLst>
              <c:ext xmlns:c16="http://schemas.microsoft.com/office/drawing/2014/chart" uri="{C3380CC4-5D6E-409C-BE32-E72D297353CC}">
                <c16:uniqueId val="{00000007-0515-4DE5-A6E3-ABFDAB7453F9}"/>
              </c:ext>
            </c:extLst>
          </c:dPt>
          <c:dPt>
            <c:idx val="4"/>
            <c:invertIfNegative val="1"/>
            <c:bubble3D val="0"/>
            <c:spPr>
              <a:solidFill>
                <a:srgbClr val="FFC000"/>
              </a:solidFill>
              <a:ln>
                <a:solidFill>
                  <a:schemeClr val="tx1"/>
                </a:solidFill>
              </a:ln>
            </c:spPr>
            <c:extLst>
              <c:ext xmlns:c16="http://schemas.microsoft.com/office/drawing/2014/chart" uri="{C3380CC4-5D6E-409C-BE32-E72D297353CC}">
                <c16:uniqueId val="{00000009-0515-4DE5-A6E3-ABFDAB7453F9}"/>
              </c:ext>
            </c:extLst>
          </c:dPt>
          <c:dLbls>
            <c:numFmt formatCode="#,##0,&quot;k&quot;" sourceLinked="0"/>
            <c:spPr>
              <a:noFill/>
              <a:ln>
                <a:noFill/>
              </a:ln>
              <a:effectLst/>
            </c:spPr>
            <c:txPr>
              <a:bodyPr/>
              <a:lstStyle/>
              <a:p>
                <a:pPr>
                  <a:defRPr sz="1100" b="1"/>
                </a:pPr>
                <a:endParaRPr lang="es-P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Raw score as %</c:v>
                </c:pt>
                <c:pt idx="1">
                  <c:v>No skill</c:v>
                </c:pt>
                <c:pt idx="2">
                  <c:v>Tuned ML (no score)</c:v>
                </c:pt>
                <c:pt idx="3">
                  <c:v>Histogram</c:v>
                </c:pt>
                <c:pt idx="4">
                  <c:v>Bayesian blocks</c:v>
                </c:pt>
              </c:strCache>
            </c:strRef>
          </c:cat>
          <c:val>
            <c:numRef>
              <c:f>Sheet1!$B$2:$B$6</c:f>
              <c:numCache>
                <c:formatCode>General</c:formatCode>
                <c:ptCount val="5"/>
                <c:pt idx="0">
                  <c:v>-343192</c:v>
                </c:pt>
                <c:pt idx="1">
                  <c:v>335426</c:v>
                </c:pt>
                <c:pt idx="2">
                  <c:v>316952</c:v>
                </c:pt>
                <c:pt idx="3">
                  <c:v>585293</c:v>
                </c:pt>
                <c:pt idx="4">
                  <c:v>591159</c:v>
                </c:pt>
              </c:numCache>
            </c:numRef>
          </c:val>
          <c:extLst>
            <c:ext xmlns:c16="http://schemas.microsoft.com/office/drawing/2014/chart" uri="{C3380CC4-5D6E-409C-BE32-E72D297353CC}">
              <c16:uniqueId val="{0000000A-0515-4DE5-A6E3-ABFDAB7453F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chemeClr val="tx1"/>
            </a:solidFill>
          </a:ln>
        </c:spPr>
        <c:txPr>
          <a:bodyPr/>
          <a:lstStyle/>
          <a:p>
            <a:pPr>
              <a:defRPr sz="900"/>
            </a:pPr>
            <a:endParaRPr lang="es-PE"/>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5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s-PE"/>
          </a:p>
        </p:txBody>
      </p:sp>
      <p:sp>
        <p:nvSpPr>
          <p:cNvPr id="3" name="Marcador de notas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Bian </a:t>
            </a:r>
            <a:r>
              <a:rPr lang="en-US" dirty="0" err="1"/>
              <a:t>Que's</a:t>
            </a:r>
            <a:r>
              <a:rPr lang="en-US" dirty="0"/>
              <a:t> story: the eldest brother cured illness before it appeared, so nobody knew his name. In China I saw banks act first on suspicious charges. Bianque brings that to a LATAM bank: detect, decide, contact first, resolve, and hand off when it should not act.</a:t>
            </a:r>
          </a:p>
          <a:p>
            <a:endParaRPr lang="es-PE" dirty="0"/>
          </a:p>
        </p:txBody>
      </p:sp>
    </p:spTree>
    <p:extLst>
      <p:ext uri="{BB962C8B-B14F-4D97-AF65-F5344CB8AC3E}">
        <p14:creationId xmlns:p14="http://schemas.microsoft.com/office/powerpoint/2010/main" val="2456410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s-PE"/>
          </a:p>
        </p:txBody>
      </p:sp>
      <p:sp>
        <p:nvSpPr>
          <p:cNvPr id="3" name="Marcador de notas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Contact reasons and complaints show where demand is. Charge disputes are 40% of complaints and breach SLA 20% of the time. The data says the only fraud signal is the bank's score. Data quality passes every contract check. Offline, an automated resolution costs about 33 cents vs 1.55 dollars per human contact.</a:t>
            </a:r>
          </a:p>
          <a:p>
            <a:endParaRPr lang="es-PE" dirty="0"/>
          </a:p>
        </p:txBody>
      </p:sp>
    </p:spTree>
    <p:extLst>
      <p:ext uri="{BB962C8B-B14F-4D97-AF65-F5344CB8AC3E}">
        <p14:creationId xmlns:p14="http://schemas.microsoft.com/office/powerpoint/2010/main" val="413605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s-PE"/>
          </a:p>
        </p:txBody>
      </p:sp>
      <p:sp>
        <p:nvSpPr>
          <p:cNvPr id="3" name="Marcador de notas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model only understands; the policy decides; the tools enforce identity, ownership and requirements; every action is read back before the customer hears about it; a human gets a structured package. Prompt injection cannot reach an action.</a:t>
            </a:r>
          </a:p>
        </p:txBody>
      </p:sp>
    </p:spTree>
    <p:extLst>
      <p:ext uri="{BB962C8B-B14F-4D97-AF65-F5344CB8AC3E}">
        <p14:creationId xmlns:p14="http://schemas.microsoft.com/office/powerpoint/2010/main" val="1213160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s-PE"/>
          </a:p>
        </p:txBody>
      </p:sp>
      <p:sp>
        <p:nvSpPr>
          <p:cNvPr id="3" name="Marcador de notas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pipeline is repeatable and tested. Before training we checked what is learnable: behavior is at chance, the score is at the ceiling, a tuned search could not beat it. The learned component is the calibrator, worth 256k over knowing nothing, with intervals.</a:t>
            </a:r>
          </a:p>
        </p:txBody>
      </p:sp>
    </p:spTree>
    <p:extLst>
      <p:ext uri="{BB962C8B-B14F-4D97-AF65-F5344CB8AC3E}">
        <p14:creationId xmlns:p14="http://schemas.microsoft.com/office/powerpoint/2010/main" val="314820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s-PE"/>
          </a:p>
        </p:txBody>
      </p:sp>
      <p:sp>
        <p:nvSpPr>
          <p:cNvPr id="3" name="Marcador de notas 2"/>
          <p:cNvSpPr>
            <a:spLocks noGrp="1"/>
          </p:cNvSpPr>
          <p:nvPr>
            <p:ph type="body" idx="1"/>
          </p:nvPr>
        </p:nvSpPr>
        <p:spPr>
          <a:xfrm>
            <a:off x="685800" y="4400550"/>
            <a:ext cx="5486400" cy="3600450"/>
          </a:xfrm>
          <a:prstGeom prst="rect">
            <a:avLst/>
          </a:prstGeom>
        </p:spPr>
        <p:txBody>
          <a:bodyPr/>
          <a:lstStyle/>
          <a:p>
            <a:r>
              <a:rPr lang="en-US" dirty="0"/>
              <a:t>We tested the real agent with 74 conversations designed to break it. Zero unsafe outcomes, which statistically means at most about four percent, not zero risk. Every eligible case was resolved safely, every case that needed a human reached one, and replies take about a second. Our first run found two unsafe outcomes; we fixed them and confirmed on a brand-new set. It is a real service: traced, retried, secured and reproducible, and we are explicit about what is missing to go live. Recommendation: roll out to everyone, and rerun the group analysis on real data.</a:t>
            </a:r>
          </a:p>
        </p:txBody>
      </p:sp>
    </p:spTree>
    <p:extLst>
      <p:ext uri="{BB962C8B-B14F-4D97-AF65-F5344CB8AC3E}">
        <p14:creationId xmlns:p14="http://schemas.microsoft.com/office/powerpoint/2010/main" val="342645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bianque-api-280716480355.us-central1.run.app"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microsoft.com/office/2007/relationships/hdphoto" Target="../media/hdphoto3.wd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5" Type="http://schemas.microsoft.com/office/2007/relationships/hdphoto" Target="../media/hdphoto2.wdp"/><Relationship Id="rId10" Type="http://schemas.openxmlformats.org/officeDocument/2006/relationships/chart" Target="../charts/chart1.xml"/><Relationship Id="rId4" Type="http://schemas.openxmlformats.org/officeDocument/2006/relationships/image" Target="../media/image7.png"/><Relationship Id="rId9" Type="http://schemas.microsoft.com/office/2007/relationships/hdphoto" Target="../media/hdphoto4.wdp"/></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hyperlink" Target="https://github.com/tomas-pucutay/factored-hackathon-2026-bianque" TargetMode="External"/><Relationship Id="rId4" Type="http://schemas.openxmlformats.org/officeDocument/2006/relationships/hyperlink" Target="https://bianque-api-280716480355.us-central1.run.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1CCF707-64DB-6371-40EF-04CE801629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5" name="TextBox 2">
            <a:extLst>
              <a:ext uri="{FF2B5EF4-FFF2-40B4-BE49-F238E27FC236}">
                <a16:creationId xmlns:a16="http://schemas.microsoft.com/office/drawing/2014/main" id="{56554542-0825-385A-856E-1E54F24BB9AF}"/>
              </a:ext>
            </a:extLst>
          </p:cNvPr>
          <p:cNvSpPr txBox="1"/>
          <p:nvPr/>
        </p:nvSpPr>
        <p:spPr>
          <a:xfrm>
            <a:off x="548640" y="411480"/>
            <a:ext cx="7444740" cy="769441"/>
          </a:xfrm>
          <a:prstGeom prst="rect">
            <a:avLst/>
          </a:prstGeom>
          <a:noFill/>
        </p:spPr>
        <p:txBody>
          <a:bodyPr wrap="square">
            <a:spAutoFit/>
          </a:bodyPr>
          <a:lstStyle/>
          <a:p>
            <a:pPr algn="ctr"/>
            <a:r>
              <a:rPr lang="es-MX" sz="4400" b="1" dirty="0">
                <a:solidFill>
                  <a:srgbClr val="FFFFFF"/>
                </a:solidFill>
                <a:latin typeface="Calibri"/>
              </a:rPr>
              <a:t>Project </a:t>
            </a:r>
            <a:r>
              <a:rPr sz="4400" b="1" dirty="0">
                <a:solidFill>
                  <a:srgbClr val="FFFFFF"/>
                </a:solidFill>
                <a:latin typeface="Calibri"/>
              </a:rPr>
              <a:t>Bianque</a:t>
            </a:r>
          </a:p>
        </p:txBody>
      </p:sp>
      <p:sp>
        <p:nvSpPr>
          <p:cNvPr id="7" name="TextBox 3">
            <a:extLst>
              <a:ext uri="{FF2B5EF4-FFF2-40B4-BE49-F238E27FC236}">
                <a16:creationId xmlns:a16="http://schemas.microsoft.com/office/drawing/2014/main" id="{F71EA560-A2DB-35CD-7E73-F8BD95D0F692}"/>
              </a:ext>
            </a:extLst>
          </p:cNvPr>
          <p:cNvSpPr txBox="1"/>
          <p:nvPr/>
        </p:nvSpPr>
        <p:spPr>
          <a:xfrm>
            <a:off x="533400" y="1098031"/>
            <a:ext cx="7444740" cy="400110"/>
          </a:xfrm>
          <a:prstGeom prst="rect">
            <a:avLst/>
          </a:prstGeom>
          <a:noFill/>
        </p:spPr>
        <p:txBody>
          <a:bodyPr wrap="square">
            <a:spAutoFit/>
          </a:bodyPr>
          <a:lstStyle/>
          <a:p>
            <a:pPr algn="ctr"/>
            <a:r>
              <a:rPr sz="2000" b="1" dirty="0">
                <a:solidFill>
                  <a:srgbClr val="FFFF00"/>
                </a:solidFill>
                <a:latin typeface="Calibri"/>
              </a:rPr>
              <a:t>The best complaint is the one that never arrives.</a:t>
            </a:r>
          </a:p>
        </p:txBody>
      </p:sp>
      <p:sp>
        <p:nvSpPr>
          <p:cNvPr id="9" name="Rectangle 4">
            <a:extLst>
              <a:ext uri="{FF2B5EF4-FFF2-40B4-BE49-F238E27FC236}">
                <a16:creationId xmlns:a16="http://schemas.microsoft.com/office/drawing/2014/main" id="{52AFF1C7-172C-0AC7-04B3-574056066423}"/>
              </a:ext>
            </a:extLst>
          </p:cNvPr>
          <p:cNvSpPr/>
          <p:nvPr/>
        </p:nvSpPr>
        <p:spPr>
          <a:xfrm>
            <a:off x="345440" y="2087787"/>
            <a:ext cx="7444740" cy="411480"/>
          </a:xfrm>
          <a:prstGeom prst="roundRect">
            <a:avLst/>
          </a:prstGeom>
          <a:solidFill>
            <a:srgbClr val="145A50">
              <a:alpha val="89804"/>
            </a:srgbClr>
          </a:solidFill>
          <a:ln>
            <a:solidFill>
              <a:srgbClr val="145A50"/>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r>
              <a:rPr lang="es-MX" sz="1600" b="1" dirty="0">
                <a:solidFill>
                  <a:srgbClr val="FFFF00"/>
                </a:solidFill>
                <a:latin typeface="Calibri"/>
              </a:rPr>
              <a:t>Why </a:t>
            </a:r>
            <a:r>
              <a:rPr sz="1600" b="1" dirty="0">
                <a:solidFill>
                  <a:srgbClr val="FFFF00"/>
                </a:solidFill>
                <a:latin typeface="Calibri"/>
              </a:rPr>
              <a:t>Bian Que</a:t>
            </a:r>
            <a:r>
              <a:rPr lang="es-MX" sz="1600" b="1" dirty="0">
                <a:solidFill>
                  <a:srgbClr val="FFFF00"/>
                </a:solidFill>
                <a:latin typeface="Calibri"/>
              </a:rPr>
              <a:t>: </a:t>
            </a:r>
            <a:r>
              <a:rPr lang="es-MX" sz="1400" b="0" dirty="0">
                <a:solidFill>
                  <a:srgbClr val="FFFFFF"/>
                </a:solidFill>
                <a:latin typeface="Calibri"/>
              </a:rPr>
              <a:t>L</a:t>
            </a:r>
            <a:r>
              <a:rPr sz="1400" b="0" dirty="0">
                <a:solidFill>
                  <a:srgbClr val="FFFFFF"/>
                </a:solidFill>
                <a:latin typeface="Calibri"/>
              </a:rPr>
              <a:t>egendary Chinese doctor </a:t>
            </a:r>
            <a:r>
              <a:rPr lang="es-MX" sz="1400" b="0" dirty="0">
                <a:solidFill>
                  <a:srgbClr val="FFFFFF"/>
                </a:solidFill>
                <a:latin typeface="Calibri"/>
              </a:rPr>
              <a:t>whose eldest brother </a:t>
            </a:r>
            <a:r>
              <a:rPr sz="1400" b="0" dirty="0">
                <a:solidFill>
                  <a:srgbClr val="FFFFFF"/>
                </a:solidFill>
                <a:latin typeface="Calibri"/>
              </a:rPr>
              <a:t>cured illness </a:t>
            </a:r>
            <a:r>
              <a:rPr sz="1400" b="1" dirty="0">
                <a:solidFill>
                  <a:srgbClr val="FFFF99"/>
                </a:solidFill>
                <a:latin typeface="Calibri"/>
              </a:rPr>
              <a:t>before it appeared</a:t>
            </a:r>
            <a:endParaRPr sz="1600" b="0" dirty="0">
              <a:solidFill>
                <a:srgbClr val="FFFF99"/>
              </a:solidFill>
              <a:latin typeface="Calibri"/>
            </a:endParaRPr>
          </a:p>
        </p:txBody>
      </p:sp>
      <p:sp>
        <p:nvSpPr>
          <p:cNvPr id="11" name="Rectangle 5">
            <a:extLst>
              <a:ext uri="{FF2B5EF4-FFF2-40B4-BE49-F238E27FC236}">
                <a16:creationId xmlns:a16="http://schemas.microsoft.com/office/drawing/2014/main" id="{6F974C6B-F63B-947E-B4EB-422756481606}"/>
              </a:ext>
            </a:extLst>
          </p:cNvPr>
          <p:cNvSpPr/>
          <p:nvPr/>
        </p:nvSpPr>
        <p:spPr>
          <a:xfrm>
            <a:off x="345440" y="2636100"/>
            <a:ext cx="7444740" cy="912330"/>
          </a:xfrm>
          <a:prstGeom prst="roundRect">
            <a:avLst>
              <a:gd name="adj" fmla="val 8872"/>
            </a:avLst>
          </a:prstGeom>
          <a:solidFill>
            <a:srgbClr val="145A50">
              <a:alpha val="89804"/>
            </a:srgbClr>
          </a:solidFill>
          <a:ln>
            <a:solidFill>
              <a:srgbClr val="145A50"/>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r>
              <a:rPr lang="es-MX" sz="1600" b="1" dirty="0">
                <a:solidFill>
                  <a:srgbClr val="FFFF00"/>
                </a:solidFill>
                <a:latin typeface="Calibri"/>
              </a:rPr>
              <a:t>My experience as a peruvian</a:t>
            </a:r>
            <a:r>
              <a:rPr sz="1600" b="1" dirty="0">
                <a:solidFill>
                  <a:srgbClr val="FFFF00"/>
                </a:solidFill>
                <a:latin typeface="Calibri"/>
              </a:rPr>
              <a:t> in China</a:t>
            </a:r>
          </a:p>
          <a:p>
            <a:r>
              <a:rPr lang="es-MX" sz="1400" b="0" dirty="0">
                <a:solidFill>
                  <a:srgbClr val="FFFFFF"/>
                </a:solidFill>
                <a:latin typeface="Calibri"/>
              </a:rPr>
              <a:t>While studying</a:t>
            </a:r>
            <a:r>
              <a:rPr sz="1400" b="0" dirty="0">
                <a:solidFill>
                  <a:srgbClr val="FFFFFF"/>
                </a:solidFill>
                <a:latin typeface="Calibri"/>
              </a:rPr>
              <a:t> in China, I saw banks and payment apps </a:t>
            </a:r>
            <a:r>
              <a:rPr sz="1400" b="1" dirty="0">
                <a:solidFill>
                  <a:srgbClr val="FFFF99"/>
                </a:solidFill>
                <a:latin typeface="Calibri"/>
              </a:rPr>
              <a:t>act first</a:t>
            </a:r>
            <a:r>
              <a:rPr sz="1400" b="0" dirty="0">
                <a:solidFill>
                  <a:srgbClr val="FFFFFF"/>
                </a:solidFill>
                <a:latin typeface="Calibri"/>
              </a:rPr>
              <a:t>: a suspicious charge or transfer triggers a warning or a call </a:t>
            </a:r>
            <a:r>
              <a:rPr sz="1400" b="1" dirty="0">
                <a:solidFill>
                  <a:srgbClr val="FFFF99"/>
                </a:solidFill>
                <a:latin typeface="Calibri"/>
              </a:rPr>
              <a:t>before</a:t>
            </a:r>
            <a:r>
              <a:rPr sz="1400" b="0" dirty="0">
                <a:solidFill>
                  <a:srgbClr val="FFFFFF"/>
                </a:solidFill>
                <a:latin typeface="Calibri"/>
              </a:rPr>
              <a:t> the customer complain</a:t>
            </a:r>
            <a:r>
              <a:rPr lang="es-MX" sz="1400" b="0" dirty="0">
                <a:solidFill>
                  <a:srgbClr val="FFFFFF"/>
                </a:solidFill>
                <a:latin typeface="Calibri"/>
              </a:rPr>
              <a:t>s</a:t>
            </a:r>
            <a:r>
              <a:rPr sz="1400" b="0" dirty="0">
                <a:solidFill>
                  <a:srgbClr val="FFFFFF"/>
                </a:solidFill>
                <a:latin typeface="Calibri"/>
              </a:rPr>
              <a:t>.</a:t>
            </a:r>
          </a:p>
        </p:txBody>
      </p:sp>
      <p:sp>
        <p:nvSpPr>
          <p:cNvPr id="13" name="Rectangle 6">
            <a:extLst>
              <a:ext uri="{FF2B5EF4-FFF2-40B4-BE49-F238E27FC236}">
                <a16:creationId xmlns:a16="http://schemas.microsoft.com/office/drawing/2014/main" id="{4ED3149A-4690-B7EA-2ECE-1DD817C9610E}"/>
              </a:ext>
            </a:extLst>
          </p:cNvPr>
          <p:cNvSpPr/>
          <p:nvPr/>
        </p:nvSpPr>
        <p:spPr>
          <a:xfrm>
            <a:off x="345440" y="4135120"/>
            <a:ext cx="7444740" cy="1692000"/>
          </a:xfrm>
          <a:prstGeom prst="roundRect">
            <a:avLst>
              <a:gd name="adj" fmla="val 7584"/>
            </a:avLst>
          </a:prstGeom>
          <a:solidFill>
            <a:srgbClr val="FFFFFF">
              <a:alpha val="89804"/>
            </a:srgbClr>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chemeClr val="tx1"/>
              </a:solidFill>
            </a:endParaRPr>
          </a:p>
        </p:txBody>
      </p:sp>
      <p:sp>
        <p:nvSpPr>
          <p:cNvPr id="15" name="TextBox 7">
            <a:extLst>
              <a:ext uri="{FF2B5EF4-FFF2-40B4-BE49-F238E27FC236}">
                <a16:creationId xmlns:a16="http://schemas.microsoft.com/office/drawing/2014/main" id="{1BF25493-3727-6EF5-8D01-3BF0C585FE5A}"/>
              </a:ext>
            </a:extLst>
          </p:cNvPr>
          <p:cNvSpPr txBox="1"/>
          <p:nvPr/>
        </p:nvSpPr>
        <p:spPr>
          <a:xfrm>
            <a:off x="72390" y="6521708"/>
            <a:ext cx="10972800" cy="276999"/>
          </a:xfrm>
          <a:prstGeom prst="rect">
            <a:avLst/>
          </a:prstGeom>
          <a:noFill/>
        </p:spPr>
        <p:txBody>
          <a:bodyPr wrap="square">
            <a:spAutoFit/>
          </a:bodyPr>
          <a:lstStyle/>
          <a:p>
            <a:pPr algn="l"/>
            <a:r>
              <a:rPr sz="1200" b="0" dirty="0">
                <a:solidFill>
                  <a:srgbClr val="B9E2D9"/>
                </a:solidFill>
                <a:latin typeface="Calibri"/>
              </a:rPr>
              <a:t>Factored AI &amp; Data Hackathon 2026 · github.com/tomas-</a:t>
            </a:r>
            <a:r>
              <a:rPr sz="1200" b="0" dirty="0" err="1">
                <a:solidFill>
                  <a:srgbClr val="B9E2D9"/>
                </a:solidFill>
                <a:latin typeface="Calibri"/>
              </a:rPr>
              <a:t>pucutay</a:t>
            </a:r>
            <a:r>
              <a:rPr sz="1200" b="0" dirty="0">
                <a:solidFill>
                  <a:srgbClr val="B9E2D9"/>
                </a:solidFill>
                <a:latin typeface="Calibri"/>
              </a:rPr>
              <a:t>/factored-hackathon-2026-bianque</a:t>
            </a:r>
          </a:p>
        </p:txBody>
      </p:sp>
      <p:grpSp>
        <p:nvGrpSpPr>
          <p:cNvPr id="38" name="Grupo 37">
            <a:extLst>
              <a:ext uri="{FF2B5EF4-FFF2-40B4-BE49-F238E27FC236}">
                <a16:creationId xmlns:a16="http://schemas.microsoft.com/office/drawing/2014/main" id="{72D0A534-D2E2-4BEB-7DBE-30C2F1D8C1DA}"/>
              </a:ext>
            </a:extLst>
          </p:cNvPr>
          <p:cNvGrpSpPr/>
          <p:nvPr/>
        </p:nvGrpSpPr>
        <p:grpSpPr>
          <a:xfrm>
            <a:off x="1614984" y="4688616"/>
            <a:ext cx="4688840" cy="325120"/>
            <a:chOff x="359410" y="4814541"/>
            <a:chExt cx="4688840" cy="325120"/>
          </a:xfrm>
        </p:grpSpPr>
        <p:sp>
          <p:nvSpPr>
            <p:cNvPr id="20" name="Elipse 19">
              <a:extLst>
                <a:ext uri="{FF2B5EF4-FFF2-40B4-BE49-F238E27FC236}">
                  <a16:creationId xmlns:a16="http://schemas.microsoft.com/office/drawing/2014/main" id="{34A494AD-7D12-BAC6-19F7-48873FE02DA5}"/>
                </a:ext>
              </a:extLst>
            </p:cNvPr>
            <p:cNvSpPr/>
            <p:nvPr/>
          </p:nvSpPr>
          <p:spPr>
            <a:xfrm>
              <a:off x="359410" y="4814541"/>
              <a:ext cx="853440" cy="325120"/>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2" name="Elipse 21">
              <a:extLst>
                <a:ext uri="{FF2B5EF4-FFF2-40B4-BE49-F238E27FC236}">
                  <a16:creationId xmlns:a16="http://schemas.microsoft.com/office/drawing/2014/main" id="{A7CE5D9A-87E6-0EA0-1A55-5D5E32A73C83}"/>
                </a:ext>
              </a:extLst>
            </p:cNvPr>
            <p:cNvSpPr/>
            <p:nvPr/>
          </p:nvSpPr>
          <p:spPr>
            <a:xfrm>
              <a:off x="1318260" y="4814541"/>
              <a:ext cx="853440" cy="325120"/>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4" name="Elipse 23">
              <a:extLst>
                <a:ext uri="{FF2B5EF4-FFF2-40B4-BE49-F238E27FC236}">
                  <a16:creationId xmlns:a16="http://schemas.microsoft.com/office/drawing/2014/main" id="{CD3AD9BC-0770-9451-8C70-660BA1291EC4}"/>
                </a:ext>
              </a:extLst>
            </p:cNvPr>
            <p:cNvSpPr/>
            <p:nvPr/>
          </p:nvSpPr>
          <p:spPr>
            <a:xfrm>
              <a:off x="2277110" y="4814541"/>
              <a:ext cx="853440" cy="325120"/>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6" name="Elipse 25">
              <a:extLst>
                <a:ext uri="{FF2B5EF4-FFF2-40B4-BE49-F238E27FC236}">
                  <a16:creationId xmlns:a16="http://schemas.microsoft.com/office/drawing/2014/main" id="{1740C977-346F-3A5A-ECAA-CC5FC564444F}"/>
                </a:ext>
              </a:extLst>
            </p:cNvPr>
            <p:cNvSpPr/>
            <p:nvPr/>
          </p:nvSpPr>
          <p:spPr>
            <a:xfrm>
              <a:off x="3235960" y="4814541"/>
              <a:ext cx="853440" cy="325120"/>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8" name="Elipse 27">
              <a:extLst>
                <a:ext uri="{FF2B5EF4-FFF2-40B4-BE49-F238E27FC236}">
                  <a16:creationId xmlns:a16="http://schemas.microsoft.com/office/drawing/2014/main" id="{2B7EE0EE-597A-EA5C-F7C5-7F6D7B1A639B}"/>
                </a:ext>
              </a:extLst>
            </p:cNvPr>
            <p:cNvSpPr/>
            <p:nvPr/>
          </p:nvSpPr>
          <p:spPr>
            <a:xfrm>
              <a:off x="4194810" y="4814541"/>
              <a:ext cx="853440" cy="325120"/>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29" name="Triángulo isósceles 28">
              <a:extLst>
                <a:ext uri="{FF2B5EF4-FFF2-40B4-BE49-F238E27FC236}">
                  <a16:creationId xmlns:a16="http://schemas.microsoft.com/office/drawing/2014/main" id="{D8ECE772-1F5F-CCC1-0AC1-9E1C41763D97}"/>
                </a:ext>
              </a:extLst>
            </p:cNvPr>
            <p:cNvSpPr/>
            <p:nvPr/>
          </p:nvSpPr>
          <p:spPr>
            <a:xfrm rot="5400000">
              <a:off x="1192530" y="4907280"/>
              <a:ext cx="105410" cy="132080"/>
            </a:xfrm>
            <a:prstGeom prst="triangle">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31" name="Triángulo isósceles 30">
              <a:extLst>
                <a:ext uri="{FF2B5EF4-FFF2-40B4-BE49-F238E27FC236}">
                  <a16:creationId xmlns:a16="http://schemas.microsoft.com/office/drawing/2014/main" id="{83F64CE9-EE10-1494-4032-20ED62DFA80C}"/>
                </a:ext>
              </a:extLst>
            </p:cNvPr>
            <p:cNvSpPr/>
            <p:nvPr/>
          </p:nvSpPr>
          <p:spPr>
            <a:xfrm rot="5400000">
              <a:off x="2157730" y="4907280"/>
              <a:ext cx="105410" cy="132080"/>
            </a:xfrm>
            <a:prstGeom prst="triangle">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35" name="Triángulo isósceles 34">
              <a:extLst>
                <a:ext uri="{FF2B5EF4-FFF2-40B4-BE49-F238E27FC236}">
                  <a16:creationId xmlns:a16="http://schemas.microsoft.com/office/drawing/2014/main" id="{9C6B5FB9-2B55-0A67-6121-25B7C8E07AC5}"/>
                </a:ext>
              </a:extLst>
            </p:cNvPr>
            <p:cNvSpPr/>
            <p:nvPr/>
          </p:nvSpPr>
          <p:spPr>
            <a:xfrm rot="5400000">
              <a:off x="3110230" y="4907280"/>
              <a:ext cx="105410" cy="132080"/>
            </a:xfrm>
            <a:prstGeom prst="triangle">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37" name="Triángulo isósceles 36">
              <a:extLst>
                <a:ext uri="{FF2B5EF4-FFF2-40B4-BE49-F238E27FC236}">
                  <a16:creationId xmlns:a16="http://schemas.microsoft.com/office/drawing/2014/main" id="{183F8EEA-8AD3-28CF-1DD4-7F0BACD080D6}"/>
                </a:ext>
              </a:extLst>
            </p:cNvPr>
            <p:cNvSpPr/>
            <p:nvPr/>
          </p:nvSpPr>
          <p:spPr>
            <a:xfrm rot="5400000">
              <a:off x="4079240" y="4907280"/>
              <a:ext cx="105410" cy="132080"/>
            </a:xfrm>
            <a:prstGeom prst="triangle">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grpSp>
      <p:sp>
        <p:nvSpPr>
          <p:cNvPr id="39" name="CuadroTexto 38">
            <a:extLst>
              <a:ext uri="{FF2B5EF4-FFF2-40B4-BE49-F238E27FC236}">
                <a16:creationId xmlns:a16="http://schemas.microsoft.com/office/drawing/2014/main" id="{7F1DA43F-522B-D0CD-2EC4-B686D95AC0F7}"/>
              </a:ext>
            </a:extLst>
          </p:cNvPr>
          <p:cNvSpPr txBox="1"/>
          <p:nvPr/>
        </p:nvSpPr>
        <p:spPr>
          <a:xfrm>
            <a:off x="1689914" y="4695204"/>
            <a:ext cx="669094" cy="307777"/>
          </a:xfrm>
          <a:prstGeom prst="rect">
            <a:avLst/>
          </a:prstGeom>
          <a:noFill/>
        </p:spPr>
        <p:txBody>
          <a:bodyPr wrap="none" rtlCol="0">
            <a:spAutoFit/>
          </a:bodyPr>
          <a:lstStyle/>
          <a:p>
            <a:r>
              <a:rPr lang="es-MX" sz="1400" dirty="0">
                <a:solidFill>
                  <a:schemeClr val="bg1"/>
                </a:solidFill>
              </a:rPr>
              <a:t>Detect</a:t>
            </a:r>
            <a:endParaRPr lang="es-PE" sz="1400" dirty="0">
              <a:solidFill>
                <a:schemeClr val="bg1"/>
              </a:solidFill>
            </a:endParaRPr>
          </a:p>
        </p:txBody>
      </p:sp>
      <p:sp>
        <p:nvSpPr>
          <p:cNvPr id="41" name="CuadroTexto 40">
            <a:extLst>
              <a:ext uri="{FF2B5EF4-FFF2-40B4-BE49-F238E27FC236}">
                <a16:creationId xmlns:a16="http://schemas.microsoft.com/office/drawing/2014/main" id="{651AB9DF-15D6-734D-3FAB-A581BC4142F2}"/>
              </a:ext>
            </a:extLst>
          </p:cNvPr>
          <p:cNvSpPr txBox="1"/>
          <p:nvPr/>
        </p:nvSpPr>
        <p:spPr>
          <a:xfrm>
            <a:off x="2646403" y="4695204"/>
            <a:ext cx="686406" cy="307777"/>
          </a:xfrm>
          <a:prstGeom prst="rect">
            <a:avLst/>
          </a:prstGeom>
          <a:noFill/>
        </p:spPr>
        <p:txBody>
          <a:bodyPr wrap="none" rtlCol="0">
            <a:spAutoFit/>
          </a:bodyPr>
          <a:lstStyle/>
          <a:p>
            <a:pPr algn="ctr"/>
            <a:r>
              <a:rPr lang="es-MX" sz="1400" dirty="0">
                <a:solidFill>
                  <a:schemeClr val="bg1"/>
                </a:solidFill>
              </a:rPr>
              <a:t>Decide</a:t>
            </a:r>
            <a:endParaRPr lang="es-PE" sz="1400" dirty="0">
              <a:solidFill>
                <a:schemeClr val="bg1"/>
              </a:solidFill>
            </a:endParaRPr>
          </a:p>
        </p:txBody>
      </p:sp>
      <p:sp>
        <p:nvSpPr>
          <p:cNvPr id="43" name="CuadroTexto 42">
            <a:extLst>
              <a:ext uri="{FF2B5EF4-FFF2-40B4-BE49-F238E27FC236}">
                <a16:creationId xmlns:a16="http://schemas.microsoft.com/office/drawing/2014/main" id="{004B6E46-4474-8CB7-7B0D-78BDA5EBC4DD}"/>
              </a:ext>
            </a:extLst>
          </p:cNvPr>
          <p:cNvSpPr txBox="1"/>
          <p:nvPr/>
        </p:nvSpPr>
        <p:spPr>
          <a:xfrm>
            <a:off x="3570974" y="4695204"/>
            <a:ext cx="749885" cy="307777"/>
          </a:xfrm>
          <a:prstGeom prst="rect">
            <a:avLst/>
          </a:prstGeom>
          <a:noFill/>
        </p:spPr>
        <p:txBody>
          <a:bodyPr wrap="none" rtlCol="0">
            <a:spAutoFit/>
          </a:bodyPr>
          <a:lstStyle/>
          <a:p>
            <a:pPr algn="ctr"/>
            <a:r>
              <a:rPr lang="es-MX" sz="1400" dirty="0">
                <a:solidFill>
                  <a:schemeClr val="bg1"/>
                </a:solidFill>
              </a:rPr>
              <a:t>Contact</a:t>
            </a:r>
            <a:endParaRPr lang="es-PE" sz="1400" dirty="0">
              <a:solidFill>
                <a:schemeClr val="bg1"/>
              </a:solidFill>
            </a:endParaRPr>
          </a:p>
        </p:txBody>
      </p:sp>
      <p:sp>
        <p:nvSpPr>
          <p:cNvPr id="45" name="CuadroTexto 44">
            <a:extLst>
              <a:ext uri="{FF2B5EF4-FFF2-40B4-BE49-F238E27FC236}">
                <a16:creationId xmlns:a16="http://schemas.microsoft.com/office/drawing/2014/main" id="{EC31F805-29E0-3566-C802-0E2C058485A8}"/>
              </a:ext>
            </a:extLst>
          </p:cNvPr>
          <p:cNvSpPr txBox="1"/>
          <p:nvPr/>
        </p:nvSpPr>
        <p:spPr>
          <a:xfrm>
            <a:off x="4538596" y="4695204"/>
            <a:ext cx="745653" cy="307777"/>
          </a:xfrm>
          <a:prstGeom prst="rect">
            <a:avLst/>
          </a:prstGeom>
          <a:noFill/>
        </p:spPr>
        <p:txBody>
          <a:bodyPr wrap="none" rtlCol="0">
            <a:spAutoFit/>
          </a:bodyPr>
          <a:lstStyle/>
          <a:p>
            <a:pPr algn="ctr"/>
            <a:r>
              <a:rPr lang="es-MX" sz="1400" dirty="0">
                <a:solidFill>
                  <a:schemeClr val="bg1"/>
                </a:solidFill>
              </a:rPr>
              <a:t>Resolve</a:t>
            </a:r>
            <a:endParaRPr lang="es-PE" sz="1400" dirty="0">
              <a:solidFill>
                <a:schemeClr val="bg1"/>
              </a:solidFill>
            </a:endParaRPr>
          </a:p>
        </p:txBody>
      </p:sp>
      <p:sp>
        <p:nvSpPr>
          <p:cNvPr id="47" name="CuadroTexto 46">
            <a:extLst>
              <a:ext uri="{FF2B5EF4-FFF2-40B4-BE49-F238E27FC236}">
                <a16:creationId xmlns:a16="http://schemas.microsoft.com/office/drawing/2014/main" id="{89749394-18B3-6DFC-0C16-1DF5E776B503}"/>
              </a:ext>
            </a:extLst>
          </p:cNvPr>
          <p:cNvSpPr txBox="1"/>
          <p:nvPr/>
        </p:nvSpPr>
        <p:spPr>
          <a:xfrm>
            <a:off x="5469846" y="4695204"/>
            <a:ext cx="814518" cy="307777"/>
          </a:xfrm>
          <a:prstGeom prst="rect">
            <a:avLst/>
          </a:prstGeom>
          <a:noFill/>
        </p:spPr>
        <p:txBody>
          <a:bodyPr wrap="none" rtlCol="0">
            <a:spAutoFit/>
          </a:bodyPr>
          <a:lstStyle/>
          <a:p>
            <a:pPr algn="ctr"/>
            <a:r>
              <a:rPr lang="es-MX" sz="1400" dirty="0">
                <a:solidFill>
                  <a:schemeClr val="bg1"/>
                </a:solidFill>
              </a:rPr>
              <a:t>Hand off</a:t>
            </a:r>
            <a:endParaRPr lang="es-PE" sz="1400" dirty="0">
              <a:solidFill>
                <a:schemeClr val="bg1"/>
              </a:solidFill>
            </a:endParaRPr>
          </a:p>
        </p:txBody>
      </p:sp>
      <p:sp>
        <p:nvSpPr>
          <p:cNvPr id="49" name="CuadroTexto 48">
            <a:extLst>
              <a:ext uri="{FF2B5EF4-FFF2-40B4-BE49-F238E27FC236}">
                <a16:creationId xmlns:a16="http://schemas.microsoft.com/office/drawing/2014/main" id="{235C28ED-634C-646B-8482-77E3DCEF10C2}"/>
              </a:ext>
            </a:extLst>
          </p:cNvPr>
          <p:cNvSpPr txBox="1"/>
          <p:nvPr/>
        </p:nvSpPr>
        <p:spPr>
          <a:xfrm>
            <a:off x="365760" y="5036049"/>
            <a:ext cx="6300058" cy="738664"/>
          </a:xfrm>
          <a:prstGeom prst="rect">
            <a:avLst/>
          </a:prstGeom>
          <a:noFill/>
        </p:spPr>
        <p:txBody>
          <a:bodyPr wrap="none" rtlCol="0">
            <a:spAutoFit/>
          </a:bodyPr>
          <a:lstStyle/>
          <a:p>
            <a:r>
              <a:rPr lang="es-PE" sz="1400" dirty="0"/>
              <a:t>Many public repos in this competition start after the complain.</a:t>
            </a:r>
          </a:p>
          <a:p>
            <a:r>
              <a:rPr lang="es-PE" sz="1400" dirty="0"/>
              <a:t>We reach the customer </a:t>
            </a:r>
            <a:r>
              <a:rPr lang="es-PE" sz="1400" b="1" dirty="0"/>
              <a:t>before</a:t>
            </a:r>
            <a:r>
              <a:rPr lang="es-PE" sz="1400" dirty="0"/>
              <a:t> they notice the charge, and when it's worth the cost.</a:t>
            </a:r>
          </a:p>
          <a:p>
            <a:r>
              <a:rPr lang="es-PE" sz="1400" dirty="0"/>
              <a:t>Live demo: </a:t>
            </a:r>
            <a:r>
              <a:rPr lang="es-PE" sz="1400" dirty="0">
                <a:solidFill>
                  <a:srgbClr val="0070C0"/>
                </a:solidFill>
                <a:hlinkClick r:id="rId4" action="ppaction://hlinkfile"/>
              </a:rPr>
              <a:t>bianque-api-280716480355.us-central1.run.app</a:t>
            </a:r>
            <a:endParaRPr lang="es-PE" sz="1400" dirty="0">
              <a:solidFill>
                <a:srgbClr val="0070C0"/>
              </a:solidFill>
            </a:endParaRPr>
          </a:p>
        </p:txBody>
      </p:sp>
      <p:sp>
        <p:nvSpPr>
          <p:cNvPr id="50" name="CuadroTexto 49">
            <a:extLst>
              <a:ext uri="{FF2B5EF4-FFF2-40B4-BE49-F238E27FC236}">
                <a16:creationId xmlns:a16="http://schemas.microsoft.com/office/drawing/2014/main" id="{4FEDC069-A82B-6511-D3B6-49696CAE3E49}"/>
              </a:ext>
            </a:extLst>
          </p:cNvPr>
          <p:cNvSpPr txBox="1"/>
          <p:nvPr/>
        </p:nvSpPr>
        <p:spPr>
          <a:xfrm>
            <a:off x="1522909" y="4264218"/>
            <a:ext cx="4749890" cy="369332"/>
          </a:xfrm>
          <a:prstGeom prst="rect">
            <a:avLst/>
          </a:prstGeom>
          <a:noFill/>
        </p:spPr>
        <p:txBody>
          <a:bodyPr wrap="none" rtlCol="0">
            <a:spAutoFit/>
          </a:bodyPr>
          <a:lstStyle/>
          <a:p>
            <a:r>
              <a:rPr lang="en-US" b="1" dirty="0">
                <a:solidFill>
                  <a:srgbClr val="0F6E5C"/>
                </a:solidFill>
              </a:rPr>
              <a:t>The eldest brother's medicine for a L</a:t>
            </a:r>
            <a:r>
              <a:rPr lang="en-US" b="1" dirty="0">
                <a:solidFill>
                  <a:srgbClr val="145A50"/>
                </a:solidFill>
              </a:rPr>
              <a:t>ATAM</a:t>
            </a:r>
            <a:r>
              <a:rPr lang="en-US" b="1" dirty="0">
                <a:solidFill>
                  <a:srgbClr val="0F6E5C"/>
                </a:solidFill>
              </a:rPr>
              <a:t> bank</a:t>
            </a:r>
          </a:p>
        </p:txBody>
      </p:sp>
      <p:sp>
        <p:nvSpPr>
          <p:cNvPr id="51" name="Rectángulo: esquinas redondeadas 50">
            <a:extLst>
              <a:ext uri="{FF2B5EF4-FFF2-40B4-BE49-F238E27FC236}">
                <a16:creationId xmlns:a16="http://schemas.microsoft.com/office/drawing/2014/main" id="{E52CDC01-C5E3-437E-65F3-34817DB4E291}"/>
              </a:ext>
            </a:extLst>
          </p:cNvPr>
          <p:cNvSpPr/>
          <p:nvPr/>
        </p:nvSpPr>
        <p:spPr>
          <a:xfrm>
            <a:off x="457201" y="4264218"/>
            <a:ext cx="1008000" cy="749518"/>
          </a:xfrm>
          <a:prstGeom prst="roundRect">
            <a:avLst>
              <a:gd name="adj" fmla="val 10772"/>
            </a:avLst>
          </a:prstGeom>
          <a:solidFill>
            <a:srgbClr val="145A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2" name="CuadroTexto 51">
            <a:extLst>
              <a:ext uri="{FF2B5EF4-FFF2-40B4-BE49-F238E27FC236}">
                <a16:creationId xmlns:a16="http://schemas.microsoft.com/office/drawing/2014/main" id="{F4DF45F8-639E-2B7E-D1BE-12D2D98D9946}"/>
              </a:ext>
            </a:extLst>
          </p:cNvPr>
          <p:cNvSpPr txBox="1"/>
          <p:nvPr/>
        </p:nvSpPr>
        <p:spPr>
          <a:xfrm>
            <a:off x="689613" y="4324426"/>
            <a:ext cx="548547" cy="584775"/>
          </a:xfrm>
          <a:prstGeom prst="rect">
            <a:avLst/>
          </a:prstGeom>
          <a:noFill/>
        </p:spPr>
        <p:txBody>
          <a:bodyPr wrap="none" rtlCol="0">
            <a:spAutoFit/>
          </a:bodyPr>
          <a:lstStyle/>
          <a:p>
            <a:pPr algn="ctr"/>
            <a:r>
              <a:rPr lang="es-MX" sz="1600" b="1" dirty="0">
                <a:solidFill>
                  <a:srgbClr val="FFFF00"/>
                </a:solidFill>
              </a:rPr>
              <a:t>The</a:t>
            </a:r>
          </a:p>
          <a:p>
            <a:pPr algn="ctr"/>
            <a:r>
              <a:rPr lang="es-MX" sz="1600" b="1" dirty="0">
                <a:solidFill>
                  <a:srgbClr val="FFFF00"/>
                </a:solidFill>
              </a:rPr>
              <a:t>idea</a:t>
            </a:r>
            <a:endParaRPr lang="es-PE" sz="1600" b="1" dirty="0">
              <a:solidFill>
                <a:srgbClr val="FFFF00"/>
              </a:solidFill>
            </a:endParaRPr>
          </a:p>
        </p:txBody>
      </p:sp>
    </p:spTree>
    <p:extLst>
      <p:ext uri="{BB962C8B-B14F-4D97-AF65-F5344CB8AC3E}">
        <p14:creationId xmlns:p14="http://schemas.microsoft.com/office/powerpoint/2010/main" val="572093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5AD25D7-769E-D258-5429-F2B9140F311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7" name="TextBox 2">
            <a:extLst>
              <a:ext uri="{FF2B5EF4-FFF2-40B4-BE49-F238E27FC236}">
                <a16:creationId xmlns:a16="http://schemas.microsoft.com/office/drawing/2014/main" id="{1E8FFE2F-660C-FEA3-57CD-CF694EFAE4EE}"/>
              </a:ext>
            </a:extLst>
          </p:cNvPr>
          <p:cNvSpPr txBox="1"/>
          <p:nvPr/>
        </p:nvSpPr>
        <p:spPr>
          <a:xfrm>
            <a:off x="2513925" y="479512"/>
            <a:ext cx="9369084" cy="584775"/>
          </a:xfrm>
          <a:prstGeom prst="rect">
            <a:avLst/>
          </a:prstGeom>
          <a:noFill/>
        </p:spPr>
        <p:txBody>
          <a:bodyPr wrap="square">
            <a:spAutoFit/>
          </a:bodyPr>
          <a:lstStyle/>
          <a:p>
            <a:r>
              <a:rPr lang="es-MX" sz="3200" b="1" dirty="0">
                <a:solidFill>
                  <a:srgbClr val="FFFFFF"/>
                </a:solidFill>
                <a:latin typeface="Calibri"/>
              </a:rPr>
              <a:t>Why to build Bianque for </a:t>
            </a:r>
            <a:r>
              <a:rPr lang="es-MX" sz="3200" b="1" dirty="0">
                <a:solidFill>
                  <a:srgbClr val="76E0D1"/>
                </a:solidFill>
                <a:latin typeface="Calibri"/>
              </a:rPr>
              <a:t>unrecognized charges</a:t>
            </a:r>
            <a:r>
              <a:rPr lang="es-MX" sz="3200" b="1" dirty="0">
                <a:solidFill>
                  <a:srgbClr val="FFFFFF"/>
                </a:solidFill>
                <a:latin typeface="Calibri"/>
              </a:rPr>
              <a:t>?</a:t>
            </a:r>
          </a:p>
        </p:txBody>
      </p:sp>
      <p:sp>
        <p:nvSpPr>
          <p:cNvPr id="13" name="Rectangle 6">
            <a:extLst>
              <a:ext uri="{FF2B5EF4-FFF2-40B4-BE49-F238E27FC236}">
                <a16:creationId xmlns:a16="http://schemas.microsoft.com/office/drawing/2014/main" id="{6FCD470B-7064-A3DF-CCC2-02A154CC3C1C}"/>
              </a:ext>
            </a:extLst>
          </p:cNvPr>
          <p:cNvSpPr/>
          <p:nvPr/>
        </p:nvSpPr>
        <p:spPr>
          <a:xfrm>
            <a:off x="293078" y="1331719"/>
            <a:ext cx="2700000" cy="4572000"/>
          </a:xfrm>
          <a:prstGeom prst="roundRect">
            <a:avLst>
              <a:gd name="adj" fmla="val 4198"/>
            </a:avLst>
          </a:prstGeom>
          <a:solidFill>
            <a:srgbClr val="FFFFFF">
              <a:alpha val="89804"/>
            </a:srgbClr>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chemeClr val="tx1"/>
              </a:solidFill>
            </a:endParaRPr>
          </a:p>
        </p:txBody>
      </p:sp>
      <p:sp>
        <p:nvSpPr>
          <p:cNvPr id="17" name="Rectangle 6">
            <a:extLst>
              <a:ext uri="{FF2B5EF4-FFF2-40B4-BE49-F238E27FC236}">
                <a16:creationId xmlns:a16="http://schemas.microsoft.com/office/drawing/2014/main" id="{4FD3A47B-C1B4-8FED-9A25-E0C34EE91346}"/>
              </a:ext>
            </a:extLst>
          </p:cNvPr>
          <p:cNvSpPr/>
          <p:nvPr/>
        </p:nvSpPr>
        <p:spPr>
          <a:xfrm>
            <a:off x="3292955" y="1331719"/>
            <a:ext cx="2700000" cy="4572000"/>
          </a:xfrm>
          <a:prstGeom prst="roundRect">
            <a:avLst>
              <a:gd name="adj" fmla="val 3633"/>
            </a:avLst>
          </a:prstGeom>
          <a:solidFill>
            <a:srgbClr val="FFFFFF">
              <a:alpha val="89804"/>
            </a:srgbClr>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chemeClr val="tx1"/>
              </a:solidFill>
            </a:endParaRPr>
          </a:p>
        </p:txBody>
      </p:sp>
      <p:sp>
        <p:nvSpPr>
          <p:cNvPr id="21" name="Rectangle 6">
            <a:extLst>
              <a:ext uri="{FF2B5EF4-FFF2-40B4-BE49-F238E27FC236}">
                <a16:creationId xmlns:a16="http://schemas.microsoft.com/office/drawing/2014/main" id="{56D6BB01-61F2-1F8D-A251-904BE12D6394}"/>
              </a:ext>
            </a:extLst>
          </p:cNvPr>
          <p:cNvSpPr/>
          <p:nvPr/>
        </p:nvSpPr>
        <p:spPr>
          <a:xfrm>
            <a:off x="6292832" y="1331719"/>
            <a:ext cx="2700000" cy="4572000"/>
          </a:xfrm>
          <a:prstGeom prst="roundRect">
            <a:avLst>
              <a:gd name="adj" fmla="val 3633"/>
            </a:avLst>
          </a:prstGeom>
          <a:solidFill>
            <a:srgbClr val="FFFFFF">
              <a:alpha val="89804"/>
            </a:srgbClr>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chemeClr val="tx1"/>
              </a:solidFill>
            </a:endParaRPr>
          </a:p>
        </p:txBody>
      </p:sp>
      <p:sp>
        <p:nvSpPr>
          <p:cNvPr id="23" name="Rectangle 6">
            <a:extLst>
              <a:ext uri="{FF2B5EF4-FFF2-40B4-BE49-F238E27FC236}">
                <a16:creationId xmlns:a16="http://schemas.microsoft.com/office/drawing/2014/main" id="{14A8F446-6931-05F6-B73D-18DC614769F5}"/>
              </a:ext>
            </a:extLst>
          </p:cNvPr>
          <p:cNvSpPr/>
          <p:nvPr/>
        </p:nvSpPr>
        <p:spPr>
          <a:xfrm>
            <a:off x="9263871" y="1368496"/>
            <a:ext cx="2700000" cy="4572000"/>
          </a:xfrm>
          <a:prstGeom prst="roundRect">
            <a:avLst>
              <a:gd name="adj" fmla="val 3633"/>
            </a:avLst>
          </a:prstGeom>
          <a:solidFill>
            <a:srgbClr val="76E0D1">
              <a:alpha val="89804"/>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rgbClr val="76E0D1"/>
              </a:solidFill>
            </a:endParaRPr>
          </a:p>
        </p:txBody>
      </p:sp>
      <p:sp>
        <p:nvSpPr>
          <p:cNvPr id="25" name="TextBox 2">
            <a:extLst>
              <a:ext uri="{FF2B5EF4-FFF2-40B4-BE49-F238E27FC236}">
                <a16:creationId xmlns:a16="http://schemas.microsoft.com/office/drawing/2014/main" id="{CEE92399-3556-4014-0072-41B1A6B70967}"/>
              </a:ext>
            </a:extLst>
          </p:cNvPr>
          <p:cNvSpPr txBox="1"/>
          <p:nvPr/>
        </p:nvSpPr>
        <p:spPr>
          <a:xfrm>
            <a:off x="198234" y="5940066"/>
            <a:ext cx="7444740" cy="461665"/>
          </a:xfrm>
          <a:prstGeom prst="rect">
            <a:avLst/>
          </a:prstGeom>
          <a:noFill/>
        </p:spPr>
        <p:txBody>
          <a:bodyPr wrap="square">
            <a:spAutoFit/>
          </a:bodyPr>
          <a:lstStyle/>
          <a:p>
            <a:r>
              <a:rPr lang="es-MX" sz="2400" b="1" dirty="0">
                <a:solidFill>
                  <a:srgbClr val="FFFFFF"/>
                </a:solidFill>
                <a:latin typeface="Calibri"/>
              </a:rPr>
              <a:t>… because the data says so</a:t>
            </a:r>
            <a:endParaRPr sz="2400" b="1" dirty="0">
              <a:solidFill>
                <a:srgbClr val="FFFFFF"/>
              </a:solidFill>
              <a:latin typeface="Calibri"/>
            </a:endParaRPr>
          </a:p>
        </p:txBody>
      </p:sp>
      <p:sp>
        <p:nvSpPr>
          <p:cNvPr id="27" name="TextBox 19">
            <a:extLst>
              <a:ext uri="{FF2B5EF4-FFF2-40B4-BE49-F238E27FC236}">
                <a16:creationId xmlns:a16="http://schemas.microsoft.com/office/drawing/2014/main" id="{F57E2312-3E67-7029-2AE5-A3E2B8C457E0}"/>
              </a:ext>
            </a:extLst>
          </p:cNvPr>
          <p:cNvSpPr txBox="1"/>
          <p:nvPr/>
        </p:nvSpPr>
        <p:spPr>
          <a:xfrm>
            <a:off x="347470" y="3722951"/>
            <a:ext cx="792000" cy="144000"/>
          </a:xfrm>
          <a:prstGeom prst="rect">
            <a:avLst/>
          </a:prstGeom>
          <a:noFill/>
        </p:spPr>
        <p:txBody>
          <a:bodyPr wrap="square" lIns="0" tIns="0" rIns="0" bIns="0" anchor="ctr" anchorCtr="0">
            <a:noAutofit/>
          </a:bodyPr>
          <a:lstStyle/>
          <a:p>
            <a:pPr algn="r"/>
            <a:r>
              <a:rPr sz="1050" b="0" dirty="0">
                <a:solidFill>
                  <a:srgbClr val="1C2A30"/>
                </a:solidFill>
                <a:latin typeface="+mj-lt"/>
              </a:rPr>
              <a:t>Transactional</a:t>
            </a:r>
          </a:p>
        </p:txBody>
      </p:sp>
      <p:sp>
        <p:nvSpPr>
          <p:cNvPr id="29" name="Rounded Rectangle 20">
            <a:extLst>
              <a:ext uri="{FF2B5EF4-FFF2-40B4-BE49-F238E27FC236}">
                <a16:creationId xmlns:a16="http://schemas.microsoft.com/office/drawing/2014/main" id="{D830F1D7-CC0E-781F-F21E-9E332EC76166}"/>
              </a:ext>
            </a:extLst>
          </p:cNvPr>
          <p:cNvSpPr/>
          <p:nvPr/>
        </p:nvSpPr>
        <p:spPr>
          <a:xfrm>
            <a:off x="1212973" y="3722951"/>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1">
            <a:extLst>
              <a:ext uri="{FF2B5EF4-FFF2-40B4-BE49-F238E27FC236}">
                <a16:creationId xmlns:a16="http://schemas.microsoft.com/office/drawing/2014/main" id="{B16B182B-6F20-5E17-1B1B-96CBEFB8F5F7}"/>
              </a:ext>
            </a:extLst>
          </p:cNvPr>
          <p:cNvSpPr/>
          <p:nvPr/>
        </p:nvSpPr>
        <p:spPr>
          <a:xfrm>
            <a:off x="1212974" y="3722951"/>
            <a:ext cx="1250826" cy="144000"/>
          </a:xfrm>
          <a:prstGeom prst="roundRect">
            <a:avLst>
              <a:gd name="adj" fmla="val 12000"/>
            </a:avLst>
          </a:prstGeom>
          <a:solidFill>
            <a:srgbClr val="0B715F"/>
          </a:solidFill>
          <a:ln>
            <a:solidFill>
              <a:srgbClr val="0B7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22">
            <a:extLst>
              <a:ext uri="{FF2B5EF4-FFF2-40B4-BE49-F238E27FC236}">
                <a16:creationId xmlns:a16="http://schemas.microsoft.com/office/drawing/2014/main" id="{E507A818-D27E-9B1A-430A-1DD98401AD85}"/>
              </a:ext>
            </a:extLst>
          </p:cNvPr>
          <p:cNvSpPr txBox="1"/>
          <p:nvPr/>
        </p:nvSpPr>
        <p:spPr>
          <a:xfrm>
            <a:off x="2535449" y="3722951"/>
            <a:ext cx="252000" cy="144000"/>
          </a:xfrm>
          <a:prstGeom prst="rect">
            <a:avLst/>
          </a:prstGeom>
          <a:noFill/>
        </p:spPr>
        <p:txBody>
          <a:bodyPr wrap="square" lIns="0" tIns="0" rIns="0" bIns="0" anchor="ctr" anchorCtr="0">
            <a:noAutofit/>
          </a:bodyPr>
          <a:lstStyle/>
          <a:p>
            <a:r>
              <a:rPr sz="1050" b="1" dirty="0">
                <a:solidFill>
                  <a:srgbClr val="054C43"/>
                </a:solidFill>
                <a:latin typeface="+mj-lt"/>
              </a:rPr>
              <a:t>35%</a:t>
            </a:r>
          </a:p>
        </p:txBody>
      </p:sp>
      <p:sp>
        <p:nvSpPr>
          <p:cNvPr id="35" name="TextBox 23">
            <a:extLst>
              <a:ext uri="{FF2B5EF4-FFF2-40B4-BE49-F238E27FC236}">
                <a16:creationId xmlns:a16="http://schemas.microsoft.com/office/drawing/2014/main" id="{6F487588-0F70-98AF-4CD9-DE7633A801E8}"/>
              </a:ext>
            </a:extLst>
          </p:cNvPr>
          <p:cNvSpPr txBox="1"/>
          <p:nvPr/>
        </p:nvSpPr>
        <p:spPr>
          <a:xfrm>
            <a:off x="347470" y="3965560"/>
            <a:ext cx="792000" cy="144000"/>
          </a:xfrm>
          <a:prstGeom prst="rect">
            <a:avLst/>
          </a:prstGeom>
          <a:noFill/>
        </p:spPr>
        <p:txBody>
          <a:bodyPr wrap="square" lIns="0" tIns="0" rIns="0" bIns="0" anchor="ctr" anchorCtr="0">
            <a:noAutofit/>
          </a:bodyPr>
          <a:lstStyle/>
          <a:p>
            <a:pPr algn="r"/>
            <a:r>
              <a:rPr sz="1050" b="0" dirty="0">
                <a:solidFill>
                  <a:srgbClr val="1C2A30"/>
                </a:solidFill>
                <a:latin typeface="+mj-lt"/>
              </a:rPr>
              <a:t>Product</a:t>
            </a:r>
          </a:p>
        </p:txBody>
      </p:sp>
      <p:sp>
        <p:nvSpPr>
          <p:cNvPr id="37" name="Rounded Rectangle 24">
            <a:extLst>
              <a:ext uri="{FF2B5EF4-FFF2-40B4-BE49-F238E27FC236}">
                <a16:creationId xmlns:a16="http://schemas.microsoft.com/office/drawing/2014/main" id="{B8E9041E-DF60-4B6A-110C-06DFAE2CACD8}"/>
              </a:ext>
            </a:extLst>
          </p:cNvPr>
          <p:cNvSpPr/>
          <p:nvPr/>
        </p:nvSpPr>
        <p:spPr>
          <a:xfrm>
            <a:off x="1212973" y="3965560"/>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5">
            <a:extLst>
              <a:ext uri="{FF2B5EF4-FFF2-40B4-BE49-F238E27FC236}">
                <a16:creationId xmlns:a16="http://schemas.microsoft.com/office/drawing/2014/main" id="{71A93469-5843-DD14-0851-3220C4F0A81F}"/>
              </a:ext>
            </a:extLst>
          </p:cNvPr>
          <p:cNvSpPr/>
          <p:nvPr/>
        </p:nvSpPr>
        <p:spPr>
          <a:xfrm>
            <a:off x="1212974" y="3965560"/>
            <a:ext cx="786236" cy="144000"/>
          </a:xfrm>
          <a:prstGeom prst="roundRect">
            <a:avLst>
              <a:gd name="adj" fmla="val 12000"/>
            </a:avLst>
          </a:prstGeom>
          <a:solidFill>
            <a:srgbClr val="0B715F"/>
          </a:solidFill>
          <a:ln>
            <a:solidFill>
              <a:srgbClr val="0B7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26">
            <a:extLst>
              <a:ext uri="{FF2B5EF4-FFF2-40B4-BE49-F238E27FC236}">
                <a16:creationId xmlns:a16="http://schemas.microsoft.com/office/drawing/2014/main" id="{7CE4B034-B966-DEB3-FDD5-596109747346}"/>
              </a:ext>
            </a:extLst>
          </p:cNvPr>
          <p:cNvSpPr txBox="1"/>
          <p:nvPr/>
        </p:nvSpPr>
        <p:spPr>
          <a:xfrm>
            <a:off x="2535449" y="3965560"/>
            <a:ext cx="252000" cy="144000"/>
          </a:xfrm>
          <a:prstGeom prst="rect">
            <a:avLst/>
          </a:prstGeom>
          <a:noFill/>
        </p:spPr>
        <p:txBody>
          <a:bodyPr wrap="square" lIns="0" tIns="0" rIns="0" bIns="0" anchor="ctr" anchorCtr="0">
            <a:noAutofit/>
          </a:bodyPr>
          <a:lstStyle/>
          <a:p>
            <a:r>
              <a:rPr sz="1050" b="1" dirty="0">
                <a:solidFill>
                  <a:srgbClr val="054C43"/>
                </a:solidFill>
                <a:latin typeface="+mj-lt"/>
              </a:rPr>
              <a:t>22%</a:t>
            </a:r>
          </a:p>
        </p:txBody>
      </p:sp>
      <p:sp>
        <p:nvSpPr>
          <p:cNvPr id="43" name="TextBox 27">
            <a:extLst>
              <a:ext uri="{FF2B5EF4-FFF2-40B4-BE49-F238E27FC236}">
                <a16:creationId xmlns:a16="http://schemas.microsoft.com/office/drawing/2014/main" id="{7CB15344-7DAD-0D82-E80D-7CC6F2645F4F}"/>
              </a:ext>
            </a:extLst>
          </p:cNvPr>
          <p:cNvSpPr txBox="1"/>
          <p:nvPr/>
        </p:nvSpPr>
        <p:spPr>
          <a:xfrm>
            <a:off x="347470" y="4208169"/>
            <a:ext cx="792000" cy="144000"/>
          </a:xfrm>
          <a:prstGeom prst="rect">
            <a:avLst/>
          </a:prstGeom>
          <a:noFill/>
        </p:spPr>
        <p:txBody>
          <a:bodyPr wrap="square" lIns="0" tIns="0" rIns="0" bIns="0" anchor="ctr" anchorCtr="0">
            <a:noAutofit/>
          </a:bodyPr>
          <a:lstStyle/>
          <a:p>
            <a:pPr algn="r"/>
            <a:r>
              <a:rPr sz="1050" b="0">
                <a:solidFill>
                  <a:srgbClr val="1C2A30"/>
                </a:solidFill>
                <a:latin typeface="+mj-lt"/>
              </a:rPr>
              <a:t>Complaint</a:t>
            </a:r>
          </a:p>
        </p:txBody>
      </p:sp>
      <p:sp>
        <p:nvSpPr>
          <p:cNvPr id="45" name="Rounded Rectangle 28">
            <a:extLst>
              <a:ext uri="{FF2B5EF4-FFF2-40B4-BE49-F238E27FC236}">
                <a16:creationId xmlns:a16="http://schemas.microsoft.com/office/drawing/2014/main" id="{44337214-232E-9C6A-600D-5C49C93AAE65}"/>
              </a:ext>
            </a:extLst>
          </p:cNvPr>
          <p:cNvSpPr/>
          <p:nvPr/>
        </p:nvSpPr>
        <p:spPr>
          <a:xfrm>
            <a:off x="1212973" y="4208169"/>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29">
            <a:extLst>
              <a:ext uri="{FF2B5EF4-FFF2-40B4-BE49-F238E27FC236}">
                <a16:creationId xmlns:a16="http://schemas.microsoft.com/office/drawing/2014/main" id="{ACF6001A-768B-DF6D-A45A-3B5011ED7E06}"/>
              </a:ext>
            </a:extLst>
          </p:cNvPr>
          <p:cNvSpPr/>
          <p:nvPr/>
        </p:nvSpPr>
        <p:spPr>
          <a:xfrm>
            <a:off x="1212972" y="4208169"/>
            <a:ext cx="607545" cy="144000"/>
          </a:xfrm>
          <a:prstGeom prst="roundRect">
            <a:avLst>
              <a:gd name="adj" fmla="val 12000"/>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30">
            <a:extLst>
              <a:ext uri="{FF2B5EF4-FFF2-40B4-BE49-F238E27FC236}">
                <a16:creationId xmlns:a16="http://schemas.microsoft.com/office/drawing/2014/main" id="{79078BB7-0C22-84FA-A325-17378C37B90B}"/>
              </a:ext>
            </a:extLst>
          </p:cNvPr>
          <p:cNvSpPr txBox="1"/>
          <p:nvPr/>
        </p:nvSpPr>
        <p:spPr>
          <a:xfrm>
            <a:off x="2535449" y="4208169"/>
            <a:ext cx="252000" cy="144000"/>
          </a:xfrm>
          <a:prstGeom prst="rect">
            <a:avLst/>
          </a:prstGeom>
          <a:noFill/>
        </p:spPr>
        <p:txBody>
          <a:bodyPr wrap="square" lIns="0" tIns="0" rIns="0" bIns="0" anchor="ctr" anchorCtr="0">
            <a:noAutofit/>
          </a:bodyPr>
          <a:lstStyle/>
          <a:p>
            <a:r>
              <a:rPr sz="1050" b="1">
                <a:solidFill>
                  <a:srgbClr val="054C43"/>
                </a:solidFill>
                <a:latin typeface="+mj-lt"/>
              </a:rPr>
              <a:t>17%</a:t>
            </a:r>
          </a:p>
        </p:txBody>
      </p:sp>
      <p:sp>
        <p:nvSpPr>
          <p:cNvPr id="51" name="TextBox 31">
            <a:extLst>
              <a:ext uri="{FF2B5EF4-FFF2-40B4-BE49-F238E27FC236}">
                <a16:creationId xmlns:a16="http://schemas.microsoft.com/office/drawing/2014/main" id="{F87200AC-40A6-52E2-DB08-6166C9AF7B40}"/>
              </a:ext>
            </a:extLst>
          </p:cNvPr>
          <p:cNvSpPr txBox="1"/>
          <p:nvPr/>
        </p:nvSpPr>
        <p:spPr>
          <a:xfrm>
            <a:off x="347470" y="4450778"/>
            <a:ext cx="792000" cy="144000"/>
          </a:xfrm>
          <a:prstGeom prst="rect">
            <a:avLst/>
          </a:prstGeom>
          <a:noFill/>
        </p:spPr>
        <p:txBody>
          <a:bodyPr wrap="square" lIns="0" tIns="0" rIns="0" bIns="0" anchor="ctr" anchorCtr="0">
            <a:noAutofit/>
          </a:bodyPr>
          <a:lstStyle/>
          <a:p>
            <a:pPr algn="r"/>
            <a:r>
              <a:rPr sz="1050" b="0">
                <a:solidFill>
                  <a:srgbClr val="1C2A30"/>
                </a:solidFill>
                <a:latin typeface="+mj-lt"/>
              </a:rPr>
              <a:t>Technical</a:t>
            </a:r>
          </a:p>
        </p:txBody>
      </p:sp>
      <p:sp>
        <p:nvSpPr>
          <p:cNvPr id="53" name="Rounded Rectangle 32">
            <a:extLst>
              <a:ext uri="{FF2B5EF4-FFF2-40B4-BE49-F238E27FC236}">
                <a16:creationId xmlns:a16="http://schemas.microsoft.com/office/drawing/2014/main" id="{ED8783C2-18E4-238A-B049-F3F5E5287291}"/>
              </a:ext>
            </a:extLst>
          </p:cNvPr>
          <p:cNvSpPr/>
          <p:nvPr/>
        </p:nvSpPr>
        <p:spPr>
          <a:xfrm>
            <a:off x="1212973" y="4450778"/>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33">
            <a:extLst>
              <a:ext uri="{FF2B5EF4-FFF2-40B4-BE49-F238E27FC236}">
                <a16:creationId xmlns:a16="http://schemas.microsoft.com/office/drawing/2014/main" id="{A2FDA6AA-A5C6-537C-0C1E-4A1059DCB462}"/>
              </a:ext>
            </a:extLst>
          </p:cNvPr>
          <p:cNvSpPr/>
          <p:nvPr/>
        </p:nvSpPr>
        <p:spPr>
          <a:xfrm>
            <a:off x="1212973" y="4450778"/>
            <a:ext cx="536070" cy="144000"/>
          </a:xfrm>
          <a:prstGeom prst="roundRect">
            <a:avLst>
              <a:gd name="adj" fmla="val 12000"/>
            </a:avLst>
          </a:prstGeom>
          <a:solidFill>
            <a:srgbClr val="0B715F"/>
          </a:solidFill>
          <a:ln>
            <a:solidFill>
              <a:srgbClr val="0B7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34">
            <a:extLst>
              <a:ext uri="{FF2B5EF4-FFF2-40B4-BE49-F238E27FC236}">
                <a16:creationId xmlns:a16="http://schemas.microsoft.com/office/drawing/2014/main" id="{48E8A6AE-8C65-DDED-1456-EFD40E069FE7}"/>
              </a:ext>
            </a:extLst>
          </p:cNvPr>
          <p:cNvSpPr txBox="1"/>
          <p:nvPr/>
        </p:nvSpPr>
        <p:spPr>
          <a:xfrm>
            <a:off x="2535449" y="4450778"/>
            <a:ext cx="252000" cy="144000"/>
          </a:xfrm>
          <a:prstGeom prst="rect">
            <a:avLst/>
          </a:prstGeom>
          <a:noFill/>
        </p:spPr>
        <p:txBody>
          <a:bodyPr wrap="square" lIns="0" tIns="0" rIns="0" bIns="0" anchor="ctr" anchorCtr="0">
            <a:noAutofit/>
          </a:bodyPr>
          <a:lstStyle/>
          <a:p>
            <a:r>
              <a:rPr sz="1050" b="1">
                <a:solidFill>
                  <a:srgbClr val="054C43"/>
                </a:solidFill>
                <a:latin typeface="+mj-lt"/>
              </a:rPr>
              <a:t>15%</a:t>
            </a:r>
          </a:p>
        </p:txBody>
      </p:sp>
      <p:sp>
        <p:nvSpPr>
          <p:cNvPr id="59" name="TextBox 35">
            <a:extLst>
              <a:ext uri="{FF2B5EF4-FFF2-40B4-BE49-F238E27FC236}">
                <a16:creationId xmlns:a16="http://schemas.microsoft.com/office/drawing/2014/main" id="{3DD4129F-C711-9F96-A8E7-400FBF622164}"/>
              </a:ext>
            </a:extLst>
          </p:cNvPr>
          <p:cNvSpPr txBox="1"/>
          <p:nvPr/>
        </p:nvSpPr>
        <p:spPr>
          <a:xfrm>
            <a:off x="347470" y="4693387"/>
            <a:ext cx="792000" cy="144000"/>
          </a:xfrm>
          <a:prstGeom prst="rect">
            <a:avLst/>
          </a:prstGeom>
          <a:noFill/>
        </p:spPr>
        <p:txBody>
          <a:bodyPr wrap="square" lIns="0" tIns="0" rIns="0" bIns="0" anchor="ctr" anchorCtr="0">
            <a:noAutofit/>
          </a:bodyPr>
          <a:lstStyle/>
          <a:p>
            <a:pPr algn="r"/>
            <a:r>
              <a:rPr sz="1050" b="0" dirty="0">
                <a:solidFill>
                  <a:srgbClr val="1C2A30"/>
                </a:solidFill>
                <a:latin typeface="+mj-lt"/>
              </a:rPr>
              <a:t>Commercial</a:t>
            </a:r>
          </a:p>
        </p:txBody>
      </p:sp>
      <p:sp>
        <p:nvSpPr>
          <p:cNvPr id="61" name="Rounded Rectangle 36">
            <a:extLst>
              <a:ext uri="{FF2B5EF4-FFF2-40B4-BE49-F238E27FC236}">
                <a16:creationId xmlns:a16="http://schemas.microsoft.com/office/drawing/2014/main" id="{6428E1DE-A775-A08C-932E-021792451F08}"/>
              </a:ext>
            </a:extLst>
          </p:cNvPr>
          <p:cNvSpPr/>
          <p:nvPr/>
        </p:nvSpPr>
        <p:spPr>
          <a:xfrm>
            <a:off x="1212973" y="4693387"/>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37">
            <a:extLst>
              <a:ext uri="{FF2B5EF4-FFF2-40B4-BE49-F238E27FC236}">
                <a16:creationId xmlns:a16="http://schemas.microsoft.com/office/drawing/2014/main" id="{83513D40-F2B3-FF29-CAB9-6A6EB101F837}"/>
              </a:ext>
            </a:extLst>
          </p:cNvPr>
          <p:cNvSpPr/>
          <p:nvPr/>
        </p:nvSpPr>
        <p:spPr>
          <a:xfrm>
            <a:off x="1212973" y="4693387"/>
            <a:ext cx="285901" cy="144000"/>
          </a:xfrm>
          <a:prstGeom prst="roundRect">
            <a:avLst>
              <a:gd name="adj" fmla="val 12000"/>
            </a:avLst>
          </a:prstGeom>
          <a:solidFill>
            <a:srgbClr val="0B715F"/>
          </a:solidFill>
          <a:ln>
            <a:solidFill>
              <a:srgbClr val="0B7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38">
            <a:extLst>
              <a:ext uri="{FF2B5EF4-FFF2-40B4-BE49-F238E27FC236}">
                <a16:creationId xmlns:a16="http://schemas.microsoft.com/office/drawing/2014/main" id="{69B3F16B-95F2-7D11-444A-2B1D2C213B07}"/>
              </a:ext>
            </a:extLst>
          </p:cNvPr>
          <p:cNvSpPr txBox="1"/>
          <p:nvPr/>
        </p:nvSpPr>
        <p:spPr>
          <a:xfrm>
            <a:off x="2535449" y="4693387"/>
            <a:ext cx="252000" cy="144000"/>
          </a:xfrm>
          <a:prstGeom prst="rect">
            <a:avLst/>
          </a:prstGeom>
          <a:noFill/>
        </p:spPr>
        <p:txBody>
          <a:bodyPr wrap="square" lIns="0" tIns="0" rIns="0" bIns="0" anchor="ctr" anchorCtr="0">
            <a:noAutofit/>
          </a:bodyPr>
          <a:lstStyle/>
          <a:p>
            <a:r>
              <a:rPr sz="1050" b="1">
                <a:solidFill>
                  <a:srgbClr val="054C43"/>
                </a:solidFill>
                <a:latin typeface="+mj-lt"/>
              </a:rPr>
              <a:t>8%</a:t>
            </a:r>
          </a:p>
        </p:txBody>
      </p:sp>
      <p:sp>
        <p:nvSpPr>
          <p:cNvPr id="67" name="TextBox 39">
            <a:extLst>
              <a:ext uri="{FF2B5EF4-FFF2-40B4-BE49-F238E27FC236}">
                <a16:creationId xmlns:a16="http://schemas.microsoft.com/office/drawing/2014/main" id="{E461503C-B2B1-CAEA-79C9-3709EBB9B690}"/>
              </a:ext>
            </a:extLst>
          </p:cNvPr>
          <p:cNvSpPr txBox="1"/>
          <p:nvPr/>
        </p:nvSpPr>
        <p:spPr>
          <a:xfrm>
            <a:off x="347470" y="4935996"/>
            <a:ext cx="792000" cy="144000"/>
          </a:xfrm>
          <a:prstGeom prst="rect">
            <a:avLst/>
          </a:prstGeom>
          <a:noFill/>
        </p:spPr>
        <p:txBody>
          <a:bodyPr wrap="square" lIns="0" tIns="0" rIns="0" bIns="0" anchor="ctr" anchorCtr="0">
            <a:noAutofit/>
          </a:bodyPr>
          <a:lstStyle/>
          <a:p>
            <a:pPr algn="r"/>
            <a:r>
              <a:rPr sz="1050" b="0" dirty="0">
                <a:solidFill>
                  <a:srgbClr val="1C2A30"/>
                </a:solidFill>
                <a:latin typeface="+mj-lt"/>
              </a:rPr>
              <a:t>Retention</a:t>
            </a:r>
          </a:p>
        </p:txBody>
      </p:sp>
      <p:sp>
        <p:nvSpPr>
          <p:cNvPr id="69" name="Rounded Rectangle 40">
            <a:extLst>
              <a:ext uri="{FF2B5EF4-FFF2-40B4-BE49-F238E27FC236}">
                <a16:creationId xmlns:a16="http://schemas.microsoft.com/office/drawing/2014/main" id="{EA3B2F31-BDF8-2FB0-00A8-3B6ECFBC60C5}"/>
              </a:ext>
            </a:extLst>
          </p:cNvPr>
          <p:cNvSpPr/>
          <p:nvPr/>
        </p:nvSpPr>
        <p:spPr>
          <a:xfrm>
            <a:off x="1212973" y="4935996"/>
            <a:ext cx="1250828" cy="144000"/>
          </a:xfrm>
          <a:prstGeom prst="roundRect">
            <a:avLst>
              <a:gd name="adj" fmla="val 12000"/>
            </a:avLst>
          </a:prstGeom>
          <a:solidFill>
            <a:srgbClr val="E0F2EF"/>
          </a:solidFill>
          <a:ln>
            <a:solidFill>
              <a:srgbClr val="E0F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41">
            <a:extLst>
              <a:ext uri="{FF2B5EF4-FFF2-40B4-BE49-F238E27FC236}">
                <a16:creationId xmlns:a16="http://schemas.microsoft.com/office/drawing/2014/main" id="{54F6E403-6AF7-97D5-B67E-4F77B5524EA5}"/>
              </a:ext>
            </a:extLst>
          </p:cNvPr>
          <p:cNvSpPr/>
          <p:nvPr/>
        </p:nvSpPr>
        <p:spPr>
          <a:xfrm>
            <a:off x="1212973" y="4935996"/>
            <a:ext cx="133877" cy="144000"/>
          </a:xfrm>
          <a:prstGeom prst="roundRect">
            <a:avLst>
              <a:gd name="adj" fmla="val 12000"/>
            </a:avLst>
          </a:prstGeom>
          <a:solidFill>
            <a:srgbClr val="0B715F"/>
          </a:solidFill>
          <a:ln>
            <a:solidFill>
              <a:srgbClr val="0B7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42">
            <a:extLst>
              <a:ext uri="{FF2B5EF4-FFF2-40B4-BE49-F238E27FC236}">
                <a16:creationId xmlns:a16="http://schemas.microsoft.com/office/drawing/2014/main" id="{DCF8F41B-CF4C-DA7E-89EF-DDF384252F0F}"/>
              </a:ext>
            </a:extLst>
          </p:cNvPr>
          <p:cNvSpPr txBox="1"/>
          <p:nvPr/>
        </p:nvSpPr>
        <p:spPr>
          <a:xfrm>
            <a:off x="2535449" y="4935996"/>
            <a:ext cx="252000" cy="144000"/>
          </a:xfrm>
          <a:prstGeom prst="rect">
            <a:avLst/>
          </a:prstGeom>
          <a:noFill/>
        </p:spPr>
        <p:txBody>
          <a:bodyPr wrap="square" lIns="0" tIns="0" rIns="0" bIns="0" anchor="ctr" anchorCtr="0">
            <a:noAutofit/>
          </a:bodyPr>
          <a:lstStyle/>
          <a:p>
            <a:r>
              <a:rPr sz="1050" b="1" dirty="0">
                <a:solidFill>
                  <a:srgbClr val="054C43"/>
                </a:solidFill>
                <a:latin typeface="+mj-lt"/>
              </a:rPr>
              <a:t>3%</a:t>
            </a:r>
          </a:p>
        </p:txBody>
      </p:sp>
      <p:grpSp>
        <p:nvGrpSpPr>
          <p:cNvPr id="85" name="Grupo 84">
            <a:extLst>
              <a:ext uri="{FF2B5EF4-FFF2-40B4-BE49-F238E27FC236}">
                <a16:creationId xmlns:a16="http://schemas.microsoft.com/office/drawing/2014/main" id="{805448A7-7635-8687-82CD-0DE951997097}"/>
              </a:ext>
            </a:extLst>
          </p:cNvPr>
          <p:cNvGrpSpPr/>
          <p:nvPr/>
        </p:nvGrpSpPr>
        <p:grpSpPr>
          <a:xfrm>
            <a:off x="1288527" y="1437314"/>
            <a:ext cx="696656" cy="684000"/>
            <a:chOff x="807618" y="1632834"/>
            <a:chExt cx="696656" cy="684000"/>
          </a:xfrm>
        </p:grpSpPr>
        <p:pic>
          <p:nvPicPr>
            <p:cNvPr id="84" name="Imagen 83">
              <a:extLst>
                <a:ext uri="{FF2B5EF4-FFF2-40B4-BE49-F238E27FC236}">
                  <a16:creationId xmlns:a16="http://schemas.microsoft.com/office/drawing/2014/main" id="{A0650356-69C2-D482-00EB-F81E56B97FD1}"/>
                </a:ext>
              </a:extLst>
            </p:cNvPr>
            <p:cNvPicPr>
              <a:picLocks noChangeAspect="1"/>
            </p:cNvPicPr>
            <p:nvPr/>
          </p:nvPicPr>
          <p:blipFill>
            <a:blip r:embed="rId4" cstate="email">
              <a:alphaModFix amt="80000"/>
              <a:extLst>
                <a:ext uri="{BEBA8EAE-BF5A-486C-A8C5-ECC9F3942E4B}">
                  <a14:imgProps xmlns:a14="http://schemas.microsoft.com/office/drawing/2010/main">
                    <a14:imgLayer r:embed="rId5">
                      <a14:imgEffect>
                        <a14:backgroundRemoval t="9976" b="89944" l="4344" r="96524">
                          <a14:foregroundMark x1="13665" y1="25422" x2="13665" y2="25422"/>
                          <a14:foregroundMark x1="14455" y1="25422" x2="14455" y2="25422"/>
                          <a14:foregroundMark x1="11137" y1="26629" x2="12322" y2="25583"/>
                          <a14:foregroundMark x1="15087" y1="25986" x2="16667" y2="25986"/>
                          <a14:foregroundMark x1="90205" y1="39743" x2="91548" y2="39743"/>
                          <a14:foregroundMark x1="96603" y1="40306" x2="96603" y2="41754"/>
                          <a14:foregroundMark x1="14455" y1="36364" x2="14455" y2="37329"/>
                          <a14:foregroundMark x1="17220" y1="36927" x2="17062" y2="37973"/>
                          <a14:foregroundMark x1="4344" y1="31537" x2="5292" y2="31778"/>
                          <a14:backgroundMark x1="21327" y1="59292" x2="21327" y2="59292"/>
                          <a14:backgroundMark x1="79384" y1="67418" x2="79384" y2="67418"/>
                          <a14:backgroundMark x1="15245" y1="37329" x2="15245" y2="37329"/>
                          <a14:backgroundMark x1="23697" y1="30732" x2="23697" y2="30732"/>
                          <a14:backgroundMark x1="15087" y1="26388" x2="15087" y2="26388"/>
                          <a14:backgroundMark x1="15245" y1="26227" x2="15245" y2="26227"/>
                          <a14:backgroundMark x1="94471" y1="41754" x2="94471" y2="41754"/>
                          <a14:backgroundMark x1="89179" y1="50121" x2="89179" y2="50121"/>
                        </a14:backgroundRemoval>
                      </a14:imgEffect>
                    </a14:imgLayer>
                  </a14:imgProps>
                </a:ext>
                <a:ext uri="{28A0092B-C50C-407E-A947-70E740481C1C}">
                  <a14:useLocalDpi xmlns:a14="http://schemas.microsoft.com/office/drawing/2010/main"/>
                </a:ext>
              </a:extLst>
            </a:blip>
            <a:stretch>
              <a:fillRect/>
            </a:stretch>
          </p:blipFill>
          <p:spPr>
            <a:xfrm>
              <a:off x="807618" y="1632834"/>
              <a:ext cx="696656" cy="684000"/>
            </a:xfrm>
            <a:prstGeom prst="rect">
              <a:avLst/>
            </a:prstGeom>
          </p:spPr>
        </p:pic>
        <p:sp>
          <p:nvSpPr>
            <p:cNvPr id="81" name="CuadroTexto 80">
              <a:extLst>
                <a:ext uri="{FF2B5EF4-FFF2-40B4-BE49-F238E27FC236}">
                  <a16:creationId xmlns:a16="http://schemas.microsoft.com/office/drawing/2014/main" id="{6EB18CE4-EF70-42FE-B9D4-4621D0CAC76E}"/>
                </a:ext>
              </a:extLst>
            </p:cNvPr>
            <p:cNvSpPr txBox="1"/>
            <p:nvPr/>
          </p:nvSpPr>
          <p:spPr>
            <a:xfrm>
              <a:off x="1011982" y="1701409"/>
              <a:ext cx="340158" cy="461665"/>
            </a:xfrm>
            <a:prstGeom prst="rect">
              <a:avLst/>
            </a:prstGeom>
            <a:noFill/>
          </p:spPr>
          <p:txBody>
            <a:bodyPr wrap="none" rtlCol="0">
              <a:spAutoFit/>
            </a:bodyPr>
            <a:lstStyle/>
            <a:p>
              <a:r>
                <a:rPr lang="es-MX" sz="2400" b="1" dirty="0"/>
                <a:t>1</a:t>
              </a:r>
              <a:endParaRPr lang="es-PE" sz="2400" b="1" dirty="0"/>
            </a:p>
          </p:txBody>
        </p:sp>
      </p:grpSp>
      <p:sp>
        <p:nvSpPr>
          <p:cNvPr id="102" name="CuadroTexto 101">
            <a:extLst>
              <a:ext uri="{FF2B5EF4-FFF2-40B4-BE49-F238E27FC236}">
                <a16:creationId xmlns:a16="http://schemas.microsoft.com/office/drawing/2014/main" id="{B0DCBDF1-E538-4C72-5D12-9AAA41FF1BCA}"/>
              </a:ext>
            </a:extLst>
          </p:cNvPr>
          <p:cNvSpPr txBox="1"/>
          <p:nvPr/>
        </p:nvSpPr>
        <p:spPr>
          <a:xfrm>
            <a:off x="293078" y="2518786"/>
            <a:ext cx="2700000" cy="738664"/>
          </a:xfrm>
          <a:prstGeom prst="rect">
            <a:avLst/>
          </a:prstGeom>
          <a:noFill/>
        </p:spPr>
        <p:txBody>
          <a:bodyPr wrap="square">
            <a:spAutoFit/>
          </a:bodyPr>
          <a:lstStyle/>
          <a:p>
            <a:pPr algn="ctr"/>
            <a:r>
              <a:rPr lang="es-PE" sz="1400" dirty="0"/>
              <a:t>Transactions are a third of calls, but </a:t>
            </a:r>
            <a:r>
              <a:rPr lang="es-PE" sz="1400" b="1" dirty="0"/>
              <a:t>complaints</a:t>
            </a:r>
            <a:r>
              <a:rPr lang="es-PE" sz="1400" dirty="0"/>
              <a:t> are what cost money and trust.</a:t>
            </a:r>
          </a:p>
        </p:txBody>
      </p:sp>
      <p:sp>
        <p:nvSpPr>
          <p:cNvPr id="106" name="CuadroTexto 105">
            <a:extLst>
              <a:ext uri="{FF2B5EF4-FFF2-40B4-BE49-F238E27FC236}">
                <a16:creationId xmlns:a16="http://schemas.microsoft.com/office/drawing/2014/main" id="{350151FA-7B09-046D-E3E6-21AD74C43DC6}"/>
              </a:ext>
            </a:extLst>
          </p:cNvPr>
          <p:cNvSpPr txBox="1"/>
          <p:nvPr/>
        </p:nvSpPr>
        <p:spPr>
          <a:xfrm>
            <a:off x="466855" y="2147588"/>
            <a:ext cx="2340000" cy="238363"/>
          </a:xfrm>
          <a:prstGeom prst="roundRect">
            <a:avLst/>
          </a:prstGeom>
          <a:solidFill>
            <a:srgbClr val="FFC000"/>
          </a:solidFill>
        </p:spPr>
        <p:txBody>
          <a:bodyPr wrap="square" lIns="0" tIns="0" rIns="0" bIns="0" anchor="ctr" anchorCtr="0">
            <a:spAutoFit/>
          </a:bodyPr>
          <a:lstStyle/>
          <a:p>
            <a:pPr algn="ctr"/>
            <a:r>
              <a:rPr lang="en-US" sz="1400" b="1" dirty="0"/>
              <a:t>A demand reason</a:t>
            </a:r>
          </a:p>
        </p:txBody>
      </p:sp>
      <p:sp>
        <p:nvSpPr>
          <p:cNvPr id="112" name="CuadroTexto 111">
            <a:extLst>
              <a:ext uri="{FF2B5EF4-FFF2-40B4-BE49-F238E27FC236}">
                <a16:creationId xmlns:a16="http://schemas.microsoft.com/office/drawing/2014/main" id="{40C4278F-573F-9140-242A-27C57DC29D40}"/>
              </a:ext>
            </a:extLst>
          </p:cNvPr>
          <p:cNvSpPr txBox="1"/>
          <p:nvPr/>
        </p:nvSpPr>
        <p:spPr>
          <a:xfrm>
            <a:off x="443016" y="5208567"/>
            <a:ext cx="1800000" cy="161583"/>
          </a:xfrm>
          <a:prstGeom prst="rect">
            <a:avLst/>
          </a:prstGeom>
          <a:noFill/>
        </p:spPr>
        <p:txBody>
          <a:bodyPr wrap="square" lIns="0" tIns="0" rIns="0" bIns="0">
            <a:spAutoFit/>
          </a:bodyPr>
          <a:lstStyle/>
          <a:p>
            <a:r>
              <a:rPr lang="en-US" sz="1050" dirty="0">
                <a:solidFill>
                  <a:schemeClr val="bg1">
                    <a:lumMod val="50000"/>
                  </a:schemeClr>
                </a:solidFill>
              </a:rPr>
              <a:t>Source: call center interaction</a:t>
            </a:r>
            <a:endParaRPr lang="es-PE" sz="1050" dirty="0">
              <a:solidFill>
                <a:schemeClr val="bg1">
                  <a:lumMod val="50000"/>
                </a:schemeClr>
              </a:solidFill>
            </a:endParaRPr>
          </a:p>
        </p:txBody>
      </p:sp>
      <p:sp>
        <p:nvSpPr>
          <p:cNvPr id="114" name="CuadroTexto 113">
            <a:extLst>
              <a:ext uri="{FF2B5EF4-FFF2-40B4-BE49-F238E27FC236}">
                <a16:creationId xmlns:a16="http://schemas.microsoft.com/office/drawing/2014/main" id="{0DBD7B0C-ED3D-D3AF-993E-BBF67C7D5119}"/>
              </a:ext>
            </a:extLst>
          </p:cNvPr>
          <p:cNvSpPr txBox="1"/>
          <p:nvPr/>
        </p:nvSpPr>
        <p:spPr>
          <a:xfrm>
            <a:off x="3315129" y="4240767"/>
            <a:ext cx="1800000" cy="161583"/>
          </a:xfrm>
          <a:prstGeom prst="rect">
            <a:avLst/>
          </a:prstGeom>
          <a:noFill/>
        </p:spPr>
        <p:txBody>
          <a:bodyPr wrap="square" lIns="0" tIns="0" rIns="0" bIns="0">
            <a:spAutoFit/>
          </a:bodyPr>
          <a:lstStyle/>
          <a:p>
            <a:pPr algn="ctr"/>
            <a:r>
              <a:rPr lang="en-US" sz="1050" dirty="0">
                <a:solidFill>
                  <a:schemeClr val="bg1">
                    <a:lumMod val="50000"/>
                  </a:schemeClr>
                </a:solidFill>
              </a:rPr>
              <a:t>Source: call center interaction</a:t>
            </a:r>
            <a:endParaRPr lang="es-PE" sz="1050" dirty="0">
              <a:solidFill>
                <a:schemeClr val="bg1">
                  <a:lumMod val="50000"/>
                </a:schemeClr>
              </a:solidFill>
            </a:endParaRPr>
          </a:p>
        </p:txBody>
      </p:sp>
      <p:sp>
        <p:nvSpPr>
          <p:cNvPr id="116" name="CuadroTexto 115">
            <a:extLst>
              <a:ext uri="{FF2B5EF4-FFF2-40B4-BE49-F238E27FC236}">
                <a16:creationId xmlns:a16="http://schemas.microsoft.com/office/drawing/2014/main" id="{FFD20491-CA65-05A1-BE20-CEC99798F7D6}"/>
              </a:ext>
            </a:extLst>
          </p:cNvPr>
          <p:cNvSpPr txBox="1"/>
          <p:nvPr/>
        </p:nvSpPr>
        <p:spPr>
          <a:xfrm>
            <a:off x="3420396" y="3720084"/>
            <a:ext cx="1557316" cy="507831"/>
          </a:xfrm>
          <a:prstGeom prst="rect">
            <a:avLst/>
          </a:prstGeom>
          <a:noFill/>
        </p:spPr>
        <p:txBody>
          <a:bodyPr wrap="square" lIns="0" tIns="0" rIns="0" bIns="0" anchor="ctr" anchorCtr="0">
            <a:spAutoFit/>
          </a:bodyPr>
          <a:lstStyle/>
          <a:p>
            <a:pPr algn="ctr"/>
            <a:r>
              <a:rPr lang="en-US" sz="1100" b="1" dirty="0">
                <a:solidFill>
                  <a:srgbClr val="1D2433"/>
                </a:solidFill>
              </a:rPr>
              <a:t>~19,000 contacts/month</a:t>
            </a:r>
          </a:p>
          <a:p>
            <a:pPr algn="ctr"/>
            <a:r>
              <a:rPr lang="en-US" sz="1100" b="1" dirty="0">
                <a:solidFill>
                  <a:srgbClr val="1D2433"/>
                </a:solidFill>
              </a:rPr>
              <a:t>~ $29.5k/month</a:t>
            </a:r>
          </a:p>
          <a:p>
            <a:pPr algn="ctr"/>
            <a:r>
              <a:rPr lang="en-US" sz="1100" dirty="0">
                <a:solidFill>
                  <a:srgbClr val="1D2433"/>
                </a:solidFill>
              </a:rPr>
              <a:t>(avg </a:t>
            </a:r>
            <a:r>
              <a:rPr lang="en-US" sz="1100" b="1" dirty="0">
                <a:solidFill>
                  <a:srgbClr val="145A50"/>
                </a:solidFill>
              </a:rPr>
              <a:t>$1.55/contact</a:t>
            </a:r>
            <a:r>
              <a:rPr lang="en-US" sz="1100" dirty="0"/>
              <a:t>)</a:t>
            </a:r>
            <a:endParaRPr lang="es-PE" sz="1100" dirty="0"/>
          </a:p>
        </p:txBody>
      </p:sp>
      <p:sp>
        <p:nvSpPr>
          <p:cNvPr id="119" name="CuadroTexto 118">
            <a:extLst>
              <a:ext uri="{FF2B5EF4-FFF2-40B4-BE49-F238E27FC236}">
                <a16:creationId xmlns:a16="http://schemas.microsoft.com/office/drawing/2014/main" id="{24CDD10C-2000-9713-45E3-CD90290D6A5F}"/>
              </a:ext>
            </a:extLst>
          </p:cNvPr>
          <p:cNvSpPr txBox="1"/>
          <p:nvPr/>
        </p:nvSpPr>
        <p:spPr>
          <a:xfrm>
            <a:off x="4225109" y="4774331"/>
            <a:ext cx="1698901" cy="846386"/>
          </a:xfrm>
          <a:prstGeom prst="rect">
            <a:avLst/>
          </a:prstGeom>
          <a:noFill/>
        </p:spPr>
        <p:txBody>
          <a:bodyPr wrap="square" lIns="0" tIns="0" rIns="0" bIns="0" anchor="ctr" anchorCtr="0">
            <a:spAutoFit/>
          </a:bodyPr>
          <a:lstStyle/>
          <a:p>
            <a:pPr algn="ctr"/>
            <a:r>
              <a:rPr lang="en-US" sz="1100" b="1" dirty="0">
                <a:solidFill>
                  <a:srgbClr val="1D2433"/>
                </a:solidFill>
              </a:rPr>
              <a:t>67,095 complaints</a:t>
            </a:r>
          </a:p>
          <a:p>
            <a:pPr algn="ctr"/>
            <a:r>
              <a:rPr lang="en-US" sz="1100" dirty="0">
                <a:solidFill>
                  <a:srgbClr val="1D2433"/>
                </a:solidFill>
              </a:rPr>
              <a:t>40% charges, 20% breach SLA, 1.1% reach regulator</a:t>
            </a:r>
          </a:p>
          <a:p>
            <a:pPr algn="ctr"/>
            <a:r>
              <a:rPr lang="en-US" sz="1100" dirty="0">
                <a:solidFill>
                  <a:srgbClr val="1D2433"/>
                </a:solidFill>
              </a:rPr>
              <a:t>Median: 16 days to solve</a:t>
            </a:r>
          </a:p>
          <a:p>
            <a:pPr algn="ctr"/>
            <a:r>
              <a:rPr lang="en-US" sz="1100" dirty="0">
                <a:solidFill>
                  <a:srgbClr val="1D2433"/>
                </a:solidFill>
              </a:rPr>
              <a:t>7% end with compensation</a:t>
            </a:r>
            <a:endParaRPr lang="es-PE" sz="1100" dirty="0"/>
          </a:p>
        </p:txBody>
      </p:sp>
      <p:sp>
        <p:nvSpPr>
          <p:cNvPr id="121" name="CuadroTexto 120">
            <a:extLst>
              <a:ext uri="{FF2B5EF4-FFF2-40B4-BE49-F238E27FC236}">
                <a16:creationId xmlns:a16="http://schemas.microsoft.com/office/drawing/2014/main" id="{2DF69337-FE40-C773-7750-15A26AC7FE23}"/>
              </a:ext>
            </a:extLst>
          </p:cNvPr>
          <p:cNvSpPr txBox="1"/>
          <p:nvPr/>
        </p:nvSpPr>
        <p:spPr>
          <a:xfrm>
            <a:off x="4225109" y="5641902"/>
            <a:ext cx="1714978" cy="161583"/>
          </a:xfrm>
          <a:prstGeom prst="rect">
            <a:avLst/>
          </a:prstGeom>
          <a:noFill/>
        </p:spPr>
        <p:txBody>
          <a:bodyPr wrap="square" lIns="0" tIns="0" rIns="0" bIns="0">
            <a:spAutoFit/>
          </a:bodyPr>
          <a:lstStyle/>
          <a:p>
            <a:pPr algn="ctr"/>
            <a:r>
              <a:rPr lang="en-US" sz="1050" dirty="0">
                <a:solidFill>
                  <a:schemeClr val="bg1">
                    <a:lumMod val="50000"/>
                  </a:schemeClr>
                </a:solidFill>
              </a:rPr>
              <a:t>Source: complaints</a:t>
            </a:r>
            <a:endParaRPr lang="es-PE" sz="1050" dirty="0">
              <a:solidFill>
                <a:schemeClr val="bg1">
                  <a:lumMod val="50000"/>
                </a:schemeClr>
              </a:solidFill>
            </a:endParaRPr>
          </a:p>
        </p:txBody>
      </p:sp>
      <p:sp>
        <p:nvSpPr>
          <p:cNvPr id="125" name="CuadroTexto 124">
            <a:extLst>
              <a:ext uri="{FF2B5EF4-FFF2-40B4-BE49-F238E27FC236}">
                <a16:creationId xmlns:a16="http://schemas.microsoft.com/office/drawing/2014/main" id="{5B20E196-C908-4CB2-B14B-E616AB468F34}"/>
              </a:ext>
            </a:extLst>
          </p:cNvPr>
          <p:cNvSpPr txBox="1"/>
          <p:nvPr/>
        </p:nvSpPr>
        <p:spPr>
          <a:xfrm>
            <a:off x="3292956" y="2518786"/>
            <a:ext cx="2700000" cy="738664"/>
          </a:xfrm>
          <a:prstGeom prst="rect">
            <a:avLst/>
          </a:prstGeom>
          <a:noFill/>
        </p:spPr>
        <p:txBody>
          <a:bodyPr wrap="square">
            <a:spAutoFit/>
          </a:bodyPr>
          <a:lstStyle/>
          <a:p>
            <a:pPr algn="ctr"/>
            <a:r>
              <a:rPr lang="es-PE" sz="1400" b="1" dirty="0"/>
              <a:t>Formal complaints</a:t>
            </a:r>
            <a:r>
              <a:rPr lang="es-PE" sz="1400" dirty="0"/>
              <a:t> are the costliest contacts</a:t>
            </a:r>
            <a:r>
              <a:rPr lang="en-US" sz="1400" dirty="0"/>
              <a:t>: </a:t>
            </a:r>
            <a:r>
              <a:rPr lang="es-PE" sz="1400" dirty="0"/>
              <a:t>2 weeks to solve, </a:t>
            </a:r>
            <a:r>
              <a:rPr lang="es-PE" sz="1400" b="1" dirty="0"/>
              <a:t>40% are charges disputes</a:t>
            </a:r>
            <a:r>
              <a:rPr lang="es-PE" sz="1400" dirty="0"/>
              <a:t>.</a:t>
            </a:r>
          </a:p>
        </p:txBody>
      </p:sp>
      <p:sp>
        <p:nvSpPr>
          <p:cNvPr id="127" name="TextBox 7">
            <a:extLst>
              <a:ext uri="{FF2B5EF4-FFF2-40B4-BE49-F238E27FC236}">
                <a16:creationId xmlns:a16="http://schemas.microsoft.com/office/drawing/2014/main" id="{30798651-F2FF-982E-7C33-6B02D4827084}"/>
              </a:ext>
            </a:extLst>
          </p:cNvPr>
          <p:cNvSpPr txBox="1"/>
          <p:nvPr/>
        </p:nvSpPr>
        <p:spPr>
          <a:xfrm>
            <a:off x="72390" y="6521708"/>
            <a:ext cx="10972800" cy="276999"/>
          </a:xfrm>
          <a:prstGeom prst="rect">
            <a:avLst/>
          </a:prstGeom>
          <a:noFill/>
        </p:spPr>
        <p:txBody>
          <a:bodyPr wrap="square">
            <a:spAutoFit/>
          </a:bodyPr>
          <a:lstStyle/>
          <a:p>
            <a:pPr algn="l"/>
            <a:r>
              <a:rPr lang="en-US" sz="1200" b="0" dirty="0">
                <a:solidFill>
                  <a:schemeClr val="bg1"/>
                </a:solidFill>
                <a:latin typeface="Calibri"/>
              </a:rPr>
              <a:t>* Assumption: $0.30/min (call), $1.00/chat, $1.50/email</a:t>
            </a:r>
          </a:p>
        </p:txBody>
      </p:sp>
      <p:sp>
        <p:nvSpPr>
          <p:cNvPr id="129" name="CuadroTexto 128">
            <a:extLst>
              <a:ext uri="{FF2B5EF4-FFF2-40B4-BE49-F238E27FC236}">
                <a16:creationId xmlns:a16="http://schemas.microsoft.com/office/drawing/2014/main" id="{216734E8-153A-80BA-67F7-8B833D532E69}"/>
              </a:ext>
            </a:extLst>
          </p:cNvPr>
          <p:cNvSpPr txBox="1"/>
          <p:nvPr/>
        </p:nvSpPr>
        <p:spPr>
          <a:xfrm>
            <a:off x="3472955" y="2147588"/>
            <a:ext cx="2340000" cy="238363"/>
          </a:xfrm>
          <a:prstGeom prst="roundRect">
            <a:avLst/>
          </a:prstGeom>
          <a:solidFill>
            <a:srgbClr val="FFC000"/>
          </a:solidFill>
        </p:spPr>
        <p:txBody>
          <a:bodyPr wrap="square" lIns="0" tIns="0" rIns="0" bIns="0" anchor="ctr" anchorCtr="0">
            <a:spAutoFit/>
          </a:bodyPr>
          <a:lstStyle/>
          <a:p>
            <a:pPr algn="ctr"/>
            <a:r>
              <a:rPr lang="en-US" sz="1400" b="1" dirty="0"/>
              <a:t>A cost reason</a:t>
            </a:r>
          </a:p>
        </p:txBody>
      </p:sp>
      <p:sp>
        <p:nvSpPr>
          <p:cNvPr id="130" name="Rectángulo 129">
            <a:extLst>
              <a:ext uri="{FF2B5EF4-FFF2-40B4-BE49-F238E27FC236}">
                <a16:creationId xmlns:a16="http://schemas.microsoft.com/office/drawing/2014/main" id="{67972565-3CCB-EAA3-C9B7-1FE443E73CA1}"/>
              </a:ext>
            </a:extLst>
          </p:cNvPr>
          <p:cNvSpPr/>
          <p:nvPr/>
        </p:nvSpPr>
        <p:spPr>
          <a:xfrm>
            <a:off x="853049" y="2776163"/>
            <a:ext cx="864000"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32" name="CuadroTexto 131">
            <a:extLst>
              <a:ext uri="{FF2B5EF4-FFF2-40B4-BE49-F238E27FC236}">
                <a16:creationId xmlns:a16="http://schemas.microsoft.com/office/drawing/2014/main" id="{543CD3A1-435B-077C-C313-29E21E3FE23D}"/>
              </a:ext>
            </a:extLst>
          </p:cNvPr>
          <p:cNvSpPr txBox="1"/>
          <p:nvPr/>
        </p:nvSpPr>
        <p:spPr>
          <a:xfrm>
            <a:off x="323343" y="3377005"/>
            <a:ext cx="1631543" cy="307777"/>
          </a:xfrm>
          <a:prstGeom prst="rect">
            <a:avLst/>
          </a:prstGeom>
          <a:noFill/>
        </p:spPr>
        <p:txBody>
          <a:bodyPr wrap="square">
            <a:spAutoFit/>
          </a:bodyPr>
          <a:lstStyle/>
          <a:p>
            <a:r>
              <a:rPr lang="es-PE" sz="1400" dirty="0"/>
              <a:t>Call reasons</a:t>
            </a:r>
          </a:p>
        </p:txBody>
      </p:sp>
      <p:sp>
        <p:nvSpPr>
          <p:cNvPr id="134" name="CuadroTexto 133">
            <a:extLst>
              <a:ext uri="{FF2B5EF4-FFF2-40B4-BE49-F238E27FC236}">
                <a16:creationId xmlns:a16="http://schemas.microsoft.com/office/drawing/2014/main" id="{C7E13D6E-8597-BF68-FC4E-0DB54AC1D2A1}"/>
              </a:ext>
            </a:extLst>
          </p:cNvPr>
          <p:cNvSpPr txBox="1"/>
          <p:nvPr/>
        </p:nvSpPr>
        <p:spPr>
          <a:xfrm>
            <a:off x="3299052" y="3505504"/>
            <a:ext cx="1800000" cy="261610"/>
          </a:xfrm>
          <a:prstGeom prst="rect">
            <a:avLst/>
          </a:prstGeom>
          <a:noFill/>
        </p:spPr>
        <p:txBody>
          <a:bodyPr wrap="square">
            <a:spAutoFit/>
          </a:bodyPr>
          <a:lstStyle/>
          <a:p>
            <a:pPr algn="ctr"/>
            <a:r>
              <a:rPr lang="es-PE" sz="1100" b="1" dirty="0">
                <a:solidFill>
                  <a:srgbClr val="145A50"/>
                </a:solidFill>
              </a:rPr>
              <a:t>Interactions*</a:t>
            </a:r>
          </a:p>
        </p:txBody>
      </p:sp>
      <p:sp>
        <p:nvSpPr>
          <p:cNvPr id="136" name="CuadroTexto 135">
            <a:extLst>
              <a:ext uri="{FF2B5EF4-FFF2-40B4-BE49-F238E27FC236}">
                <a16:creationId xmlns:a16="http://schemas.microsoft.com/office/drawing/2014/main" id="{A6C1C6CB-229A-A6D7-1B21-A838313DB2C2}"/>
              </a:ext>
            </a:extLst>
          </p:cNvPr>
          <p:cNvSpPr txBox="1"/>
          <p:nvPr/>
        </p:nvSpPr>
        <p:spPr>
          <a:xfrm>
            <a:off x="4225109" y="4543379"/>
            <a:ext cx="1698902" cy="261610"/>
          </a:xfrm>
          <a:prstGeom prst="rect">
            <a:avLst/>
          </a:prstGeom>
          <a:noFill/>
        </p:spPr>
        <p:txBody>
          <a:bodyPr wrap="square">
            <a:spAutoFit/>
          </a:bodyPr>
          <a:lstStyle/>
          <a:p>
            <a:pPr algn="ctr"/>
            <a:r>
              <a:rPr lang="es-PE" sz="1100" b="1" dirty="0">
                <a:solidFill>
                  <a:srgbClr val="145A50"/>
                </a:solidFill>
              </a:rPr>
              <a:t>Formal complaints</a:t>
            </a:r>
          </a:p>
        </p:txBody>
      </p:sp>
      <p:sp>
        <p:nvSpPr>
          <p:cNvPr id="138" name="Rectángulo 137">
            <a:extLst>
              <a:ext uri="{FF2B5EF4-FFF2-40B4-BE49-F238E27FC236}">
                <a16:creationId xmlns:a16="http://schemas.microsoft.com/office/drawing/2014/main" id="{59F595B3-9921-6ECE-03C5-8F299424C3E2}"/>
              </a:ext>
            </a:extLst>
          </p:cNvPr>
          <p:cNvSpPr/>
          <p:nvPr/>
        </p:nvSpPr>
        <p:spPr>
          <a:xfrm>
            <a:off x="3636804" y="2564336"/>
            <a:ext cx="1440000"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140" name="CuadroTexto 139">
            <a:extLst>
              <a:ext uri="{FF2B5EF4-FFF2-40B4-BE49-F238E27FC236}">
                <a16:creationId xmlns:a16="http://schemas.microsoft.com/office/drawing/2014/main" id="{5830913C-2ADA-EC70-4FDA-64475814F5D5}"/>
              </a:ext>
            </a:extLst>
          </p:cNvPr>
          <p:cNvSpPr txBox="1"/>
          <p:nvPr/>
        </p:nvSpPr>
        <p:spPr>
          <a:xfrm>
            <a:off x="6472974" y="2147588"/>
            <a:ext cx="2340000" cy="238363"/>
          </a:xfrm>
          <a:prstGeom prst="roundRect">
            <a:avLst/>
          </a:prstGeom>
          <a:solidFill>
            <a:srgbClr val="FFC000"/>
          </a:solidFill>
        </p:spPr>
        <p:txBody>
          <a:bodyPr wrap="square" lIns="0" tIns="0" rIns="0" bIns="0" anchor="ctr" anchorCtr="0">
            <a:spAutoFit/>
          </a:bodyPr>
          <a:lstStyle/>
          <a:p>
            <a:pPr algn="ctr"/>
            <a:r>
              <a:rPr lang="en-US" sz="1400" b="1" dirty="0"/>
              <a:t>A detection reason</a:t>
            </a:r>
          </a:p>
        </p:txBody>
      </p:sp>
      <p:sp>
        <p:nvSpPr>
          <p:cNvPr id="142" name="CuadroTexto 141">
            <a:extLst>
              <a:ext uri="{FF2B5EF4-FFF2-40B4-BE49-F238E27FC236}">
                <a16:creationId xmlns:a16="http://schemas.microsoft.com/office/drawing/2014/main" id="{BA5E8AD4-C7CC-2FF8-5E67-C65D8BC0585A}"/>
              </a:ext>
            </a:extLst>
          </p:cNvPr>
          <p:cNvSpPr txBox="1"/>
          <p:nvPr/>
        </p:nvSpPr>
        <p:spPr>
          <a:xfrm>
            <a:off x="9472708" y="2147588"/>
            <a:ext cx="2340000" cy="238363"/>
          </a:xfrm>
          <a:prstGeom prst="roundRect">
            <a:avLst/>
          </a:prstGeom>
          <a:solidFill>
            <a:srgbClr val="FFC000"/>
          </a:solidFill>
        </p:spPr>
        <p:txBody>
          <a:bodyPr wrap="square" lIns="0" tIns="0" rIns="0" bIns="0" anchor="ctr" anchorCtr="0">
            <a:spAutoFit/>
          </a:bodyPr>
          <a:lstStyle/>
          <a:p>
            <a:pPr algn="ctr"/>
            <a:r>
              <a:rPr lang="en-US" sz="1400" b="1" dirty="0"/>
              <a:t>A reason to ACT FIRST</a:t>
            </a:r>
          </a:p>
        </p:txBody>
      </p:sp>
      <p:grpSp>
        <p:nvGrpSpPr>
          <p:cNvPr id="143" name="Grupo 142">
            <a:extLst>
              <a:ext uri="{FF2B5EF4-FFF2-40B4-BE49-F238E27FC236}">
                <a16:creationId xmlns:a16="http://schemas.microsoft.com/office/drawing/2014/main" id="{2A2F6B2E-9AF0-69F5-3107-1E940FA2BD92}"/>
              </a:ext>
            </a:extLst>
          </p:cNvPr>
          <p:cNvGrpSpPr/>
          <p:nvPr/>
        </p:nvGrpSpPr>
        <p:grpSpPr>
          <a:xfrm>
            <a:off x="4294627" y="1437314"/>
            <a:ext cx="696656" cy="684000"/>
            <a:chOff x="807618" y="1632834"/>
            <a:chExt cx="696656" cy="684000"/>
          </a:xfrm>
        </p:grpSpPr>
        <p:pic>
          <p:nvPicPr>
            <p:cNvPr id="144" name="Imagen 143">
              <a:extLst>
                <a:ext uri="{FF2B5EF4-FFF2-40B4-BE49-F238E27FC236}">
                  <a16:creationId xmlns:a16="http://schemas.microsoft.com/office/drawing/2014/main" id="{FFCF3C04-895F-A0F1-ABDC-2B95E3C18AFC}"/>
                </a:ext>
              </a:extLst>
            </p:cNvPr>
            <p:cNvPicPr>
              <a:picLocks noChangeAspect="1"/>
            </p:cNvPicPr>
            <p:nvPr/>
          </p:nvPicPr>
          <p:blipFill>
            <a:blip r:embed="rId4" cstate="email">
              <a:alphaModFix amt="80000"/>
              <a:extLst>
                <a:ext uri="{BEBA8EAE-BF5A-486C-A8C5-ECC9F3942E4B}">
                  <a14:imgProps xmlns:a14="http://schemas.microsoft.com/office/drawing/2010/main">
                    <a14:imgLayer r:embed="rId5">
                      <a14:imgEffect>
                        <a14:backgroundRemoval t="9976" b="89944" l="4344" r="96524">
                          <a14:foregroundMark x1="13665" y1="25422" x2="13665" y2="25422"/>
                          <a14:foregroundMark x1="14455" y1="25422" x2="14455" y2="25422"/>
                          <a14:foregroundMark x1="11137" y1="26629" x2="12322" y2="25583"/>
                          <a14:foregroundMark x1="15087" y1="25986" x2="16667" y2="25986"/>
                          <a14:foregroundMark x1="90205" y1="39743" x2="91548" y2="39743"/>
                          <a14:foregroundMark x1="96603" y1="40306" x2="96603" y2="41754"/>
                          <a14:foregroundMark x1="14455" y1="36364" x2="14455" y2="37329"/>
                          <a14:foregroundMark x1="17220" y1="36927" x2="17062" y2="37973"/>
                          <a14:foregroundMark x1="4344" y1="31537" x2="5292" y2="31778"/>
                          <a14:backgroundMark x1="21327" y1="59292" x2="21327" y2="59292"/>
                          <a14:backgroundMark x1="79384" y1="67418" x2="79384" y2="67418"/>
                          <a14:backgroundMark x1="15245" y1="37329" x2="15245" y2="37329"/>
                          <a14:backgroundMark x1="23697" y1="30732" x2="23697" y2="30732"/>
                          <a14:backgroundMark x1="15087" y1="26388" x2="15087" y2="26388"/>
                          <a14:backgroundMark x1="15245" y1="26227" x2="15245" y2="26227"/>
                          <a14:backgroundMark x1="94471" y1="41754" x2="94471" y2="41754"/>
                          <a14:backgroundMark x1="89179" y1="50121" x2="89179" y2="50121"/>
                        </a14:backgroundRemoval>
                      </a14:imgEffect>
                    </a14:imgLayer>
                  </a14:imgProps>
                </a:ext>
                <a:ext uri="{28A0092B-C50C-407E-A947-70E740481C1C}">
                  <a14:useLocalDpi xmlns:a14="http://schemas.microsoft.com/office/drawing/2010/main"/>
                </a:ext>
              </a:extLst>
            </a:blip>
            <a:stretch>
              <a:fillRect/>
            </a:stretch>
          </p:blipFill>
          <p:spPr>
            <a:xfrm>
              <a:off x="807618" y="1632834"/>
              <a:ext cx="696656" cy="684000"/>
            </a:xfrm>
            <a:prstGeom prst="rect">
              <a:avLst/>
            </a:prstGeom>
          </p:spPr>
        </p:pic>
        <p:sp>
          <p:nvSpPr>
            <p:cNvPr id="145" name="CuadroTexto 144">
              <a:extLst>
                <a:ext uri="{FF2B5EF4-FFF2-40B4-BE49-F238E27FC236}">
                  <a16:creationId xmlns:a16="http://schemas.microsoft.com/office/drawing/2014/main" id="{9A3E8A75-826A-0214-57FF-5164B36A8E5D}"/>
                </a:ext>
              </a:extLst>
            </p:cNvPr>
            <p:cNvSpPr txBox="1"/>
            <p:nvPr/>
          </p:nvSpPr>
          <p:spPr>
            <a:xfrm>
              <a:off x="1011982" y="1701409"/>
              <a:ext cx="340158" cy="461665"/>
            </a:xfrm>
            <a:prstGeom prst="rect">
              <a:avLst/>
            </a:prstGeom>
            <a:noFill/>
          </p:spPr>
          <p:txBody>
            <a:bodyPr wrap="none" rtlCol="0">
              <a:spAutoFit/>
            </a:bodyPr>
            <a:lstStyle/>
            <a:p>
              <a:r>
                <a:rPr lang="es-MX" sz="2400" b="1" dirty="0"/>
                <a:t>2</a:t>
              </a:r>
              <a:endParaRPr lang="es-PE" sz="2400" b="1" dirty="0"/>
            </a:p>
          </p:txBody>
        </p:sp>
      </p:grpSp>
      <p:grpSp>
        <p:nvGrpSpPr>
          <p:cNvPr id="146" name="Grupo 145">
            <a:extLst>
              <a:ext uri="{FF2B5EF4-FFF2-40B4-BE49-F238E27FC236}">
                <a16:creationId xmlns:a16="http://schemas.microsoft.com/office/drawing/2014/main" id="{59886948-BF42-6ADD-2B13-A0712A8AD269}"/>
              </a:ext>
            </a:extLst>
          </p:cNvPr>
          <p:cNvGrpSpPr/>
          <p:nvPr/>
        </p:nvGrpSpPr>
        <p:grpSpPr>
          <a:xfrm>
            <a:off x="7294646" y="1437314"/>
            <a:ext cx="696656" cy="684000"/>
            <a:chOff x="807618" y="1632834"/>
            <a:chExt cx="696656" cy="684000"/>
          </a:xfrm>
        </p:grpSpPr>
        <p:pic>
          <p:nvPicPr>
            <p:cNvPr id="147" name="Imagen 146">
              <a:extLst>
                <a:ext uri="{FF2B5EF4-FFF2-40B4-BE49-F238E27FC236}">
                  <a16:creationId xmlns:a16="http://schemas.microsoft.com/office/drawing/2014/main" id="{A9EAEE49-614E-DA48-9A33-49C79661705D}"/>
                </a:ext>
              </a:extLst>
            </p:cNvPr>
            <p:cNvPicPr>
              <a:picLocks noChangeAspect="1"/>
            </p:cNvPicPr>
            <p:nvPr/>
          </p:nvPicPr>
          <p:blipFill>
            <a:blip r:embed="rId4" cstate="email">
              <a:alphaModFix amt="80000"/>
              <a:extLst>
                <a:ext uri="{BEBA8EAE-BF5A-486C-A8C5-ECC9F3942E4B}">
                  <a14:imgProps xmlns:a14="http://schemas.microsoft.com/office/drawing/2010/main">
                    <a14:imgLayer r:embed="rId5">
                      <a14:imgEffect>
                        <a14:backgroundRemoval t="9976" b="89944" l="4344" r="96524">
                          <a14:foregroundMark x1="13665" y1="25422" x2="13665" y2="25422"/>
                          <a14:foregroundMark x1="14455" y1="25422" x2="14455" y2="25422"/>
                          <a14:foregroundMark x1="11137" y1="26629" x2="12322" y2="25583"/>
                          <a14:foregroundMark x1="15087" y1="25986" x2="16667" y2="25986"/>
                          <a14:foregroundMark x1="90205" y1="39743" x2="91548" y2="39743"/>
                          <a14:foregroundMark x1="96603" y1="40306" x2="96603" y2="41754"/>
                          <a14:foregroundMark x1="14455" y1="36364" x2="14455" y2="37329"/>
                          <a14:foregroundMark x1="17220" y1="36927" x2="17062" y2="37973"/>
                          <a14:foregroundMark x1="4344" y1="31537" x2="5292" y2="31778"/>
                          <a14:backgroundMark x1="21327" y1="59292" x2="21327" y2="59292"/>
                          <a14:backgroundMark x1="79384" y1="67418" x2="79384" y2="67418"/>
                          <a14:backgroundMark x1="15245" y1="37329" x2="15245" y2="37329"/>
                          <a14:backgroundMark x1="23697" y1="30732" x2="23697" y2="30732"/>
                          <a14:backgroundMark x1="15087" y1="26388" x2="15087" y2="26388"/>
                          <a14:backgroundMark x1="15245" y1="26227" x2="15245" y2="26227"/>
                          <a14:backgroundMark x1="94471" y1="41754" x2="94471" y2="41754"/>
                          <a14:backgroundMark x1="89179" y1="50121" x2="89179" y2="50121"/>
                        </a14:backgroundRemoval>
                      </a14:imgEffect>
                    </a14:imgLayer>
                  </a14:imgProps>
                </a:ext>
                <a:ext uri="{28A0092B-C50C-407E-A947-70E740481C1C}">
                  <a14:useLocalDpi xmlns:a14="http://schemas.microsoft.com/office/drawing/2010/main"/>
                </a:ext>
              </a:extLst>
            </a:blip>
            <a:stretch>
              <a:fillRect/>
            </a:stretch>
          </p:blipFill>
          <p:spPr>
            <a:xfrm>
              <a:off x="807618" y="1632834"/>
              <a:ext cx="696656" cy="684000"/>
            </a:xfrm>
            <a:prstGeom prst="rect">
              <a:avLst/>
            </a:prstGeom>
          </p:spPr>
        </p:pic>
        <p:sp>
          <p:nvSpPr>
            <p:cNvPr id="148" name="CuadroTexto 147">
              <a:extLst>
                <a:ext uri="{FF2B5EF4-FFF2-40B4-BE49-F238E27FC236}">
                  <a16:creationId xmlns:a16="http://schemas.microsoft.com/office/drawing/2014/main" id="{AB85861B-6C58-FE6C-47C4-1EDF724EB32E}"/>
                </a:ext>
              </a:extLst>
            </p:cNvPr>
            <p:cNvSpPr txBox="1"/>
            <p:nvPr/>
          </p:nvSpPr>
          <p:spPr>
            <a:xfrm>
              <a:off x="1011982" y="1701409"/>
              <a:ext cx="340158" cy="461665"/>
            </a:xfrm>
            <a:prstGeom prst="rect">
              <a:avLst/>
            </a:prstGeom>
            <a:noFill/>
          </p:spPr>
          <p:txBody>
            <a:bodyPr wrap="none" rtlCol="0">
              <a:spAutoFit/>
            </a:bodyPr>
            <a:lstStyle/>
            <a:p>
              <a:r>
                <a:rPr lang="es-MX" sz="2400" b="1" dirty="0"/>
                <a:t>3</a:t>
              </a:r>
              <a:endParaRPr lang="es-PE" sz="2400" b="1" dirty="0"/>
            </a:p>
          </p:txBody>
        </p:sp>
      </p:grpSp>
      <p:grpSp>
        <p:nvGrpSpPr>
          <p:cNvPr id="149" name="Grupo 148">
            <a:extLst>
              <a:ext uri="{FF2B5EF4-FFF2-40B4-BE49-F238E27FC236}">
                <a16:creationId xmlns:a16="http://schemas.microsoft.com/office/drawing/2014/main" id="{CE7803DD-9F46-71ED-139E-E6EF765CE823}"/>
              </a:ext>
            </a:extLst>
          </p:cNvPr>
          <p:cNvGrpSpPr/>
          <p:nvPr/>
        </p:nvGrpSpPr>
        <p:grpSpPr>
          <a:xfrm>
            <a:off x="10252999" y="1437314"/>
            <a:ext cx="696656" cy="684000"/>
            <a:chOff x="807618" y="1632834"/>
            <a:chExt cx="696656" cy="684000"/>
          </a:xfrm>
        </p:grpSpPr>
        <p:pic>
          <p:nvPicPr>
            <p:cNvPr id="150" name="Imagen 149">
              <a:extLst>
                <a:ext uri="{FF2B5EF4-FFF2-40B4-BE49-F238E27FC236}">
                  <a16:creationId xmlns:a16="http://schemas.microsoft.com/office/drawing/2014/main" id="{23A15DE3-C986-B6AA-A158-18113DE66FA1}"/>
                </a:ext>
              </a:extLst>
            </p:cNvPr>
            <p:cNvPicPr>
              <a:picLocks noChangeAspect="1"/>
            </p:cNvPicPr>
            <p:nvPr/>
          </p:nvPicPr>
          <p:blipFill>
            <a:blip r:embed="rId4" cstate="email">
              <a:alphaModFix amt="80000"/>
              <a:extLst>
                <a:ext uri="{BEBA8EAE-BF5A-486C-A8C5-ECC9F3942E4B}">
                  <a14:imgProps xmlns:a14="http://schemas.microsoft.com/office/drawing/2010/main">
                    <a14:imgLayer r:embed="rId5">
                      <a14:imgEffect>
                        <a14:backgroundRemoval t="9976" b="89944" l="4344" r="96524">
                          <a14:foregroundMark x1="13665" y1="25422" x2="13665" y2="25422"/>
                          <a14:foregroundMark x1="14455" y1="25422" x2="14455" y2="25422"/>
                          <a14:foregroundMark x1="11137" y1="26629" x2="12322" y2="25583"/>
                          <a14:foregroundMark x1="15087" y1="25986" x2="16667" y2="25986"/>
                          <a14:foregroundMark x1="90205" y1="39743" x2="91548" y2="39743"/>
                          <a14:foregroundMark x1="96603" y1="40306" x2="96603" y2="41754"/>
                          <a14:foregroundMark x1="14455" y1="36364" x2="14455" y2="37329"/>
                          <a14:foregroundMark x1="17220" y1="36927" x2="17062" y2="37973"/>
                          <a14:foregroundMark x1="4344" y1="31537" x2="5292" y2="31778"/>
                          <a14:backgroundMark x1="21327" y1="59292" x2="21327" y2="59292"/>
                          <a14:backgroundMark x1="79384" y1="67418" x2="79384" y2="67418"/>
                          <a14:backgroundMark x1="15245" y1="37329" x2="15245" y2="37329"/>
                          <a14:backgroundMark x1="23697" y1="30732" x2="23697" y2="30732"/>
                          <a14:backgroundMark x1="15087" y1="26388" x2="15087" y2="26388"/>
                          <a14:backgroundMark x1="15245" y1="26227" x2="15245" y2="26227"/>
                          <a14:backgroundMark x1="94471" y1="41754" x2="94471" y2="41754"/>
                          <a14:backgroundMark x1="89179" y1="50121" x2="89179" y2="50121"/>
                        </a14:backgroundRemoval>
                      </a14:imgEffect>
                    </a14:imgLayer>
                  </a14:imgProps>
                </a:ext>
                <a:ext uri="{28A0092B-C50C-407E-A947-70E740481C1C}">
                  <a14:useLocalDpi xmlns:a14="http://schemas.microsoft.com/office/drawing/2010/main"/>
                </a:ext>
              </a:extLst>
            </a:blip>
            <a:stretch>
              <a:fillRect/>
            </a:stretch>
          </p:blipFill>
          <p:spPr>
            <a:xfrm>
              <a:off x="807618" y="1632834"/>
              <a:ext cx="696656" cy="684000"/>
            </a:xfrm>
            <a:prstGeom prst="rect">
              <a:avLst/>
            </a:prstGeom>
          </p:spPr>
        </p:pic>
        <p:sp>
          <p:nvSpPr>
            <p:cNvPr id="151" name="CuadroTexto 150">
              <a:extLst>
                <a:ext uri="{FF2B5EF4-FFF2-40B4-BE49-F238E27FC236}">
                  <a16:creationId xmlns:a16="http://schemas.microsoft.com/office/drawing/2014/main" id="{5AE7D8AC-4DC6-6B04-97D1-5644CCAFDBBA}"/>
                </a:ext>
              </a:extLst>
            </p:cNvPr>
            <p:cNvSpPr txBox="1"/>
            <p:nvPr/>
          </p:nvSpPr>
          <p:spPr>
            <a:xfrm>
              <a:off x="1011982" y="1701409"/>
              <a:ext cx="340158" cy="461665"/>
            </a:xfrm>
            <a:prstGeom prst="rect">
              <a:avLst/>
            </a:prstGeom>
            <a:noFill/>
          </p:spPr>
          <p:txBody>
            <a:bodyPr wrap="none" rtlCol="0">
              <a:spAutoFit/>
            </a:bodyPr>
            <a:lstStyle/>
            <a:p>
              <a:r>
                <a:rPr lang="es-MX" sz="2400" b="1" dirty="0"/>
                <a:t>4</a:t>
              </a:r>
              <a:endParaRPr lang="es-PE" sz="2400" b="1" dirty="0"/>
            </a:p>
          </p:txBody>
        </p:sp>
      </p:grpSp>
      <p:sp>
        <p:nvSpPr>
          <p:cNvPr id="153" name="Rectángulo 152">
            <a:extLst>
              <a:ext uri="{FF2B5EF4-FFF2-40B4-BE49-F238E27FC236}">
                <a16:creationId xmlns:a16="http://schemas.microsoft.com/office/drawing/2014/main" id="{E3E4EA77-EF91-9BFB-AD36-AAE63A7FEFC2}"/>
              </a:ext>
            </a:extLst>
          </p:cNvPr>
          <p:cNvSpPr/>
          <p:nvPr/>
        </p:nvSpPr>
        <p:spPr>
          <a:xfrm>
            <a:off x="3368758" y="3517946"/>
            <a:ext cx="1698902" cy="917372"/>
          </a:xfrm>
          <a:prstGeom prst="rect">
            <a:avLst/>
          </a:prstGeom>
          <a:noFill/>
          <a:ln>
            <a:solidFill>
              <a:srgbClr val="145A5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55" name="Rectángulo 154">
            <a:extLst>
              <a:ext uri="{FF2B5EF4-FFF2-40B4-BE49-F238E27FC236}">
                <a16:creationId xmlns:a16="http://schemas.microsoft.com/office/drawing/2014/main" id="{2F6E4CB0-A083-763D-174E-E4545D3248E1}"/>
              </a:ext>
            </a:extLst>
          </p:cNvPr>
          <p:cNvSpPr/>
          <p:nvPr/>
        </p:nvSpPr>
        <p:spPr>
          <a:xfrm>
            <a:off x="4225109" y="4526842"/>
            <a:ext cx="1698902" cy="1297828"/>
          </a:xfrm>
          <a:prstGeom prst="rect">
            <a:avLst/>
          </a:prstGeom>
          <a:noFill/>
          <a:ln>
            <a:solidFill>
              <a:srgbClr val="145A5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58" name="Rectángulo 157">
            <a:extLst>
              <a:ext uri="{FF2B5EF4-FFF2-40B4-BE49-F238E27FC236}">
                <a16:creationId xmlns:a16="http://schemas.microsoft.com/office/drawing/2014/main" id="{FE1BC3F9-40EC-FA18-D686-A3CBCBD2D2D8}"/>
              </a:ext>
            </a:extLst>
          </p:cNvPr>
          <p:cNvSpPr/>
          <p:nvPr/>
        </p:nvSpPr>
        <p:spPr>
          <a:xfrm>
            <a:off x="3883561" y="2987327"/>
            <a:ext cx="1944000"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160" name="CuadroTexto 159">
            <a:extLst>
              <a:ext uri="{FF2B5EF4-FFF2-40B4-BE49-F238E27FC236}">
                <a16:creationId xmlns:a16="http://schemas.microsoft.com/office/drawing/2014/main" id="{7B2B85A5-B370-D4A1-CD32-29C3D56E611E}"/>
              </a:ext>
            </a:extLst>
          </p:cNvPr>
          <p:cNvSpPr txBox="1"/>
          <p:nvPr/>
        </p:nvSpPr>
        <p:spPr>
          <a:xfrm>
            <a:off x="6292831" y="2526248"/>
            <a:ext cx="2700000" cy="738664"/>
          </a:xfrm>
          <a:prstGeom prst="rect">
            <a:avLst/>
          </a:prstGeom>
          <a:noFill/>
        </p:spPr>
        <p:txBody>
          <a:bodyPr wrap="square">
            <a:spAutoFit/>
          </a:bodyPr>
          <a:lstStyle/>
          <a:p>
            <a:pPr algn="ctr"/>
            <a:r>
              <a:rPr lang="en-US" sz="1400" b="1" dirty="0"/>
              <a:t>No need for a new detector</a:t>
            </a:r>
            <a:r>
              <a:rPr lang="en-US" sz="1400" dirty="0"/>
              <a:t>: the bank’s fraud score is already at its ceiling; the job is </a:t>
            </a:r>
            <a:r>
              <a:rPr lang="en-US" sz="1400" b="1" dirty="0"/>
              <a:t>to decide well</a:t>
            </a:r>
          </a:p>
        </p:txBody>
      </p:sp>
      <p:sp>
        <p:nvSpPr>
          <p:cNvPr id="162" name="Rectángulo 161">
            <a:extLst>
              <a:ext uri="{FF2B5EF4-FFF2-40B4-BE49-F238E27FC236}">
                <a16:creationId xmlns:a16="http://schemas.microsoft.com/office/drawing/2014/main" id="{F31B9163-DBC6-AEB1-DC5D-D0F9725E3D5D}"/>
              </a:ext>
            </a:extLst>
          </p:cNvPr>
          <p:cNvSpPr/>
          <p:nvPr/>
        </p:nvSpPr>
        <p:spPr>
          <a:xfrm>
            <a:off x="7717535" y="2992163"/>
            <a:ext cx="1136887"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
        <p:nvSpPr>
          <p:cNvPr id="166" name="CuadroTexto 165">
            <a:extLst>
              <a:ext uri="{FF2B5EF4-FFF2-40B4-BE49-F238E27FC236}">
                <a16:creationId xmlns:a16="http://schemas.microsoft.com/office/drawing/2014/main" id="{3EE41A40-9642-5218-F87B-9B32355BCAE4}"/>
              </a:ext>
            </a:extLst>
          </p:cNvPr>
          <p:cNvSpPr txBox="1"/>
          <p:nvPr/>
        </p:nvSpPr>
        <p:spPr>
          <a:xfrm>
            <a:off x="6773642" y="5208567"/>
            <a:ext cx="1714978" cy="161583"/>
          </a:xfrm>
          <a:prstGeom prst="rect">
            <a:avLst/>
          </a:prstGeom>
          <a:noFill/>
        </p:spPr>
        <p:txBody>
          <a:bodyPr wrap="square" lIns="0" tIns="0" rIns="0" bIns="0">
            <a:spAutoFit/>
          </a:bodyPr>
          <a:lstStyle/>
          <a:p>
            <a:pPr algn="ctr"/>
            <a:r>
              <a:rPr lang="en-US" sz="1050" dirty="0">
                <a:solidFill>
                  <a:schemeClr val="bg1">
                    <a:lumMod val="50000"/>
                  </a:schemeClr>
                </a:solidFill>
              </a:rPr>
              <a:t>Source: </a:t>
            </a:r>
            <a:r>
              <a:rPr lang="es-PE" sz="1050" dirty="0">
                <a:solidFill>
                  <a:schemeClr val="bg1">
                    <a:lumMod val="50000"/>
                  </a:schemeClr>
                </a:solidFill>
              </a:rPr>
              <a:t>transactions</a:t>
            </a:r>
          </a:p>
        </p:txBody>
      </p:sp>
      <p:sp>
        <p:nvSpPr>
          <p:cNvPr id="167" name="Rectángulo 166">
            <a:extLst>
              <a:ext uri="{FF2B5EF4-FFF2-40B4-BE49-F238E27FC236}">
                <a16:creationId xmlns:a16="http://schemas.microsoft.com/office/drawing/2014/main" id="{EF3A3F30-A93E-D49F-CBEA-AE830B114BAE}"/>
              </a:ext>
            </a:extLst>
          </p:cNvPr>
          <p:cNvSpPr/>
          <p:nvPr/>
        </p:nvSpPr>
        <p:spPr>
          <a:xfrm>
            <a:off x="6427254" y="3555277"/>
            <a:ext cx="2442426" cy="434667"/>
          </a:xfrm>
          <a:prstGeom prst="rect">
            <a:avLst/>
          </a:prstGeom>
          <a:solidFill>
            <a:srgbClr val="FFFF99"/>
          </a:solidFill>
          <a:ln>
            <a:no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69" name="Rectángulo 168">
            <a:extLst>
              <a:ext uri="{FF2B5EF4-FFF2-40B4-BE49-F238E27FC236}">
                <a16:creationId xmlns:a16="http://schemas.microsoft.com/office/drawing/2014/main" id="{E05B191A-9E6A-E2EB-647D-99A9DCA3B0C5}"/>
              </a:ext>
            </a:extLst>
          </p:cNvPr>
          <p:cNvSpPr/>
          <p:nvPr/>
        </p:nvSpPr>
        <p:spPr>
          <a:xfrm>
            <a:off x="6421618" y="4120025"/>
            <a:ext cx="2442426" cy="434667"/>
          </a:xfrm>
          <a:prstGeom prst="rect">
            <a:avLst/>
          </a:prstGeom>
          <a:solidFill>
            <a:srgbClr val="FFFF99"/>
          </a:solidFill>
          <a:ln>
            <a:no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71" name="Rectángulo 170">
            <a:extLst>
              <a:ext uri="{FF2B5EF4-FFF2-40B4-BE49-F238E27FC236}">
                <a16:creationId xmlns:a16="http://schemas.microsoft.com/office/drawing/2014/main" id="{F30F79B3-A0E2-C887-522B-C96933C14F3D}"/>
              </a:ext>
            </a:extLst>
          </p:cNvPr>
          <p:cNvSpPr/>
          <p:nvPr/>
        </p:nvSpPr>
        <p:spPr>
          <a:xfrm>
            <a:off x="6409918" y="4684774"/>
            <a:ext cx="2442426" cy="434667"/>
          </a:xfrm>
          <a:prstGeom prst="rect">
            <a:avLst/>
          </a:prstGeom>
          <a:solidFill>
            <a:srgbClr val="FFFF99"/>
          </a:solidFill>
          <a:ln>
            <a:no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173" name="CuadroTexto 172">
            <a:extLst>
              <a:ext uri="{FF2B5EF4-FFF2-40B4-BE49-F238E27FC236}">
                <a16:creationId xmlns:a16="http://schemas.microsoft.com/office/drawing/2014/main" id="{C52001AB-97ED-1EF5-175A-164E35C6A9A1}"/>
              </a:ext>
            </a:extLst>
          </p:cNvPr>
          <p:cNvSpPr txBox="1"/>
          <p:nvPr/>
        </p:nvSpPr>
        <p:spPr>
          <a:xfrm>
            <a:off x="6421618" y="3565456"/>
            <a:ext cx="2442426" cy="430887"/>
          </a:xfrm>
          <a:prstGeom prst="rect">
            <a:avLst/>
          </a:prstGeom>
          <a:noFill/>
        </p:spPr>
        <p:txBody>
          <a:bodyPr wrap="square">
            <a:spAutoFit/>
          </a:bodyPr>
          <a:lstStyle/>
          <a:p>
            <a:pPr lvl="0" algn="l"/>
            <a:r>
              <a:rPr lang="es-PE" sz="1100" b="1" dirty="0">
                <a:solidFill>
                  <a:srgbClr val="1D2433"/>
                </a:solidFill>
              </a:rPr>
              <a:t>Fraud (is_fraud)</a:t>
            </a:r>
            <a:r>
              <a:rPr lang="es-PE" sz="1100" dirty="0">
                <a:solidFill>
                  <a:srgbClr val="1D2433"/>
                </a:solidFill>
              </a:rPr>
              <a:t>:</a:t>
            </a:r>
          </a:p>
          <a:p>
            <a:pPr lvl="0" algn="l"/>
            <a:r>
              <a:rPr lang="es-PE" sz="1100" dirty="0">
                <a:solidFill>
                  <a:srgbClr val="1D2433"/>
                </a:solidFill>
              </a:rPr>
              <a:t>0.10% of transactions, stable every year</a:t>
            </a:r>
          </a:p>
        </p:txBody>
      </p:sp>
      <p:sp>
        <p:nvSpPr>
          <p:cNvPr id="175" name="CuadroTexto 174">
            <a:extLst>
              <a:ext uri="{FF2B5EF4-FFF2-40B4-BE49-F238E27FC236}">
                <a16:creationId xmlns:a16="http://schemas.microsoft.com/office/drawing/2014/main" id="{6F49B341-0DA6-E7BA-234F-27D54C4D516F}"/>
              </a:ext>
            </a:extLst>
          </p:cNvPr>
          <p:cNvSpPr txBox="1"/>
          <p:nvPr/>
        </p:nvSpPr>
        <p:spPr>
          <a:xfrm>
            <a:off x="6427254" y="4114032"/>
            <a:ext cx="2442426" cy="430887"/>
          </a:xfrm>
          <a:prstGeom prst="rect">
            <a:avLst/>
          </a:prstGeom>
          <a:noFill/>
        </p:spPr>
        <p:txBody>
          <a:bodyPr wrap="square">
            <a:spAutoFit/>
          </a:bodyPr>
          <a:lstStyle/>
          <a:p>
            <a:pPr lvl="0"/>
            <a:r>
              <a:rPr lang="es-PE" sz="1100" dirty="0">
                <a:solidFill>
                  <a:srgbClr val="1D2433"/>
                </a:solidFill>
              </a:rPr>
              <a:t>20% of charges have no </a:t>
            </a:r>
            <a:r>
              <a:rPr lang="es-PE" sz="1100" b="1" dirty="0">
                <a:solidFill>
                  <a:srgbClr val="1D2433"/>
                </a:solidFill>
              </a:rPr>
              <a:t>fraud score</a:t>
            </a:r>
            <a:r>
              <a:rPr lang="es-PE" sz="1100" dirty="0">
                <a:solidFill>
                  <a:srgbClr val="1D2433"/>
                </a:solidFill>
              </a:rPr>
              <a:t>, covered by the reactive path</a:t>
            </a:r>
          </a:p>
        </p:txBody>
      </p:sp>
      <p:sp>
        <p:nvSpPr>
          <p:cNvPr id="177" name="CuadroTexto 176">
            <a:extLst>
              <a:ext uri="{FF2B5EF4-FFF2-40B4-BE49-F238E27FC236}">
                <a16:creationId xmlns:a16="http://schemas.microsoft.com/office/drawing/2014/main" id="{818CD893-C5E9-3C03-CC57-8EDB1C93D55F}"/>
              </a:ext>
            </a:extLst>
          </p:cNvPr>
          <p:cNvSpPr txBox="1"/>
          <p:nvPr/>
        </p:nvSpPr>
        <p:spPr>
          <a:xfrm>
            <a:off x="6394222" y="4693266"/>
            <a:ext cx="2442426" cy="400110"/>
          </a:xfrm>
          <a:prstGeom prst="rect">
            <a:avLst/>
          </a:prstGeom>
          <a:noFill/>
        </p:spPr>
        <p:txBody>
          <a:bodyPr wrap="square">
            <a:spAutoFit/>
          </a:bodyPr>
          <a:lstStyle/>
          <a:p>
            <a:pPr>
              <a:defRPr sz="919" b="0">
                <a:solidFill>
                  <a:srgbClr val="1C2A30"/>
                </a:solidFill>
                <a:latin typeface="Aptos"/>
              </a:defRPr>
            </a:pPr>
            <a:r>
              <a:rPr lang="en-US" sz="1100" dirty="0">
                <a:solidFill>
                  <a:srgbClr val="1C2A30"/>
                </a:solidFill>
              </a:rPr>
              <a:t>Behavior features </a:t>
            </a:r>
            <a:r>
              <a:rPr lang="en-US" sz="1100" b="1" dirty="0">
                <a:solidFill>
                  <a:srgbClr val="1C2A30"/>
                </a:solidFill>
              </a:rPr>
              <a:t>ranks at chance</a:t>
            </a:r>
            <a:r>
              <a:rPr lang="en-US" sz="1100" dirty="0">
                <a:solidFill>
                  <a:srgbClr val="1C2A30"/>
                </a:solidFill>
              </a:rPr>
              <a:t>. </a:t>
            </a:r>
            <a:r>
              <a:rPr lang="en-US" sz="900" dirty="0">
                <a:solidFill>
                  <a:srgbClr val="1C2A30"/>
                </a:solidFill>
              </a:rPr>
              <a:t>LightGBM PR-AUC 0.00096 vs base 0.00094.</a:t>
            </a:r>
            <a:endParaRPr lang="en-US" sz="1100" dirty="0">
              <a:solidFill>
                <a:srgbClr val="1C2A30"/>
              </a:solidFill>
            </a:endParaRPr>
          </a:p>
        </p:txBody>
      </p:sp>
      <p:sp>
        <p:nvSpPr>
          <p:cNvPr id="179" name="CuadroTexto 178">
            <a:extLst>
              <a:ext uri="{FF2B5EF4-FFF2-40B4-BE49-F238E27FC236}">
                <a16:creationId xmlns:a16="http://schemas.microsoft.com/office/drawing/2014/main" id="{94014A43-330B-35EE-E6BC-2B38AFD97A89}"/>
              </a:ext>
            </a:extLst>
          </p:cNvPr>
          <p:cNvSpPr txBox="1"/>
          <p:nvPr/>
        </p:nvSpPr>
        <p:spPr>
          <a:xfrm>
            <a:off x="9297232" y="2514831"/>
            <a:ext cx="2700000" cy="738664"/>
          </a:xfrm>
          <a:prstGeom prst="rect">
            <a:avLst/>
          </a:prstGeom>
          <a:noFill/>
        </p:spPr>
        <p:txBody>
          <a:bodyPr wrap="square">
            <a:spAutoFit/>
          </a:bodyPr>
          <a:lstStyle/>
          <a:p>
            <a:pPr algn="ctr"/>
            <a:r>
              <a:rPr lang="en-US" sz="1400" dirty="0"/>
              <a:t>Asking first catches 63% of frauds before the customer complains: </a:t>
            </a:r>
            <a:r>
              <a:rPr lang="en-US" sz="1400" b="1" dirty="0"/>
              <a:t>~590k net benefit in 6 months</a:t>
            </a:r>
          </a:p>
        </p:txBody>
      </p:sp>
      <p:sp>
        <p:nvSpPr>
          <p:cNvPr id="181" name="CuadroTexto 180">
            <a:extLst>
              <a:ext uri="{FF2B5EF4-FFF2-40B4-BE49-F238E27FC236}">
                <a16:creationId xmlns:a16="http://schemas.microsoft.com/office/drawing/2014/main" id="{3537E6C2-4C89-E3C5-7C17-E4FA7CF1C3C3}"/>
              </a:ext>
            </a:extLst>
          </p:cNvPr>
          <p:cNvSpPr txBox="1"/>
          <p:nvPr/>
        </p:nvSpPr>
        <p:spPr>
          <a:xfrm>
            <a:off x="9402406" y="3524701"/>
            <a:ext cx="2480603" cy="846386"/>
          </a:xfrm>
          <a:prstGeom prst="rect">
            <a:avLst/>
          </a:prstGeom>
          <a:noFill/>
        </p:spPr>
        <p:txBody>
          <a:bodyPr wrap="square" lIns="0" tIns="0" rIns="0" bIns="0" anchor="ctr" anchorCtr="0">
            <a:spAutoFit/>
          </a:bodyPr>
          <a:lstStyle/>
          <a:p>
            <a:pPr marL="171450" lvl="0" indent="-171450">
              <a:buFont typeface="Wingdings" panose="05000000000000000000" pitchFamily="2" charset="2"/>
              <a:buChar char="v"/>
            </a:pPr>
            <a:r>
              <a:rPr lang="es-PE" sz="1100" dirty="0"/>
              <a:t>"It's mine" closes the alert. Not mine" opens a dispute and blocks the account</a:t>
            </a:r>
          </a:p>
          <a:p>
            <a:pPr marL="171450" lvl="0" indent="-171450">
              <a:buFont typeface="Wingdings" panose="05000000000000000000" pitchFamily="2" charset="2"/>
              <a:buChar char="v"/>
            </a:pPr>
            <a:r>
              <a:rPr lang="es-PE" sz="1100" b="1" dirty="0"/>
              <a:t>$0.33</a:t>
            </a:r>
            <a:r>
              <a:rPr lang="es-PE" sz="1100" dirty="0"/>
              <a:t> per safe automated resolution vs </a:t>
            </a:r>
            <a:r>
              <a:rPr lang="es-PE" sz="1100" b="1" dirty="0"/>
              <a:t>$1.55 </a:t>
            </a:r>
            <a:r>
              <a:rPr lang="es-PE" sz="1100" dirty="0"/>
              <a:t>per human contact</a:t>
            </a:r>
          </a:p>
          <a:p>
            <a:pPr marL="171450" lvl="0" indent="-171450">
              <a:buFont typeface="Wingdings" panose="05000000000000000000" pitchFamily="2" charset="2"/>
              <a:buChar char="v"/>
            </a:pPr>
            <a:r>
              <a:rPr lang="es-PE" sz="1100" dirty="0"/>
              <a:t>~ $590k net benefit on test Jan-Jun 2026</a:t>
            </a:r>
          </a:p>
        </p:txBody>
      </p:sp>
      <p:sp>
        <p:nvSpPr>
          <p:cNvPr id="183" name="CuadroTexto 182">
            <a:extLst>
              <a:ext uri="{FF2B5EF4-FFF2-40B4-BE49-F238E27FC236}">
                <a16:creationId xmlns:a16="http://schemas.microsoft.com/office/drawing/2014/main" id="{490FFD81-6E2E-1B62-1608-7547D52C7A58}"/>
              </a:ext>
            </a:extLst>
          </p:cNvPr>
          <p:cNvSpPr txBox="1"/>
          <p:nvPr/>
        </p:nvSpPr>
        <p:spPr>
          <a:xfrm>
            <a:off x="9369703" y="4610411"/>
            <a:ext cx="2522857" cy="1200329"/>
          </a:xfrm>
          <a:prstGeom prst="rect">
            <a:avLst/>
          </a:prstGeom>
          <a:noFill/>
        </p:spPr>
        <p:txBody>
          <a:bodyPr wrap="square">
            <a:spAutoFit/>
          </a:bodyPr>
          <a:lstStyle/>
          <a:p>
            <a:pPr lvl="0"/>
            <a:r>
              <a:rPr lang="es-PE" sz="900" dirty="0"/>
              <a:t>*$0.33 cost split:</a:t>
            </a:r>
          </a:p>
          <a:p>
            <a:pPr lvl="0"/>
            <a:r>
              <a:rPr lang="es-PE" sz="900" dirty="0"/>
              <a:t>52 random test cases, 27 safe resolutions, 7 from them were transferred to humans</a:t>
            </a:r>
          </a:p>
          <a:p>
            <a:pPr lvl="0"/>
            <a:r>
              <a:rPr lang="es-PE" sz="900" dirty="0"/>
              <a:t>- 87% handoffs </a:t>
            </a:r>
            <a:r>
              <a:rPr lang="es-PE" sz="900" b="1" dirty="0"/>
              <a:t>$0.288 </a:t>
            </a:r>
            <a:r>
              <a:rPr lang="es-PE" sz="900" dirty="0"/>
              <a:t>(~3.68 minutes –measured from outbound– x USD 0.30 = $1.1 * 7 / 27)</a:t>
            </a:r>
          </a:p>
          <a:p>
            <a:pPr lvl="0"/>
            <a:r>
              <a:rPr lang="es-PE" sz="900" dirty="0"/>
              <a:t>- 13% alerts </a:t>
            </a:r>
            <a:r>
              <a:rPr lang="es-PE" sz="900" b="1" dirty="0"/>
              <a:t>$0.044 </a:t>
            </a:r>
            <a:r>
              <a:rPr lang="es-PE" sz="900" dirty="0"/>
              <a:t>(cost measured  from campaign sends $0.044)</a:t>
            </a:r>
          </a:p>
          <a:p>
            <a:pPr lvl="0"/>
            <a:r>
              <a:rPr lang="es-PE" sz="900" dirty="0"/>
              <a:t>- 0.2% Gemini LLM </a:t>
            </a:r>
            <a:r>
              <a:rPr lang="es-PE" sz="900" b="1" dirty="0"/>
              <a:t>$0.0006 </a:t>
            </a:r>
            <a:r>
              <a:rPr lang="es-PE" sz="900" dirty="0"/>
              <a:t>(tokens x price).</a:t>
            </a:r>
          </a:p>
        </p:txBody>
      </p:sp>
      <p:sp>
        <p:nvSpPr>
          <p:cNvPr id="185" name="Rectángulo 184">
            <a:extLst>
              <a:ext uri="{FF2B5EF4-FFF2-40B4-BE49-F238E27FC236}">
                <a16:creationId xmlns:a16="http://schemas.microsoft.com/office/drawing/2014/main" id="{64082142-9543-B271-E44D-9457DA022392}"/>
              </a:ext>
            </a:extLst>
          </p:cNvPr>
          <p:cNvSpPr/>
          <p:nvPr/>
        </p:nvSpPr>
        <p:spPr>
          <a:xfrm>
            <a:off x="9490555" y="2987327"/>
            <a:ext cx="2284885"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dirty="0"/>
          </a:p>
        </p:txBody>
      </p:sp>
    </p:spTree>
    <p:extLst>
      <p:ext uri="{BB962C8B-B14F-4D97-AF65-F5344CB8AC3E}">
        <p14:creationId xmlns:p14="http://schemas.microsoft.com/office/powerpoint/2010/main" val="2090432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CDCC9B0-A0AB-15C0-722C-E2AA3CE51C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4" name="Rectangle 6">
            <a:extLst>
              <a:ext uri="{FF2B5EF4-FFF2-40B4-BE49-F238E27FC236}">
                <a16:creationId xmlns:a16="http://schemas.microsoft.com/office/drawing/2014/main" id="{23EB1292-6592-AD86-539F-5D69C9DE8D96}"/>
              </a:ext>
            </a:extLst>
          </p:cNvPr>
          <p:cNvSpPr/>
          <p:nvPr/>
        </p:nvSpPr>
        <p:spPr>
          <a:xfrm>
            <a:off x="383244" y="474162"/>
            <a:ext cx="9719704" cy="612000"/>
          </a:xfrm>
          <a:prstGeom prst="roundRect">
            <a:avLst>
              <a:gd name="adj" fmla="val 7584"/>
            </a:avLst>
          </a:prstGeom>
          <a:solidFill>
            <a:srgbClr val="FFFFFF">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endParaRPr lang="es-PE" sz="1600" dirty="0">
              <a:solidFill>
                <a:schemeClr val="tx1"/>
              </a:solidFill>
            </a:endParaRPr>
          </a:p>
        </p:txBody>
      </p:sp>
      <p:sp>
        <p:nvSpPr>
          <p:cNvPr id="6" name="TextBox 2">
            <a:extLst>
              <a:ext uri="{FF2B5EF4-FFF2-40B4-BE49-F238E27FC236}">
                <a16:creationId xmlns:a16="http://schemas.microsoft.com/office/drawing/2014/main" id="{3F3BB3DB-8970-FD07-190A-ECF4F9E4819F}"/>
              </a:ext>
            </a:extLst>
          </p:cNvPr>
          <p:cNvSpPr txBox="1"/>
          <p:nvPr/>
        </p:nvSpPr>
        <p:spPr>
          <a:xfrm>
            <a:off x="608867" y="479512"/>
            <a:ext cx="9369084" cy="584775"/>
          </a:xfrm>
          <a:prstGeom prst="rect">
            <a:avLst/>
          </a:prstGeom>
          <a:noFill/>
        </p:spPr>
        <p:txBody>
          <a:bodyPr wrap="square">
            <a:spAutoFit/>
          </a:bodyPr>
          <a:lstStyle/>
          <a:p>
            <a:r>
              <a:rPr lang="es-MX" sz="3200" b="1" dirty="0">
                <a:latin typeface="Calibri"/>
              </a:rPr>
              <a:t>Bianque is a </a:t>
            </a:r>
            <a:r>
              <a:rPr lang="es-PE" sz="3200" b="1" dirty="0" err="1">
                <a:solidFill>
                  <a:srgbClr val="145A50"/>
                </a:solidFill>
              </a:rPr>
              <a:t>functioning</a:t>
            </a:r>
            <a:r>
              <a:rPr lang="es-PE" sz="3200" b="1" dirty="0">
                <a:solidFill>
                  <a:srgbClr val="145A50"/>
                </a:solidFill>
              </a:rPr>
              <a:t> </a:t>
            </a:r>
            <a:r>
              <a:rPr lang="es-PE" sz="3200" b="1" dirty="0"/>
              <a:t>and</a:t>
            </a:r>
            <a:r>
              <a:rPr lang="es-PE" sz="3200" b="1" dirty="0">
                <a:solidFill>
                  <a:srgbClr val="145A50"/>
                </a:solidFill>
              </a:rPr>
              <a:t> </a:t>
            </a:r>
            <a:r>
              <a:rPr lang="es-PE" sz="3200" b="1" dirty="0" err="1">
                <a:solidFill>
                  <a:srgbClr val="145A50"/>
                </a:solidFill>
              </a:rPr>
              <a:t>controlled</a:t>
            </a:r>
            <a:r>
              <a:rPr lang="es-PE" sz="3200" b="1" dirty="0">
                <a:solidFill>
                  <a:srgbClr val="145A50"/>
                </a:solidFill>
              </a:rPr>
              <a:t> AI </a:t>
            </a:r>
            <a:r>
              <a:rPr lang="es-PE" sz="3200" b="1" dirty="0" err="1">
                <a:solidFill>
                  <a:srgbClr val="145A50"/>
                </a:solidFill>
              </a:rPr>
              <a:t>system</a:t>
            </a:r>
            <a:endParaRPr lang="es-MX" sz="3200" b="1" dirty="0">
              <a:solidFill>
                <a:srgbClr val="145A50"/>
              </a:solidFill>
              <a:latin typeface="Calibri"/>
            </a:endParaRPr>
          </a:p>
        </p:txBody>
      </p:sp>
      <p:sp>
        <p:nvSpPr>
          <p:cNvPr id="8" name="Rounded Rectangle 5">
            <a:extLst>
              <a:ext uri="{FF2B5EF4-FFF2-40B4-BE49-F238E27FC236}">
                <a16:creationId xmlns:a16="http://schemas.microsoft.com/office/drawing/2014/main" id="{657DCEEB-13B8-C9D2-947A-AE6176A11E9A}"/>
              </a:ext>
            </a:extLst>
          </p:cNvPr>
          <p:cNvSpPr/>
          <p:nvPr/>
        </p:nvSpPr>
        <p:spPr>
          <a:xfrm>
            <a:off x="383244" y="1331719"/>
            <a:ext cx="2103120" cy="2105660"/>
          </a:xfrm>
          <a:prstGeom prst="roundRect">
            <a:avLst>
              <a:gd name="adj" fmla="val 7861"/>
            </a:avLst>
          </a:prstGeom>
          <a:solidFill>
            <a:srgbClr val="0F6E5C">
              <a:alpha val="90000"/>
            </a:srgbClr>
          </a:solidFill>
          <a:ln>
            <a:solidFill>
              <a:srgbClr val="0F6E5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s-MX" b="1" dirty="0">
                <a:solidFill>
                  <a:srgbClr val="FFFF00"/>
                </a:solidFill>
                <a:latin typeface="+mj-lt"/>
              </a:rPr>
              <a:t>1 </a:t>
            </a:r>
            <a:r>
              <a:rPr b="1" dirty="0">
                <a:solidFill>
                  <a:srgbClr val="FFFF00"/>
                </a:solidFill>
                <a:latin typeface="+mj-lt"/>
              </a:rPr>
              <a:t>Understand</a:t>
            </a:r>
          </a:p>
          <a:p>
            <a:pPr algn="ctr"/>
            <a:r>
              <a:rPr sz="1100" b="0" dirty="0">
                <a:solidFill>
                  <a:srgbClr val="FFFFFF"/>
                </a:solidFill>
                <a:latin typeface="+mj-lt"/>
              </a:rPr>
              <a:t>Gemini </a:t>
            </a:r>
            <a:r>
              <a:rPr lang="es-MX" sz="1100" b="0" dirty="0">
                <a:solidFill>
                  <a:srgbClr val="FFFFFF"/>
                </a:solidFill>
                <a:latin typeface="+mj-lt"/>
              </a:rPr>
              <a:t>&gt;</a:t>
            </a:r>
            <a:r>
              <a:rPr sz="1100" b="0" dirty="0">
                <a:solidFill>
                  <a:srgbClr val="FFFFFF"/>
                </a:solidFill>
                <a:latin typeface="+mj-lt"/>
              </a:rPr>
              <a:t> validated JSON</a:t>
            </a:r>
            <a:endParaRPr lang="es-MX" sz="1100" b="0" dirty="0">
              <a:solidFill>
                <a:srgbClr val="FFFFFF"/>
              </a:solidFill>
              <a:latin typeface="+mj-lt"/>
            </a:endParaRPr>
          </a:p>
          <a:p>
            <a:pPr algn="ctr"/>
            <a:endParaRPr lang="es-MX" sz="1100" dirty="0">
              <a:solidFill>
                <a:srgbClr val="FFFFFF"/>
              </a:solidFill>
              <a:latin typeface="+mj-lt"/>
            </a:endParaRPr>
          </a:p>
          <a:p>
            <a:pPr marL="92075" indent="-92075">
              <a:buFont typeface="Arial" panose="020B0604020202020204" pitchFamily="34" charset="0"/>
              <a:buChar char="•"/>
            </a:pPr>
            <a:r>
              <a:rPr lang="en-US" sz="1100" b="0" dirty="0">
                <a:solidFill>
                  <a:srgbClr val="FFFFFF"/>
                </a:solidFill>
                <a:latin typeface="+mj-lt"/>
              </a:rPr>
              <a:t>LangGraph as state machine w/ deterministic nodes.</a:t>
            </a:r>
          </a:p>
          <a:p>
            <a:pPr marL="92075" indent="-92075">
              <a:buFont typeface="Arial" panose="020B0604020202020204" pitchFamily="34" charset="0"/>
              <a:buChar char="•"/>
            </a:pPr>
            <a:r>
              <a:rPr lang="en-US" sz="1100" b="0" dirty="0">
                <a:solidFill>
                  <a:srgbClr val="FFFFFF"/>
                </a:solidFill>
                <a:latin typeface="+mj-lt"/>
              </a:rPr>
              <a:t>Gemini only extracts intent, yes/no, language, amount, date, merchant.</a:t>
            </a:r>
          </a:p>
        </p:txBody>
      </p:sp>
      <p:sp>
        <p:nvSpPr>
          <p:cNvPr id="12" name="Rounded Rectangle 7">
            <a:extLst>
              <a:ext uri="{FF2B5EF4-FFF2-40B4-BE49-F238E27FC236}">
                <a16:creationId xmlns:a16="http://schemas.microsoft.com/office/drawing/2014/main" id="{E6AC2EAC-BB0B-7022-B408-346663E8228B}"/>
              </a:ext>
            </a:extLst>
          </p:cNvPr>
          <p:cNvSpPr/>
          <p:nvPr/>
        </p:nvSpPr>
        <p:spPr>
          <a:xfrm>
            <a:off x="4955244" y="1331719"/>
            <a:ext cx="2103120" cy="2105660"/>
          </a:xfrm>
          <a:prstGeom prst="roundRect">
            <a:avLst>
              <a:gd name="adj" fmla="val 7311"/>
            </a:avLst>
          </a:prstGeom>
          <a:solidFill>
            <a:srgbClr val="0F6E5C">
              <a:alpha val="90000"/>
            </a:srgbClr>
          </a:solidFill>
          <a:ln>
            <a:solidFill>
              <a:srgbClr val="0F6E5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s-MX" b="1" dirty="0">
                <a:solidFill>
                  <a:srgbClr val="FFFF00"/>
                </a:solidFill>
                <a:latin typeface="Calibri"/>
              </a:rPr>
              <a:t>3 </a:t>
            </a:r>
            <a:r>
              <a:rPr b="1" dirty="0">
                <a:solidFill>
                  <a:srgbClr val="FFFF00"/>
                </a:solidFill>
                <a:latin typeface="Calibri"/>
              </a:rPr>
              <a:t>Act</a:t>
            </a:r>
          </a:p>
          <a:p>
            <a:pPr algn="ctr"/>
            <a:r>
              <a:rPr sz="1100" b="0" dirty="0">
                <a:solidFill>
                  <a:srgbClr val="FFFFFF"/>
                </a:solidFill>
                <a:latin typeface="Calibri"/>
              </a:rPr>
              <a:t>Tools check session, owner, rules</a:t>
            </a:r>
            <a:endParaRPr lang="es-MX" sz="1100" b="0" dirty="0">
              <a:solidFill>
                <a:srgbClr val="FFFFFF"/>
              </a:solidFill>
              <a:latin typeface="Calibri"/>
            </a:endParaRPr>
          </a:p>
          <a:p>
            <a:pPr algn="ctr"/>
            <a:endParaRPr lang="es-MX" sz="1100" dirty="0">
              <a:solidFill>
                <a:srgbClr val="FFFFFF"/>
              </a:solidFill>
              <a:latin typeface="Calibri"/>
            </a:endParaRPr>
          </a:p>
          <a:p>
            <a:pPr marL="92075" indent="-92075">
              <a:buFont typeface="Arial" panose="020B0604020202020204" pitchFamily="34" charset="0"/>
              <a:buChar char="•"/>
            </a:pPr>
            <a:r>
              <a:rPr lang="en-US" sz="1100" b="0" dirty="0">
                <a:solidFill>
                  <a:srgbClr val="FFFFFF"/>
                </a:solidFill>
                <a:latin typeface="Calibri"/>
              </a:rPr>
              <a:t>Signed, expiring session per request.</a:t>
            </a:r>
          </a:p>
          <a:p>
            <a:pPr marL="92075" indent="-92075">
              <a:buFont typeface="Arial" panose="020B0604020202020204" pitchFamily="34" charset="0"/>
              <a:buChar char="•"/>
            </a:pPr>
            <a:r>
              <a:rPr lang="en-US" sz="1100" b="0" dirty="0">
                <a:solidFill>
                  <a:srgbClr val="FFFFFF"/>
                </a:solidFill>
                <a:latin typeface="Calibri"/>
              </a:rPr>
              <a:t>Typed customer number proves nothing.</a:t>
            </a:r>
          </a:p>
          <a:p>
            <a:pPr marL="92075" indent="-92075">
              <a:buFont typeface="Arial" panose="020B0604020202020204" pitchFamily="34" charset="0"/>
              <a:buChar char="•"/>
            </a:pPr>
            <a:r>
              <a:rPr lang="en-US" sz="1100" b="0" dirty="0">
                <a:solidFill>
                  <a:srgbClr val="FFFFFF"/>
                </a:solidFill>
                <a:latin typeface="Calibri"/>
              </a:rPr>
              <a:t>Tool ownership check prevents cross-customer access.</a:t>
            </a:r>
            <a:endParaRPr sz="1100" b="0" dirty="0">
              <a:solidFill>
                <a:srgbClr val="FFFFFF"/>
              </a:solidFill>
              <a:latin typeface="Calibri"/>
            </a:endParaRPr>
          </a:p>
        </p:txBody>
      </p:sp>
      <p:sp>
        <p:nvSpPr>
          <p:cNvPr id="14" name="Rounded Rectangle 8">
            <a:extLst>
              <a:ext uri="{FF2B5EF4-FFF2-40B4-BE49-F238E27FC236}">
                <a16:creationId xmlns:a16="http://schemas.microsoft.com/office/drawing/2014/main" id="{6C243E55-9BFB-152E-8190-11C6AC734BAD}"/>
              </a:ext>
            </a:extLst>
          </p:cNvPr>
          <p:cNvSpPr/>
          <p:nvPr/>
        </p:nvSpPr>
        <p:spPr>
          <a:xfrm>
            <a:off x="7241244" y="1331719"/>
            <a:ext cx="2103120" cy="2105660"/>
          </a:xfrm>
          <a:prstGeom prst="roundRect">
            <a:avLst>
              <a:gd name="adj" fmla="val 6761"/>
            </a:avLst>
          </a:prstGeom>
          <a:solidFill>
            <a:srgbClr val="0F6E5C">
              <a:alpha val="90000"/>
            </a:srgbClr>
          </a:solidFill>
          <a:ln>
            <a:solidFill>
              <a:srgbClr val="0F6E5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s-MX" b="1" dirty="0">
                <a:solidFill>
                  <a:srgbClr val="FFFF00"/>
                </a:solidFill>
                <a:latin typeface="Calibri"/>
              </a:rPr>
              <a:t>4 </a:t>
            </a:r>
            <a:r>
              <a:rPr b="1" dirty="0">
                <a:solidFill>
                  <a:srgbClr val="FFFF00"/>
                </a:solidFill>
                <a:latin typeface="Calibri"/>
              </a:rPr>
              <a:t>Verify</a:t>
            </a:r>
          </a:p>
          <a:p>
            <a:pPr algn="ctr"/>
            <a:r>
              <a:rPr sz="1100" b="0" dirty="0">
                <a:solidFill>
                  <a:srgbClr val="FFFFFF"/>
                </a:solidFill>
                <a:latin typeface="Calibri"/>
              </a:rPr>
              <a:t>Read back every </a:t>
            </a:r>
            <a:r>
              <a:rPr lang="es-PE" sz="1100" b="0" dirty="0">
                <a:solidFill>
                  <a:srgbClr val="FFFFFF"/>
                </a:solidFill>
                <a:latin typeface="Calibri"/>
              </a:rPr>
              <a:t>A</a:t>
            </a:r>
            <a:r>
              <a:rPr sz="1100" b="0" dirty="0" err="1">
                <a:solidFill>
                  <a:srgbClr val="FFFFFF"/>
                </a:solidFill>
                <a:latin typeface="Calibri"/>
              </a:rPr>
              <a:t>ction</a:t>
            </a:r>
            <a:endParaRPr lang="es-MX" sz="1100" b="0" dirty="0">
              <a:solidFill>
                <a:srgbClr val="FFFFFF"/>
              </a:solidFill>
              <a:latin typeface="Calibri"/>
            </a:endParaRPr>
          </a:p>
          <a:p>
            <a:pPr algn="ctr"/>
            <a:endParaRPr lang="es-MX" sz="1100" dirty="0">
              <a:solidFill>
                <a:srgbClr val="FFFFFF"/>
              </a:solidFill>
              <a:latin typeface="Calibri"/>
            </a:endParaRPr>
          </a:p>
          <a:p>
            <a:pPr marL="92075" indent="-92075">
              <a:buFont typeface="Arial" panose="020B0604020202020204" pitchFamily="34" charset="0"/>
              <a:buChar char="•"/>
            </a:pPr>
            <a:r>
              <a:rPr lang="en-US" sz="1100" b="0" dirty="0">
                <a:solidFill>
                  <a:srgbClr val="FFFFFF"/>
                </a:solidFill>
                <a:latin typeface="Calibri"/>
              </a:rPr>
              <a:t>IDs, cards and emails are delimited and treated as data.</a:t>
            </a:r>
          </a:p>
          <a:p>
            <a:pPr marL="92075" indent="-92075">
              <a:buFont typeface="Arial" panose="020B0604020202020204" pitchFamily="34" charset="0"/>
              <a:buChar char="•"/>
            </a:pPr>
            <a:r>
              <a:rPr lang="en-US" sz="1100" b="0" dirty="0">
                <a:solidFill>
                  <a:srgbClr val="FFFFFF"/>
                </a:solidFill>
                <a:latin typeface="Calibri"/>
              </a:rPr>
              <a:t>Fixed output schema cannot trigger an action.</a:t>
            </a:r>
          </a:p>
          <a:p>
            <a:pPr marL="92075" indent="-92075">
              <a:buFont typeface="Arial" panose="020B0604020202020204" pitchFamily="34" charset="0"/>
              <a:buChar char="•"/>
            </a:pPr>
            <a:r>
              <a:rPr lang="en-US" sz="1100" b="0" dirty="0">
                <a:solidFill>
                  <a:srgbClr val="FFFFFF"/>
                </a:solidFill>
                <a:latin typeface="Calibri"/>
              </a:rPr>
              <a:t>7 injection scenarios tested; no action triggered.</a:t>
            </a:r>
            <a:endParaRPr sz="1100" b="0" dirty="0">
              <a:solidFill>
                <a:srgbClr val="FFFFFF"/>
              </a:solidFill>
              <a:latin typeface="Calibri"/>
            </a:endParaRPr>
          </a:p>
        </p:txBody>
      </p:sp>
      <p:sp>
        <p:nvSpPr>
          <p:cNvPr id="16" name="Rounded Rectangle 9">
            <a:extLst>
              <a:ext uri="{FF2B5EF4-FFF2-40B4-BE49-F238E27FC236}">
                <a16:creationId xmlns:a16="http://schemas.microsoft.com/office/drawing/2014/main" id="{B51E1A2B-AC60-281F-C7C5-DCDD83465842}"/>
              </a:ext>
            </a:extLst>
          </p:cNvPr>
          <p:cNvSpPr/>
          <p:nvPr/>
        </p:nvSpPr>
        <p:spPr>
          <a:xfrm>
            <a:off x="9527244" y="1331719"/>
            <a:ext cx="2103120" cy="2105660"/>
          </a:xfrm>
          <a:prstGeom prst="roundRect">
            <a:avLst>
              <a:gd name="adj" fmla="val 6761"/>
            </a:avLst>
          </a:prstGeom>
          <a:solidFill>
            <a:srgbClr val="0F6E5C">
              <a:alpha val="90000"/>
            </a:srgbClr>
          </a:solidFill>
          <a:ln>
            <a:solidFill>
              <a:srgbClr val="0F6E5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s-MX" b="1" dirty="0">
                <a:solidFill>
                  <a:srgbClr val="FFFF00"/>
                </a:solidFill>
                <a:latin typeface="Calibri"/>
              </a:rPr>
              <a:t>5 </a:t>
            </a:r>
            <a:r>
              <a:rPr b="1" dirty="0">
                <a:solidFill>
                  <a:srgbClr val="FFFF00"/>
                </a:solidFill>
                <a:latin typeface="Calibri"/>
              </a:rPr>
              <a:t>Escalate</a:t>
            </a:r>
          </a:p>
          <a:p>
            <a:pPr algn="ctr"/>
            <a:r>
              <a:rPr sz="1100" b="0" dirty="0">
                <a:solidFill>
                  <a:srgbClr val="FFFFFF"/>
                </a:solidFill>
                <a:latin typeface="Calibri"/>
              </a:rPr>
              <a:t>JSON handoff to a human</a:t>
            </a:r>
            <a:endParaRPr lang="es-MX" sz="1100" b="0" dirty="0">
              <a:solidFill>
                <a:srgbClr val="FFFFFF"/>
              </a:solidFill>
              <a:latin typeface="Calibri"/>
            </a:endParaRPr>
          </a:p>
          <a:p>
            <a:pPr algn="ctr"/>
            <a:endParaRPr lang="es-MX" sz="1100" dirty="0">
              <a:solidFill>
                <a:srgbClr val="FFFFFF"/>
              </a:solidFill>
              <a:latin typeface="Calibri"/>
            </a:endParaRPr>
          </a:p>
          <a:p>
            <a:pPr marL="92075" indent="-92075">
              <a:buFont typeface="Arial" panose="020B0604020202020204" pitchFamily="34" charset="0"/>
              <a:buChar char="•"/>
            </a:pPr>
            <a:r>
              <a:rPr lang="en-US" sz="1100" b="0" dirty="0">
                <a:solidFill>
                  <a:srgbClr val="FFFFFF"/>
                </a:solidFill>
                <a:latin typeface="Calibri"/>
              </a:rPr>
              <a:t>Verified facts · actions taken · evidence · open questions.</a:t>
            </a:r>
          </a:p>
          <a:p>
            <a:pPr marL="92075" indent="-92075">
              <a:buFont typeface="Arial" panose="020B0604020202020204" pitchFamily="34" charset="0"/>
              <a:buChar char="•"/>
            </a:pPr>
            <a:r>
              <a:rPr lang="en-US" sz="1100" b="0" dirty="0">
                <a:solidFill>
                  <a:srgbClr val="FFFFFF"/>
                </a:solidFill>
                <a:latin typeface="Calibri"/>
              </a:rPr>
              <a:t>Never a transcript.</a:t>
            </a:r>
          </a:p>
          <a:p>
            <a:pPr marL="92075" indent="-92075">
              <a:buFont typeface="Arial" panose="020B0604020202020204" pitchFamily="34" charset="0"/>
              <a:buChar char="•"/>
            </a:pPr>
            <a:r>
              <a:rPr lang="en-US" sz="1100" b="0" dirty="0">
                <a:solidFill>
                  <a:srgbClr val="FFFFFF"/>
                </a:solidFill>
                <a:latin typeface="Calibri"/>
              </a:rPr>
              <a:t>Route by language and specialty.</a:t>
            </a:r>
            <a:endParaRPr sz="1100" b="0" dirty="0">
              <a:solidFill>
                <a:srgbClr val="FFFFFF"/>
              </a:solidFill>
              <a:latin typeface="Calibri"/>
            </a:endParaRPr>
          </a:p>
        </p:txBody>
      </p:sp>
      <p:pic>
        <p:nvPicPr>
          <p:cNvPr id="34" name="Imagen 33">
            <a:extLst>
              <a:ext uri="{FF2B5EF4-FFF2-40B4-BE49-F238E27FC236}">
                <a16:creationId xmlns:a16="http://schemas.microsoft.com/office/drawing/2014/main" id="{85469BEC-2E3E-C783-E9C9-8BDC4246FA2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36786" y="3729891"/>
            <a:ext cx="11739538" cy="2931392"/>
          </a:xfrm>
          <a:prstGeom prst="rect">
            <a:avLst/>
          </a:prstGeom>
        </p:spPr>
      </p:pic>
      <p:sp>
        <p:nvSpPr>
          <p:cNvPr id="10" name="Rounded Rectangle 6">
            <a:extLst>
              <a:ext uri="{FF2B5EF4-FFF2-40B4-BE49-F238E27FC236}">
                <a16:creationId xmlns:a16="http://schemas.microsoft.com/office/drawing/2014/main" id="{11FF6DE6-3935-0290-0D52-20DB1970E13C}"/>
              </a:ext>
            </a:extLst>
          </p:cNvPr>
          <p:cNvSpPr/>
          <p:nvPr/>
        </p:nvSpPr>
        <p:spPr>
          <a:xfrm>
            <a:off x="2669244" y="1331719"/>
            <a:ext cx="2103120" cy="2564623"/>
          </a:xfrm>
          <a:prstGeom prst="roundRect">
            <a:avLst>
              <a:gd name="adj" fmla="val 6761"/>
            </a:avLst>
          </a:prstGeom>
          <a:solidFill>
            <a:srgbClr val="0F6E5C">
              <a:alpha val="90000"/>
            </a:srgbClr>
          </a:solidFill>
          <a:ln>
            <a:solidFill>
              <a:srgbClr val="0F6E5C"/>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s-MX" b="1" dirty="0">
                <a:solidFill>
                  <a:srgbClr val="FFFF00"/>
                </a:solidFill>
                <a:latin typeface="Calibri"/>
              </a:rPr>
              <a:t>2 </a:t>
            </a:r>
            <a:r>
              <a:rPr b="1" dirty="0">
                <a:solidFill>
                  <a:srgbClr val="FFFF00"/>
                </a:solidFill>
                <a:latin typeface="Calibri"/>
              </a:rPr>
              <a:t>Decide</a:t>
            </a:r>
          </a:p>
          <a:p>
            <a:pPr algn="ctr"/>
            <a:r>
              <a:rPr sz="1100" b="0" dirty="0">
                <a:solidFill>
                  <a:srgbClr val="FFFFFF"/>
                </a:solidFill>
                <a:latin typeface="Calibri"/>
              </a:rPr>
              <a:t>Model p_fraud + policy YAML</a:t>
            </a:r>
            <a:endParaRPr lang="es-MX" sz="1100" b="0" dirty="0">
              <a:solidFill>
                <a:srgbClr val="FFFFFF"/>
              </a:solidFill>
              <a:latin typeface="Calibri"/>
            </a:endParaRPr>
          </a:p>
          <a:p>
            <a:pPr algn="ctr"/>
            <a:endParaRPr lang="es-MX" sz="1100" dirty="0">
              <a:solidFill>
                <a:srgbClr val="FFFFFF"/>
              </a:solidFill>
              <a:latin typeface="Calibri"/>
            </a:endParaRPr>
          </a:p>
          <a:p>
            <a:r>
              <a:rPr lang="es-MX" sz="1100" dirty="0">
                <a:solidFill>
                  <a:srgbClr val="FFFFFF"/>
                </a:solidFill>
                <a:latin typeface="Calibri"/>
              </a:rPr>
              <a:t>Policy based (and versioned):</a:t>
            </a:r>
          </a:p>
          <a:p>
            <a:pPr marL="92075" indent="-92075">
              <a:buFont typeface="Arial" panose="020B0604020202020204" pitchFamily="34" charset="0"/>
              <a:buChar char="•"/>
            </a:pPr>
            <a:r>
              <a:rPr lang="en-US" sz="1100" b="0" dirty="0">
                <a:solidFill>
                  <a:srgbClr val="FFFFFF"/>
                </a:solidFill>
                <a:latin typeface="Calibri"/>
              </a:rPr>
              <a:t>Contact if p_fraud × amount &gt; channel cost + friction.</a:t>
            </a:r>
          </a:p>
          <a:p>
            <a:pPr marL="92075" indent="-92075">
              <a:buFont typeface="Arial" panose="020B0604020202020204" pitchFamily="34" charset="0"/>
              <a:buChar char="•"/>
            </a:pPr>
            <a:r>
              <a:rPr lang="en-US" sz="1100" b="0" dirty="0">
                <a:solidFill>
                  <a:srgbClr val="FFFFFF"/>
                </a:solidFill>
                <a:latin typeface="Calibri"/>
              </a:rPr>
              <a:t>Abstain if the credible interval straddles the decision.</a:t>
            </a:r>
          </a:p>
          <a:p>
            <a:pPr marL="92075" indent="-92075">
              <a:buFont typeface="Arial" panose="020B0604020202020204" pitchFamily="34" charset="0"/>
              <a:buChar char="•"/>
            </a:pPr>
            <a:r>
              <a:rPr lang="en-US" sz="1100" b="0" dirty="0">
                <a:solidFill>
                  <a:srgbClr val="FFFFFF"/>
                </a:solidFill>
                <a:latin typeface="Calibri"/>
              </a:rPr>
              <a:t>Human for &gt; USD 5,000 or repeat complainers.</a:t>
            </a:r>
          </a:p>
          <a:p>
            <a:pPr marL="92075" indent="-92075">
              <a:buFont typeface="Arial" panose="020B0604020202020204" pitchFamily="34" charset="0"/>
              <a:buChar char="•"/>
            </a:pPr>
            <a:r>
              <a:rPr lang="en-US" sz="1100" b="0" dirty="0">
                <a:solidFill>
                  <a:srgbClr val="FFFFFF"/>
                </a:solidFill>
                <a:latin typeface="Calibri"/>
              </a:rPr>
              <a:t>Ambiguity &gt;&gt; clarify, 2 unclear turns &gt;&gt; human handoff</a:t>
            </a:r>
          </a:p>
        </p:txBody>
      </p:sp>
      <p:grpSp>
        <p:nvGrpSpPr>
          <p:cNvPr id="37" name="Grupo 36">
            <a:extLst>
              <a:ext uri="{FF2B5EF4-FFF2-40B4-BE49-F238E27FC236}">
                <a16:creationId xmlns:a16="http://schemas.microsoft.com/office/drawing/2014/main" id="{1123BC64-BA05-785A-C7BF-03D8E9B31777}"/>
              </a:ext>
            </a:extLst>
          </p:cNvPr>
          <p:cNvGrpSpPr/>
          <p:nvPr/>
        </p:nvGrpSpPr>
        <p:grpSpPr>
          <a:xfrm>
            <a:off x="9801922" y="5941669"/>
            <a:ext cx="304570" cy="369332"/>
            <a:chOff x="9801922" y="5941669"/>
            <a:chExt cx="304570" cy="369332"/>
          </a:xfrm>
        </p:grpSpPr>
        <p:sp>
          <p:nvSpPr>
            <p:cNvPr id="35" name="Elipse 34">
              <a:extLst>
                <a:ext uri="{FF2B5EF4-FFF2-40B4-BE49-F238E27FC236}">
                  <a16:creationId xmlns:a16="http://schemas.microsoft.com/office/drawing/2014/main" id="{E2F956F3-4184-C742-14D2-9B8E40F36522}"/>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36" name="CuadroTexto 35">
              <a:extLst>
                <a:ext uri="{FF2B5EF4-FFF2-40B4-BE49-F238E27FC236}">
                  <a16:creationId xmlns:a16="http://schemas.microsoft.com/office/drawing/2014/main" id="{78A2962B-DFB6-5055-9F2D-5C62F9922167}"/>
                </a:ext>
              </a:extLst>
            </p:cNvPr>
            <p:cNvSpPr txBox="1"/>
            <p:nvPr/>
          </p:nvSpPr>
          <p:spPr>
            <a:xfrm>
              <a:off x="9804806" y="5941669"/>
              <a:ext cx="301686" cy="369332"/>
            </a:xfrm>
            <a:prstGeom prst="rect">
              <a:avLst/>
            </a:prstGeom>
            <a:noFill/>
          </p:spPr>
          <p:txBody>
            <a:bodyPr wrap="none" rtlCol="0">
              <a:spAutoFit/>
            </a:bodyPr>
            <a:lstStyle/>
            <a:p>
              <a:r>
                <a:rPr lang="es-MX" b="1" dirty="0"/>
                <a:t>5</a:t>
              </a:r>
              <a:endParaRPr lang="es-PE" b="1" dirty="0"/>
            </a:p>
          </p:txBody>
        </p:sp>
      </p:grpSp>
      <p:grpSp>
        <p:nvGrpSpPr>
          <p:cNvPr id="38" name="Grupo 37">
            <a:extLst>
              <a:ext uri="{FF2B5EF4-FFF2-40B4-BE49-F238E27FC236}">
                <a16:creationId xmlns:a16="http://schemas.microsoft.com/office/drawing/2014/main" id="{2DF0ADC8-3EB1-0B9C-BBD5-B7F94BC3D9CD}"/>
              </a:ext>
            </a:extLst>
          </p:cNvPr>
          <p:cNvGrpSpPr/>
          <p:nvPr/>
        </p:nvGrpSpPr>
        <p:grpSpPr>
          <a:xfrm>
            <a:off x="9965473" y="4056587"/>
            <a:ext cx="304570" cy="369332"/>
            <a:chOff x="9801922" y="5941669"/>
            <a:chExt cx="304570" cy="369332"/>
          </a:xfrm>
        </p:grpSpPr>
        <p:sp>
          <p:nvSpPr>
            <p:cNvPr id="39" name="Elipse 38">
              <a:extLst>
                <a:ext uri="{FF2B5EF4-FFF2-40B4-BE49-F238E27FC236}">
                  <a16:creationId xmlns:a16="http://schemas.microsoft.com/office/drawing/2014/main" id="{482FBFC4-C787-FDCC-8D46-6E2D9A4EF3D2}"/>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60F54B1E-00D9-C9A9-BFED-34A95CA8D4EF}"/>
                </a:ext>
              </a:extLst>
            </p:cNvPr>
            <p:cNvSpPr txBox="1"/>
            <p:nvPr/>
          </p:nvSpPr>
          <p:spPr>
            <a:xfrm>
              <a:off x="9804806" y="5941669"/>
              <a:ext cx="301686" cy="369332"/>
            </a:xfrm>
            <a:prstGeom prst="rect">
              <a:avLst/>
            </a:prstGeom>
            <a:noFill/>
          </p:spPr>
          <p:txBody>
            <a:bodyPr wrap="none" rtlCol="0">
              <a:spAutoFit/>
            </a:bodyPr>
            <a:lstStyle/>
            <a:p>
              <a:r>
                <a:rPr lang="es-MX" b="1" dirty="0"/>
                <a:t>1</a:t>
              </a:r>
              <a:endParaRPr lang="es-PE" b="1" dirty="0"/>
            </a:p>
          </p:txBody>
        </p:sp>
      </p:grpSp>
      <p:grpSp>
        <p:nvGrpSpPr>
          <p:cNvPr id="41" name="Grupo 40">
            <a:extLst>
              <a:ext uri="{FF2B5EF4-FFF2-40B4-BE49-F238E27FC236}">
                <a16:creationId xmlns:a16="http://schemas.microsoft.com/office/drawing/2014/main" id="{E9AECE31-EB61-0573-ADEA-C3840B19A87E}"/>
              </a:ext>
            </a:extLst>
          </p:cNvPr>
          <p:cNvGrpSpPr/>
          <p:nvPr/>
        </p:nvGrpSpPr>
        <p:grpSpPr>
          <a:xfrm>
            <a:off x="9990887" y="4976154"/>
            <a:ext cx="304570" cy="369332"/>
            <a:chOff x="9801922" y="5941669"/>
            <a:chExt cx="304570" cy="369332"/>
          </a:xfrm>
        </p:grpSpPr>
        <p:sp>
          <p:nvSpPr>
            <p:cNvPr id="42" name="Elipse 41">
              <a:extLst>
                <a:ext uri="{FF2B5EF4-FFF2-40B4-BE49-F238E27FC236}">
                  <a16:creationId xmlns:a16="http://schemas.microsoft.com/office/drawing/2014/main" id="{2CF33D6D-B876-EEE5-8F45-61B4EA78F0E3}"/>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3" name="CuadroTexto 42">
              <a:extLst>
                <a:ext uri="{FF2B5EF4-FFF2-40B4-BE49-F238E27FC236}">
                  <a16:creationId xmlns:a16="http://schemas.microsoft.com/office/drawing/2014/main" id="{4C743885-2239-15BD-B22E-9C250239693F}"/>
                </a:ext>
              </a:extLst>
            </p:cNvPr>
            <p:cNvSpPr txBox="1"/>
            <p:nvPr/>
          </p:nvSpPr>
          <p:spPr>
            <a:xfrm>
              <a:off x="9804806" y="5941669"/>
              <a:ext cx="301686" cy="369332"/>
            </a:xfrm>
            <a:prstGeom prst="rect">
              <a:avLst/>
            </a:prstGeom>
            <a:noFill/>
          </p:spPr>
          <p:txBody>
            <a:bodyPr wrap="none" rtlCol="0">
              <a:spAutoFit/>
            </a:bodyPr>
            <a:lstStyle/>
            <a:p>
              <a:r>
                <a:rPr lang="es-MX" b="1" dirty="0"/>
                <a:t>3</a:t>
              </a:r>
              <a:endParaRPr lang="es-PE" b="1" dirty="0"/>
            </a:p>
          </p:txBody>
        </p:sp>
      </p:grpSp>
      <p:grpSp>
        <p:nvGrpSpPr>
          <p:cNvPr id="44" name="Grupo 43">
            <a:extLst>
              <a:ext uri="{FF2B5EF4-FFF2-40B4-BE49-F238E27FC236}">
                <a16:creationId xmlns:a16="http://schemas.microsoft.com/office/drawing/2014/main" id="{ED731855-9C4A-7E97-7A99-7A670A60FEEF}"/>
              </a:ext>
            </a:extLst>
          </p:cNvPr>
          <p:cNvGrpSpPr/>
          <p:nvPr/>
        </p:nvGrpSpPr>
        <p:grpSpPr>
          <a:xfrm>
            <a:off x="11655541" y="4979273"/>
            <a:ext cx="304570" cy="369332"/>
            <a:chOff x="9801922" y="5941669"/>
            <a:chExt cx="304570" cy="369332"/>
          </a:xfrm>
        </p:grpSpPr>
        <p:sp>
          <p:nvSpPr>
            <p:cNvPr id="45" name="Elipse 44">
              <a:extLst>
                <a:ext uri="{FF2B5EF4-FFF2-40B4-BE49-F238E27FC236}">
                  <a16:creationId xmlns:a16="http://schemas.microsoft.com/office/drawing/2014/main" id="{75676B87-D722-48A8-5CF8-6AC28EEFC64B}"/>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6" name="CuadroTexto 45">
              <a:extLst>
                <a:ext uri="{FF2B5EF4-FFF2-40B4-BE49-F238E27FC236}">
                  <a16:creationId xmlns:a16="http://schemas.microsoft.com/office/drawing/2014/main" id="{4FB84E51-DF54-2E59-14D1-B996204C7181}"/>
                </a:ext>
              </a:extLst>
            </p:cNvPr>
            <p:cNvSpPr txBox="1"/>
            <p:nvPr/>
          </p:nvSpPr>
          <p:spPr>
            <a:xfrm>
              <a:off x="9804806" y="5941669"/>
              <a:ext cx="301686" cy="369332"/>
            </a:xfrm>
            <a:prstGeom prst="rect">
              <a:avLst/>
            </a:prstGeom>
            <a:noFill/>
          </p:spPr>
          <p:txBody>
            <a:bodyPr wrap="none" rtlCol="0">
              <a:spAutoFit/>
            </a:bodyPr>
            <a:lstStyle/>
            <a:p>
              <a:r>
                <a:rPr lang="es-MX" b="1" dirty="0"/>
                <a:t>4</a:t>
              </a:r>
              <a:endParaRPr lang="es-PE" b="1" dirty="0"/>
            </a:p>
          </p:txBody>
        </p:sp>
      </p:grpSp>
      <p:grpSp>
        <p:nvGrpSpPr>
          <p:cNvPr id="47" name="Grupo 46">
            <a:extLst>
              <a:ext uri="{FF2B5EF4-FFF2-40B4-BE49-F238E27FC236}">
                <a16:creationId xmlns:a16="http://schemas.microsoft.com/office/drawing/2014/main" id="{034D15C3-6462-1BF3-E48A-4D6E77C58199}"/>
              </a:ext>
            </a:extLst>
          </p:cNvPr>
          <p:cNvGrpSpPr/>
          <p:nvPr/>
        </p:nvGrpSpPr>
        <p:grpSpPr>
          <a:xfrm>
            <a:off x="5943715" y="4555095"/>
            <a:ext cx="304570" cy="369332"/>
            <a:chOff x="9801922" y="5941669"/>
            <a:chExt cx="304570" cy="369332"/>
          </a:xfrm>
        </p:grpSpPr>
        <p:sp>
          <p:nvSpPr>
            <p:cNvPr id="48" name="Elipse 47">
              <a:extLst>
                <a:ext uri="{FF2B5EF4-FFF2-40B4-BE49-F238E27FC236}">
                  <a16:creationId xmlns:a16="http://schemas.microsoft.com/office/drawing/2014/main" id="{39A061C3-E1E0-E307-E947-E273F07690C3}"/>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9" name="CuadroTexto 48">
              <a:extLst>
                <a:ext uri="{FF2B5EF4-FFF2-40B4-BE49-F238E27FC236}">
                  <a16:creationId xmlns:a16="http://schemas.microsoft.com/office/drawing/2014/main" id="{E4AA2C4B-0854-7CDA-7D73-263556D9F051}"/>
                </a:ext>
              </a:extLst>
            </p:cNvPr>
            <p:cNvSpPr txBox="1"/>
            <p:nvPr/>
          </p:nvSpPr>
          <p:spPr>
            <a:xfrm>
              <a:off x="9804806" y="5941669"/>
              <a:ext cx="301686" cy="369332"/>
            </a:xfrm>
            <a:prstGeom prst="rect">
              <a:avLst/>
            </a:prstGeom>
            <a:noFill/>
          </p:spPr>
          <p:txBody>
            <a:bodyPr wrap="none" rtlCol="0">
              <a:spAutoFit/>
            </a:bodyPr>
            <a:lstStyle/>
            <a:p>
              <a:r>
                <a:rPr lang="es-MX" b="1" dirty="0"/>
                <a:t>2</a:t>
              </a:r>
              <a:endParaRPr lang="es-PE" b="1" dirty="0"/>
            </a:p>
          </p:txBody>
        </p:sp>
      </p:grpSp>
      <p:grpSp>
        <p:nvGrpSpPr>
          <p:cNvPr id="50" name="Grupo 49">
            <a:extLst>
              <a:ext uri="{FF2B5EF4-FFF2-40B4-BE49-F238E27FC236}">
                <a16:creationId xmlns:a16="http://schemas.microsoft.com/office/drawing/2014/main" id="{8EFCF749-BBE4-41B0-99E0-15A0409CD7B9}"/>
              </a:ext>
            </a:extLst>
          </p:cNvPr>
          <p:cNvGrpSpPr/>
          <p:nvPr/>
        </p:nvGrpSpPr>
        <p:grpSpPr>
          <a:xfrm>
            <a:off x="7735344" y="4970873"/>
            <a:ext cx="304570" cy="369332"/>
            <a:chOff x="9801922" y="5941669"/>
            <a:chExt cx="304570" cy="369332"/>
          </a:xfrm>
        </p:grpSpPr>
        <p:sp>
          <p:nvSpPr>
            <p:cNvPr id="51" name="Elipse 50">
              <a:extLst>
                <a:ext uri="{FF2B5EF4-FFF2-40B4-BE49-F238E27FC236}">
                  <a16:creationId xmlns:a16="http://schemas.microsoft.com/office/drawing/2014/main" id="{46A50FEC-E31E-D4B3-1A31-7510BF547AAE}"/>
                </a:ext>
              </a:extLst>
            </p:cNvPr>
            <p:cNvSpPr/>
            <p:nvPr/>
          </p:nvSpPr>
          <p:spPr>
            <a:xfrm>
              <a:off x="9801922" y="5977054"/>
              <a:ext cx="288000" cy="288000"/>
            </a:xfrm>
            <a:prstGeom prst="ellipse">
              <a:avLst/>
            </a:prstGeom>
            <a:solidFill>
              <a:srgbClr val="FFC000"/>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2" name="CuadroTexto 51">
              <a:extLst>
                <a:ext uri="{FF2B5EF4-FFF2-40B4-BE49-F238E27FC236}">
                  <a16:creationId xmlns:a16="http://schemas.microsoft.com/office/drawing/2014/main" id="{17F256AE-48BA-A34A-85AF-F5F6226493A5}"/>
                </a:ext>
              </a:extLst>
            </p:cNvPr>
            <p:cNvSpPr txBox="1"/>
            <p:nvPr/>
          </p:nvSpPr>
          <p:spPr>
            <a:xfrm>
              <a:off x="9804806" y="5941669"/>
              <a:ext cx="301686" cy="369332"/>
            </a:xfrm>
            <a:prstGeom prst="rect">
              <a:avLst/>
            </a:prstGeom>
            <a:noFill/>
          </p:spPr>
          <p:txBody>
            <a:bodyPr wrap="none" rtlCol="0">
              <a:spAutoFit/>
            </a:bodyPr>
            <a:lstStyle/>
            <a:p>
              <a:r>
                <a:rPr lang="es-MX" b="1" dirty="0"/>
                <a:t>1</a:t>
              </a:r>
              <a:endParaRPr lang="es-PE" b="1" dirty="0"/>
            </a:p>
          </p:txBody>
        </p:sp>
      </p:grpSp>
    </p:spTree>
    <p:extLst>
      <p:ext uri="{BB962C8B-B14F-4D97-AF65-F5344CB8AC3E}">
        <p14:creationId xmlns:p14="http://schemas.microsoft.com/office/powerpoint/2010/main" val="24061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D976093-A7EB-569A-3515-4B1AFC69D932}"/>
              </a:ext>
            </a:extLst>
          </p:cNvPr>
          <p:cNvPicPr>
            <a:picLocks noChangeAspect="1"/>
          </p:cNvPicPr>
          <p:nvPr/>
        </p:nvPicPr>
        <p:blipFill>
          <a:blip r:embed="rId3"/>
          <a:stretch>
            <a:fillRect/>
          </a:stretch>
        </p:blipFill>
        <p:spPr>
          <a:xfrm>
            <a:off x="0" y="0"/>
            <a:ext cx="12192000" cy="6858000"/>
          </a:xfrm>
          <a:prstGeom prst="rect">
            <a:avLst/>
          </a:prstGeom>
        </p:spPr>
      </p:pic>
      <p:sp>
        <p:nvSpPr>
          <p:cNvPr id="11" name="TextBox 2">
            <a:extLst>
              <a:ext uri="{FF2B5EF4-FFF2-40B4-BE49-F238E27FC236}">
                <a16:creationId xmlns:a16="http://schemas.microsoft.com/office/drawing/2014/main" id="{F67B48D3-D902-2E06-835D-0E70D02227E1}"/>
              </a:ext>
            </a:extLst>
          </p:cNvPr>
          <p:cNvSpPr txBox="1"/>
          <p:nvPr/>
        </p:nvSpPr>
        <p:spPr>
          <a:xfrm>
            <a:off x="2176043" y="479512"/>
            <a:ext cx="9818992" cy="584775"/>
          </a:xfrm>
          <a:prstGeom prst="rect">
            <a:avLst/>
          </a:prstGeom>
          <a:noFill/>
          <a:ln>
            <a:noFill/>
          </a:ln>
        </p:spPr>
        <p:txBody>
          <a:bodyPr wrap="square">
            <a:spAutoFit/>
          </a:bodyPr>
          <a:lstStyle/>
          <a:p>
            <a:r>
              <a:rPr lang="en-US" sz="3200" b="1" dirty="0">
                <a:solidFill>
                  <a:schemeClr val="bg1"/>
                </a:solidFill>
                <a:latin typeface="Calibri"/>
              </a:rPr>
              <a:t>Bianque adds $256K in profit through a </a:t>
            </a:r>
            <a:r>
              <a:rPr lang="en-US" sz="3200" b="1" dirty="0">
                <a:solidFill>
                  <a:srgbClr val="76E0D1"/>
                </a:solidFill>
                <a:latin typeface="Calibri"/>
              </a:rPr>
              <a:t>calibrated model</a:t>
            </a:r>
            <a:endParaRPr lang="es-MX" sz="3200" b="1" dirty="0">
              <a:solidFill>
                <a:srgbClr val="76E0D1"/>
              </a:solidFill>
              <a:latin typeface="Calibri"/>
            </a:endParaRPr>
          </a:p>
        </p:txBody>
      </p:sp>
      <p:sp>
        <p:nvSpPr>
          <p:cNvPr id="13" name="Rectangle 5">
            <a:extLst>
              <a:ext uri="{FF2B5EF4-FFF2-40B4-BE49-F238E27FC236}">
                <a16:creationId xmlns:a16="http://schemas.microsoft.com/office/drawing/2014/main" id="{09521522-36A4-FEF9-0D49-AF857AF8FCEA}"/>
              </a:ext>
            </a:extLst>
          </p:cNvPr>
          <p:cNvSpPr/>
          <p:nvPr/>
        </p:nvSpPr>
        <p:spPr>
          <a:xfrm>
            <a:off x="411480" y="1331719"/>
            <a:ext cx="3749039" cy="5120640"/>
          </a:xfrm>
          <a:prstGeom prst="roundRect">
            <a:avLst>
              <a:gd name="adj" fmla="val 1626"/>
            </a:avLst>
          </a:prstGeom>
          <a:solidFill>
            <a:srgbClr val="FFFFFF">
              <a:alpha val="90000"/>
            </a:srgbClr>
          </a:solidFill>
          <a:ln>
            <a:solidFill>
              <a:srgbClr val="E3F3E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spcAft>
                <a:spcPts val="200"/>
              </a:spcAft>
            </a:pPr>
            <a:endParaRPr sz="1100" b="0" dirty="0">
              <a:solidFill>
                <a:srgbClr val="1D2433"/>
              </a:solidFill>
              <a:latin typeface="Calibri"/>
            </a:endParaRPr>
          </a:p>
        </p:txBody>
      </p:sp>
      <p:sp>
        <p:nvSpPr>
          <p:cNvPr id="15" name="Rectangle 6">
            <a:extLst>
              <a:ext uri="{FF2B5EF4-FFF2-40B4-BE49-F238E27FC236}">
                <a16:creationId xmlns:a16="http://schemas.microsoft.com/office/drawing/2014/main" id="{562D7BA9-D68A-2C59-858A-2008471C7B88}"/>
              </a:ext>
            </a:extLst>
          </p:cNvPr>
          <p:cNvSpPr/>
          <p:nvPr/>
        </p:nvSpPr>
        <p:spPr>
          <a:xfrm>
            <a:off x="4343400" y="1331718"/>
            <a:ext cx="3749039" cy="2736000"/>
          </a:xfrm>
          <a:prstGeom prst="roundRect">
            <a:avLst>
              <a:gd name="adj" fmla="val 2386"/>
            </a:avLst>
          </a:prstGeom>
          <a:solidFill>
            <a:srgbClr val="FFFFFF">
              <a:alpha val="90000"/>
            </a:srgbClr>
          </a:solidFill>
          <a:ln>
            <a:solidFill>
              <a:srgbClr val="E3F3E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spcAft>
                <a:spcPts val="300"/>
              </a:spcAft>
            </a:pPr>
            <a:endParaRPr sz="1100" b="0" dirty="0">
              <a:solidFill>
                <a:srgbClr val="1D2433"/>
              </a:solidFill>
              <a:latin typeface="Calibri"/>
            </a:endParaRPr>
          </a:p>
        </p:txBody>
      </p:sp>
      <p:sp>
        <p:nvSpPr>
          <p:cNvPr id="21" name="Rectangle 9">
            <a:extLst>
              <a:ext uri="{FF2B5EF4-FFF2-40B4-BE49-F238E27FC236}">
                <a16:creationId xmlns:a16="http://schemas.microsoft.com/office/drawing/2014/main" id="{38CA7671-AD25-944E-2C36-CC8A10684007}"/>
              </a:ext>
            </a:extLst>
          </p:cNvPr>
          <p:cNvSpPr/>
          <p:nvPr/>
        </p:nvSpPr>
        <p:spPr>
          <a:xfrm>
            <a:off x="4358639" y="4282631"/>
            <a:ext cx="7397363" cy="2169728"/>
          </a:xfrm>
          <a:prstGeom prst="roundRect">
            <a:avLst>
              <a:gd name="adj" fmla="val 2797"/>
            </a:avLst>
          </a:prstGeom>
          <a:solidFill>
            <a:srgbClr val="FFFF99">
              <a:alpha val="95000"/>
            </a:srgbClr>
          </a:solidFill>
          <a:ln>
            <a:solidFill>
              <a:srgbClr val="E3F3E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spcAft>
                <a:spcPts val="300"/>
              </a:spcAft>
            </a:pPr>
            <a:endParaRPr sz="1100" b="0" dirty="0">
              <a:solidFill>
                <a:srgbClr val="1D2433"/>
              </a:solidFill>
              <a:latin typeface="Calibri"/>
            </a:endParaRPr>
          </a:p>
        </p:txBody>
      </p:sp>
      <p:sp>
        <p:nvSpPr>
          <p:cNvPr id="28" name="CuadroTexto 27">
            <a:extLst>
              <a:ext uri="{FF2B5EF4-FFF2-40B4-BE49-F238E27FC236}">
                <a16:creationId xmlns:a16="http://schemas.microsoft.com/office/drawing/2014/main" id="{B0DA95B0-D93F-7FBE-BAB4-76C1409C97CE}"/>
              </a:ext>
            </a:extLst>
          </p:cNvPr>
          <p:cNvSpPr txBox="1"/>
          <p:nvPr/>
        </p:nvSpPr>
        <p:spPr>
          <a:xfrm>
            <a:off x="935999" y="1418172"/>
            <a:ext cx="2700000" cy="307777"/>
          </a:xfrm>
          <a:prstGeom prst="rect">
            <a:avLst/>
          </a:prstGeom>
          <a:noFill/>
        </p:spPr>
        <p:txBody>
          <a:bodyPr wrap="square">
            <a:spAutoFit/>
          </a:bodyPr>
          <a:lstStyle/>
          <a:p>
            <a:pPr algn="ctr"/>
            <a:r>
              <a:rPr lang="es-PE" sz="1400" b="1" dirty="0">
                <a:solidFill>
                  <a:srgbClr val="0F6E5C"/>
                </a:solidFill>
                <a:latin typeface="Calibri"/>
              </a:rPr>
              <a:t>ETL pipeline + data preparation</a:t>
            </a:r>
          </a:p>
        </p:txBody>
      </p:sp>
      <p:grpSp>
        <p:nvGrpSpPr>
          <p:cNvPr id="37" name="Grupo 36">
            <a:extLst>
              <a:ext uri="{FF2B5EF4-FFF2-40B4-BE49-F238E27FC236}">
                <a16:creationId xmlns:a16="http://schemas.microsoft.com/office/drawing/2014/main" id="{E5DDB508-7822-FCCE-5C5E-BA7CBA2E8E45}"/>
              </a:ext>
            </a:extLst>
          </p:cNvPr>
          <p:cNvGrpSpPr/>
          <p:nvPr/>
        </p:nvGrpSpPr>
        <p:grpSpPr>
          <a:xfrm>
            <a:off x="643603" y="2680003"/>
            <a:ext cx="3269552" cy="736614"/>
            <a:chOff x="579075" y="1838946"/>
            <a:chExt cx="3360339" cy="736614"/>
          </a:xfrm>
        </p:grpSpPr>
        <p:pic>
          <p:nvPicPr>
            <p:cNvPr id="24" name="Imagen 23" descr="Designing Robust Data Pipelines with the Medallion Architecture">
              <a:extLst>
                <a:ext uri="{FF2B5EF4-FFF2-40B4-BE49-F238E27FC236}">
                  <a16:creationId xmlns:a16="http://schemas.microsoft.com/office/drawing/2014/main" id="{F46C6651-80CA-6333-9F68-11C5E56A637E}"/>
                </a:ext>
              </a:extLst>
            </p:cNvPr>
            <p:cNvPicPr>
              <a:picLocks noChangeAspect="1"/>
            </p:cNvPicPr>
            <p:nvPr/>
          </p:nvPicPr>
          <p:blipFill>
            <a:blip r:embed="rId4" cstate="email">
              <a:extLst>
                <a:ext uri="{BEBA8EAE-BF5A-486C-A8C5-ECC9F3942E4B}">
                  <a14:imgProps xmlns:a14="http://schemas.microsoft.com/office/drawing/2010/main">
                    <a14:imgLayer r:embed="rId5">
                      <a14:imgEffect>
                        <a14:backgroundRemoval t="8730" b="89683" l="23148" r="100000">
                          <a14:foregroundMark x1="54630" y1="34921" x2="46296" y2="76190"/>
                          <a14:foregroundMark x1="46296" y1="76190" x2="72222" y2="42857"/>
                          <a14:foregroundMark x1="72222" y1="42857" x2="62037" y2="33333"/>
                          <a14:foregroundMark x1="23148" y1="24603" x2="23148" y2="76984"/>
                          <a14:foregroundMark x1="23148" y1="76984" x2="78704" y2="76984"/>
                          <a14:foregroundMark x1="78704" y1="76984" x2="81481" y2="68254"/>
                        </a14:backgroundRemoval>
                      </a14:imgEffect>
                    </a14:imgLayer>
                  </a14:imgProps>
                </a:ext>
                <a:ext uri="{28A0092B-C50C-407E-A947-70E740481C1C}">
                  <a14:useLocalDpi xmlns:a14="http://schemas.microsoft.com/office/drawing/2010/main"/>
                </a:ext>
              </a:extLst>
            </a:blip>
            <a:srcRect/>
            <a:stretch>
              <a:fillRect/>
            </a:stretch>
          </p:blipFill>
          <p:spPr>
            <a:xfrm>
              <a:off x="579075" y="1838946"/>
              <a:ext cx="633151" cy="736614"/>
            </a:xfrm>
            <a:prstGeom prst="rect">
              <a:avLst/>
            </a:prstGeom>
          </p:spPr>
        </p:pic>
        <p:sp>
          <p:nvSpPr>
            <p:cNvPr id="30" name="CuadroTexto 29">
              <a:extLst>
                <a:ext uri="{FF2B5EF4-FFF2-40B4-BE49-F238E27FC236}">
                  <a16:creationId xmlns:a16="http://schemas.microsoft.com/office/drawing/2014/main" id="{9BC71CB0-EE68-DA4B-C61D-F8921840FB78}"/>
                </a:ext>
              </a:extLst>
            </p:cNvPr>
            <p:cNvSpPr txBox="1"/>
            <p:nvPr/>
          </p:nvSpPr>
          <p:spPr>
            <a:xfrm>
              <a:off x="1148626" y="1884088"/>
              <a:ext cx="2790788" cy="646331"/>
            </a:xfrm>
            <a:prstGeom prst="rect">
              <a:avLst/>
            </a:prstGeom>
            <a:noFill/>
          </p:spPr>
          <p:txBody>
            <a:bodyPr wrap="square">
              <a:spAutoFit/>
            </a:bodyPr>
            <a:lstStyle/>
            <a:p>
              <a:r>
                <a:rPr lang="en-US" sz="1400" b="1" dirty="0">
                  <a:solidFill>
                    <a:srgbClr val="7B5D27"/>
                  </a:solidFill>
                </a:rPr>
                <a:t>Bronze</a:t>
              </a:r>
            </a:p>
            <a:p>
              <a:pPr marL="182563" indent="-182563">
                <a:buFont typeface="Courier New" panose="02070309020205020404" pitchFamily="49" charset="0"/>
                <a:buChar char="o"/>
              </a:pPr>
              <a:r>
                <a:rPr lang="en-US" sz="1100" dirty="0">
                  <a:solidFill>
                    <a:srgbClr val="1D2433"/>
                  </a:solidFill>
                </a:rPr>
                <a:t>7,671 CSVs streamed from S3 to Parquet.</a:t>
              </a:r>
            </a:p>
            <a:p>
              <a:pPr marL="182563" indent="-182563">
                <a:buFont typeface="Courier New" panose="02070309020205020404" pitchFamily="49" charset="0"/>
                <a:buChar char="o"/>
              </a:pPr>
              <a:r>
                <a:rPr lang="en-US" sz="1100" dirty="0">
                  <a:solidFill>
                    <a:srgbClr val="1D2433"/>
                  </a:solidFill>
                </a:rPr>
                <a:t>incremental by key + ETag, atomic writes</a:t>
              </a:r>
            </a:p>
          </p:txBody>
        </p:sp>
      </p:grpSp>
      <p:grpSp>
        <p:nvGrpSpPr>
          <p:cNvPr id="39" name="Grupo 38">
            <a:extLst>
              <a:ext uri="{FF2B5EF4-FFF2-40B4-BE49-F238E27FC236}">
                <a16:creationId xmlns:a16="http://schemas.microsoft.com/office/drawing/2014/main" id="{59025DFF-5C5D-72FD-12F1-D2309B1FF882}"/>
              </a:ext>
            </a:extLst>
          </p:cNvPr>
          <p:cNvGrpSpPr/>
          <p:nvPr/>
        </p:nvGrpSpPr>
        <p:grpSpPr>
          <a:xfrm>
            <a:off x="649291" y="4621004"/>
            <a:ext cx="3263863" cy="736614"/>
            <a:chOff x="584763" y="3805611"/>
            <a:chExt cx="3263863" cy="736614"/>
          </a:xfrm>
        </p:grpSpPr>
        <p:pic>
          <p:nvPicPr>
            <p:cNvPr id="26" name="Imagen 25" descr="Designing Robust Data Pipelines with the Medallion Architecture">
              <a:extLst>
                <a:ext uri="{FF2B5EF4-FFF2-40B4-BE49-F238E27FC236}">
                  <a16:creationId xmlns:a16="http://schemas.microsoft.com/office/drawing/2014/main" id="{44EBD239-8006-6D79-548F-1B46C198736C}"/>
                </a:ext>
              </a:extLst>
            </p:cNvPr>
            <p:cNvPicPr>
              <a:picLocks noChangeAspect="1"/>
            </p:cNvPicPr>
            <p:nvPr/>
          </p:nvPicPr>
          <p:blipFill>
            <a:blip r:embed="rId6" cstate="email">
              <a:extLst>
                <a:ext uri="{BEBA8EAE-BF5A-486C-A8C5-ECC9F3942E4B}">
                  <a14:imgProps xmlns:a14="http://schemas.microsoft.com/office/drawing/2010/main">
                    <a14:imgLayer r:embed="rId7">
                      <a14:imgEffect>
                        <a14:backgroundRemoval t="8730" b="89683" l="0" r="83654">
                          <a14:foregroundMark x1="26923" y1="26984" x2="20192" y2="80159"/>
                          <a14:foregroundMark x1="20192" y1="80159" x2="75000" y2="82540"/>
                          <a14:foregroundMark x1="75000" y1="82540" x2="83654" y2="42857"/>
                          <a14:foregroundMark x1="83654" y1="42857" x2="31731" y2="24603"/>
                          <a14:foregroundMark x1="31731" y1="24603" x2="27885" y2="27778"/>
                        </a14:backgroundRemoval>
                      </a14:imgEffect>
                    </a14:imgLayer>
                  </a14:imgProps>
                </a:ext>
                <a:ext uri="{28A0092B-C50C-407E-A947-70E740481C1C}">
                  <a14:useLocalDpi xmlns:a14="http://schemas.microsoft.com/office/drawing/2010/main"/>
                </a:ext>
              </a:extLst>
            </a:blip>
            <a:srcRect/>
            <a:stretch>
              <a:fillRect/>
            </a:stretch>
          </p:blipFill>
          <p:spPr>
            <a:xfrm>
              <a:off x="584763" y="3805611"/>
              <a:ext cx="606536" cy="736614"/>
            </a:xfrm>
            <a:prstGeom prst="rect">
              <a:avLst/>
            </a:prstGeom>
          </p:spPr>
        </p:pic>
        <p:sp>
          <p:nvSpPr>
            <p:cNvPr id="32" name="CuadroTexto 31">
              <a:extLst>
                <a:ext uri="{FF2B5EF4-FFF2-40B4-BE49-F238E27FC236}">
                  <a16:creationId xmlns:a16="http://schemas.microsoft.com/office/drawing/2014/main" id="{E20FA8F3-C87F-C8D0-9EB0-5AD458B4C12E}"/>
                </a:ext>
              </a:extLst>
            </p:cNvPr>
            <p:cNvSpPr txBox="1"/>
            <p:nvPr/>
          </p:nvSpPr>
          <p:spPr>
            <a:xfrm>
              <a:off x="1148626" y="3850753"/>
              <a:ext cx="2700000" cy="646331"/>
            </a:xfrm>
            <a:prstGeom prst="rect">
              <a:avLst/>
            </a:prstGeom>
            <a:noFill/>
          </p:spPr>
          <p:txBody>
            <a:bodyPr wrap="square">
              <a:spAutoFit/>
            </a:bodyPr>
            <a:lstStyle/>
            <a:p>
              <a:r>
                <a:rPr lang="en-US" sz="1400" b="1" dirty="0">
                  <a:solidFill>
                    <a:srgbClr val="B7931F"/>
                  </a:solidFill>
                </a:rPr>
                <a:t>Gold</a:t>
              </a:r>
            </a:p>
            <a:p>
              <a:pPr marL="171450" indent="-171450">
                <a:buFont typeface="Courier New" panose="02070309020205020404" pitchFamily="49" charset="0"/>
                <a:buChar char="o"/>
              </a:pPr>
              <a:r>
                <a:rPr lang="en-US" sz="1100" dirty="0">
                  <a:solidFill>
                    <a:srgbClr val="1D2433"/>
                  </a:solidFill>
                </a:rPr>
                <a:t>Point-in-time features (no future data)</a:t>
              </a:r>
            </a:p>
            <a:p>
              <a:pPr marL="171450" indent="-171450">
                <a:buFont typeface="Courier New" panose="02070309020205020404" pitchFamily="49" charset="0"/>
                <a:buChar char="o"/>
              </a:pPr>
              <a:r>
                <a:rPr lang="en-US" sz="1100" dirty="0">
                  <a:solidFill>
                    <a:srgbClr val="1D2433"/>
                  </a:solidFill>
                </a:rPr>
                <a:t>Hashed frozen out-of-time sets.</a:t>
              </a:r>
            </a:p>
          </p:txBody>
        </p:sp>
      </p:grpSp>
      <p:grpSp>
        <p:nvGrpSpPr>
          <p:cNvPr id="38" name="Grupo 37">
            <a:extLst>
              <a:ext uri="{FF2B5EF4-FFF2-40B4-BE49-F238E27FC236}">
                <a16:creationId xmlns:a16="http://schemas.microsoft.com/office/drawing/2014/main" id="{9DAA9BD7-E834-8E97-C351-40A91FA36564}"/>
              </a:ext>
            </a:extLst>
          </p:cNvPr>
          <p:cNvGrpSpPr/>
          <p:nvPr/>
        </p:nvGrpSpPr>
        <p:grpSpPr>
          <a:xfrm>
            <a:off x="628362" y="3595617"/>
            <a:ext cx="3445797" cy="846386"/>
            <a:chOff x="563834" y="2632755"/>
            <a:chExt cx="3445797" cy="846386"/>
          </a:xfrm>
        </p:grpSpPr>
        <p:pic>
          <p:nvPicPr>
            <p:cNvPr id="22" name="Imagen 21" descr="Designing Robust Data Pipelines with the Medallion Architecture">
              <a:extLst>
                <a:ext uri="{FF2B5EF4-FFF2-40B4-BE49-F238E27FC236}">
                  <a16:creationId xmlns:a16="http://schemas.microsoft.com/office/drawing/2014/main" id="{EBC74353-6F55-7F9A-09C3-851479330E3B}"/>
                </a:ext>
              </a:extLst>
            </p:cNvPr>
            <p:cNvPicPr>
              <a:picLocks noChangeAspect="1"/>
            </p:cNvPicPr>
            <p:nvPr/>
          </p:nvPicPr>
          <p:blipFill>
            <a:blip r:embed="rId8" cstate="email">
              <a:extLst>
                <a:ext uri="{BEBA8EAE-BF5A-486C-A8C5-ECC9F3942E4B}">
                  <a14:imgProps xmlns:a14="http://schemas.microsoft.com/office/drawing/2010/main">
                    <a14:imgLayer r:embed="rId9">
                      <a14:imgEffect>
                        <a14:backgroundRemoval t="8730" b="89683" l="0" r="100000">
                          <a14:foregroundMark x1="27778" y1="26984" x2="25000" y2="80952"/>
                          <a14:foregroundMark x1="25000" y1="80952" x2="82407" y2="83333"/>
                          <a14:foregroundMark x1="82407" y1="83333" x2="87037" y2="42857"/>
                          <a14:foregroundMark x1="87037" y1="42857" x2="85185" y2="38889"/>
                        </a14:backgroundRemoval>
                      </a14:imgEffect>
                    </a14:imgLayer>
                  </a14:imgProps>
                </a:ext>
                <a:ext uri="{28A0092B-C50C-407E-A947-70E740481C1C}">
                  <a14:useLocalDpi xmlns:a14="http://schemas.microsoft.com/office/drawing/2010/main"/>
                </a:ext>
              </a:extLst>
            </a:blip>
            <a:srcRect/>
            <a:stretch>
              <a:fillRect/>
            </a:stretch>
          </p:blipFill>
          <p:spPr>
            <a:xfrm>
              <a:off x="563834" y="2687641"/>
              <a:ext cx="633152" cy="736614"/>
            </a:xfrm>
            <a:prstGeom prst="rect">
              <a:avLst/>
            </a:prstGeom>
          </p:spPr>
        </p:pic>
        <p:sp>
          <p:nvSpPr>
            <p:cNvPr id="34" name="CuadroTexto 33">
              <a:extLst>
                <a:ext uri="{FF2B5EF4-FFF2-40B4-BE49-F238E27FC236}">
                  <a16:creationId xmlns:a16="http://schemas.microsoft.com/office/drawing/2014/main" id="{84E0C6D1-ED6C-4F60-2F9F-34BB2DDE3E71}"/>
                </a:ext>
              </a:extLst>
            </p:cNvPr>
            <p:cNvSpPr txBox="1"/>
            <p:nvPr/>
          </p:nvSpPr>
          <p:spPr>
            <a:xfrm>
              <a:off x="1148626" y="2632755"/>
              <a:ext cx="2861005" cy="846386"/>
            </a:xfrm>
            <a:prstGeom prst="rect">
              <a:avLst/>
            </a:prstGeom>
            <a:noFill/>
          </p:spPr>
          <p:txBody>
            <a:bodyPr wrap="square">
              <a:spAutoFit/>
            </a:bodyPr>
            <a:lstStyle/>
            <a:p>
              <a:r>
                <a:rPr lang="en-US" sz="1600" b="1" dirty="0">
                  <a:solidFill>
                    <a:srgbClr val="959595"/>
                  </a:solidFill>
                </a:rPr>
                <a:t>Silver</a:t>
              </a:r>
            </a:p>
            <a:p>
              <a:pPr marL="182563" indent="-182563">
                <a:buFont typeface="Courier New" panose="02070309020205020404" pitchFamily="49" charset="0"/>
                <a:buChar char="o"/>
              </a:pPr>
              <a:r>
                <a:rPr lang="en-US" sz="1100" dirty="0">
                  <a:solidFill>
                    <a:srgbClr val="1D2433"/>
                  </a:solidFill>
                </a:rPr>
                <a:t>13 contracts (type, structural NULL, key)</a:t>
              </a:r>
            </a:p>
            <a:p>
              <a:pPr marL="182563" indent="-182563">
                <a:buFont typeface="Courier New" panose="02070309020205020404" pitchFamily="49" charset="0"/>
                <a:buChar char="o"/>
              </a:pPr>
              <a:r>
                <a:rPr lang="en-US" sz="1100" dirty="0">
                  <a:solidFill>
                    <a:srgbClr val="1D2433"/>
                  </a:solidFill>
                </a:rPr>
                <a:t>Quarantine no drop. Deterministic dedupe</a:t>
              </a:r>
            </a:p>
            <a:p>
              <a:pPr marL="182563" indent="-182563">
                <a:buFont typeface="Courier New" panose="02070309020205020404" pitchFamily="49" charset="0"/>
                <a:buChar char="o"/>
              </a:pPr>
              <a:r>
                <a:rPr lang="en-US" sz="1100" dirty="0">
                  <a:solidFill>
                    <a:srgbClr val="1D2433"/>
                  </a:solidFill>
                </a:rPr>
                <a:t>PII as HMAC tokens</a:t>
              </a:r>
            </a:p>
          </p:txBody>
        </p:sp>
      </p:grpSp>
      <p:sp>
        <p:nvSpPr>
          <p:cNvPr id="36" name="CuadroTexto 35">
            <a:extLst>
              <a:ext uri="{FF2B5EF4-FFF2-40B4-BE49-F238E27FC236}">
                <a16:creationId xmlns:a16="http://schemas.microsoft.com/office/drawing/2014/main" id="{2E008CBA-EB73-65A0-F430-005B09B69CD3}"/>
              </a:ext>
            </a:extLst>
          </p:cNvPr>
          <p:cNvSpPr txBox="1"/>
          <p:nvPr/>
        </p:nvSpPr>
        <p:spPr>
          <a:xfrm>
            <a:off x="610384" y="5614696"/>
            <a:ext cx="3351229" cy="684000"/>
          </a:xfrm>
          <a:prstGeom prst="roundRect">
            <a:avLst>
              <a:gd name="adj" fmla="val 9017"/>
            </a:avLst>
          </a:prstGeom>
          <a:solidFill>
            <a:schemeClr val="bg1">
              <a:lumMod val="85000"/>
            </a:schemeClr>
          </a:solidFill>
          <a:ln>
            <a:solidFill>
              <a:schemeClr val="tx1"/>
            </a:solidFill>
          </a:ln>
        </p:spPr>
        <p:txBody>
          <a:bodyPr wrap="square" anchor="ctr" anchorCtr="0">
            <a:spAutoFit/>
          </a:bodyPr>
          <a:lstStyle/>
          <a:p>
            <a:pPr algn="ctr"/>
            <a:r>
              <a:rPr lang="en-US" sz="1400" b="1" dirty="0"/>
              <a:t>Quality</a:t>
            </a:r>
          </a:p>
          <a:p>
            <a:pPr algn="ctr"/>
            <a:r>
              <a:rPr lang="en-US" sz="1100" dirty="0">
                <a:solidFill>
                  <a:srgbClr val="1D2433"/>
                </a:solidFill>
              </a:rPr>
              <a:t>504 checks, lineage bronze = silver</a:t>
            </a:r>
          </a:p>
          <a:p>
            <a:pPr algn="ctr"/>
            <a:r>
              <a:rPr lang="en-US" sz="1100" dirty="0">
                <a:solidFill>
                  <a:srgbClr val="1D2433"/>
                </a:solidFill>
              </a:rPr>
              <a:t>freshness policy: </a:t>
            </a:r>
            <a:r>
              <a:rPr lang="es-PE" sz="1100" dirty="0">
                <a:solidFill>
                  <a:srgbClr val="1D2433"/>
                </a:solidFill>
              </a:rPr>
              <a:t>watermark + 7-day trailing window</a:t>
            </a:r>
            <a:r>
              <a:rPr lang="en-US" sz="1100" dirty="0">
                <a:solidFill>
                  <a:srgbClr val="1D2433"/>
                </a:solidFill>
              </a:rPr>
              <a:t>.</a:t>
            </a:r>
          </a:p>
        </p:txBody>
      </p:sp>
      <p:sp>
        <p:nvSpPr>
          <p:cNvPr id="41" name="CuadroTexto 40">
            <a:extLst>
              <a:ext uri="{FF2B5EF4-FFF2-40B4-BE49-F238E27FC236}">
                <a16:creationId xmlns:a16="http://schemas.microsoft.com/office/drawing/2014/main" id="{ACA23249-B9FE-8F98-F487-AECC0E5BD113}"/>
              </a:ext>
            </a:extLst>
          </p:cNvPr>
          <p:cNvSpPr txBox="1"/>
          <p:nvPr/>
        </p:nvSpPr>
        <p:spPr>
          <a:xfrm>
            <a:off x="4585019" y="1418172"/>
            <a:ext cx="3250560" cy="307777"/>
          </a:xfrm>
          <a:prstGeom prst="rect">
            <a:avLst/>
          </a:prstGeom>
          <a:noFill/>
        </p:spPr>
        <p:txBody>
          <a:bodyPr wrap="square">
            <a:spAutoFit/>
          </a:bodyPr>
          <a:lstStyle/>
          <a:p>
            <a:pPr algn="ctr"/>
            <a:r>
              <a:rPr lang="es-PE" sz="1400" b="1" dirty="0" err="1">
                <a:solidFill>
                  <a:srgbClr val="0F6E5C"/>
                </a:solidFill>
                <a:latin typeface="Calibri"/>
              </a:rPr>
              <a:t>Hypothesis</a:t>
            </a:r>
            <a:r>
              <a:rPr lang="es-PE" sz="1400" b="1" dirty="0">
                <a:solidFill>
                  <a:srgbClr val="0F6E5C"/>
                </a:solidFill>
                <a:latin typeface="Calibri"/>
              </a:rPr>
              <a:t>: </a:t>
            </a:r>
            <a:r>
              <a:rPr lang="es-PE" sz="1400" b="1" dirty="0" err="1">
                <a:solidFill>
                  <a:srgbClr val="0F6E5C"/>
                </a:solidFill>
                <a:latin typeface="Calibri"/>
              </a:rPr>
              <a:t>Behavior</a:t>
            </a:r>
            <a:r>
              <a:rPr lang="es-PE" sz="1400" b="1" dirty="0">
                <a:solidFill>
                  <a:srgbClr val="0F6E5C"/>
                </a:solidFill>
                <a:latin typeface="Calibri"/>
              </a:rPr>
              <a:t> </a:t>
            </a:r>
            <a:r>
              <a:rPr lang="es-PE" sz="1400" b="1" dirty="0" err="1">
                <a:solidFill>
                  <a:srgbClr val="0F6E5C"/>
                </a:solidFill>
                <a:latin typeface="Calibri"/>
              </a:rPr>
              <a:t>predicts</a:t>
            </a:r>
            <a:r>
              <a:rPr lang="es-PE" sz="1400" b="1" dirty="0">
                <a:solidFill>
                  <a:srgbClr val="0F6E5C"/>
                </a:solidFill>
                <a:latin typeface="Calibri"/>
              </a:rPr>
              <a:t> fraud = NO </a:t>
            </a:r>
          </a:p>
        </p:txBody>
      </p:sp>
      <p:sp>
        <p:nvSpPr>
          <p:cNvPr id="43" name="CuadroTexto 42">
            <a:extLst>
              <a:ext uri="{FF2B5EF4-FFF2-40B4-BE49-F238E27FC236}">
                <a16:creationId xmlns:a16="http://schemas.microsoft.com/office/drawing/2014/main" id="{62E81D33-51F0-C696-D196-208546384F8D}"/>
              </a:ext>
            </a:extLst>
          </p:cNvPr>
          <p:cNvSpPr txBox="1"/>
          <p:nvPr/>
        </p:nvSpPr>
        <p:spPr>
          <a:xfrm>
            <a:off x="4400261" y="2451939"/>
            <a:ext cx="3650555" cy="1523494"/>
          </a:xfrm>
          <a:prstGeom prst="rect">
            <a:avLst/>
          </a:prstGeom>
          <a:noFill/>
        </p:spPr>
        <p:txBody>
          <a:bodyPr wrap="square">
            <a:spAutoFit/>
          </a:bodyPr>
          <a:lstStyle/>
          <a:p>
            <a:pPr marL="171450" indent="-171450">
              <a:spcAft>
                <a:spcPts val="200"/>
              </a:spcAft>
              <a:buFont typeface="Courier New" panose="02070309020205020404" pitchFamily="49" charset="0"/>
              <a:buChar char="o"/>
            </a:pPr>
            <a:r>
              <a:rPr lang="en-US" sz="1100" b="1" dirty="0">
                <a:solidFill>
                  <a:srgbClr val="1D2433"/>
                </a:solidFill>
              </a:rPr>
              <a:t>Behavior has no signal</a:t>
            </a:r>
            <a:r>
              <a:rPr lang="en-US" sz="1100" dirty="0">
                <a:solidFill>
                  <a:srgbClr val="1D2433"/>
                </a:solidFill>
              </a:rPr>
              <a:t>: LightGBM and Isolation Forest rank at chance (PR-AUC 0.00096 vs base rate 0.00094).</a:t>
            </a:r>
          </a:p>
          <a:p>
            <a:pPr marL="171450" indent="-171450">
              <a:spcAft>
                <a:spcPts val="200"/>
              </a:spcAft>
              <a:buFont typeface="Courier New" panose="02070309020205020404" pitchFamily="49" charset="0"/>
              <a:buChar char="o"/>
            </a:pPr>
            <a:r>
              <a:rPr lang="en-US" sz="1100" b="1" dirty="0">
                <a:solidFill>
                  <a:srgbClr val="1D2433"/>
                </a:solidFill>
              </a:rPr>
              <a:t>Tuning does not fix it</a:t>
            </a:r>
            <a:r>
              <a:rPr lang="en-US" sz="1100" dirty="0">
                <a:solidFill>
                  <a:srgbClr val="1D2433"/>
                </a:solidFill>
              </a:rPr>
              <a:t>: Optuna (Bayesian search) and random without the score,</a:t>
            </a:r>
            <a:r>
              <a:rPr lang="en-US" sz="1100" b="1" dirty="0">
                <a:solidFill>
                  <a:srgbClr val="1D2433"/>
                </a:solidFill>
              </a:rPr>
              <a:t>−$274k</a:t>
            </a:r>
            <a:r>
              <a:rPr lang="en-US" sz="1100" dirty="0">
                <a:solidFill>
                  <a:srgbClr val="1D2433"/>
                </a:solidFill>
              </a:rPr>
              <a:t> vs the calibrated score.</a:t>
            </a:r>
          </a:p>
          <a:p>
            <a:pPr marL="171450" indent="-171450">
              <a:spcAft>
                <a:spcPts val="200"/>
              </a:spcAft>
              <a:buFont typeface="Courier New" panose="02070309020205020404" pitchFamily="49" charset="0"/>
              <a:buChar char="o"/>
            </a:pPr>
            <a:r>
              <a:rPr lang="en-US" sz="1100" b="1" dirty="0">
                <a:solidFill>
                  <a:srgbClr val="1D2433"/>
                </a:solidFill>
              </a:rPr>
              <a:t>The score is near its ceiling</a:t>
            </a:r>
            <a:r>
              <a:rPr lang="en-US" sz="1100" dirty="0">
                <a:solidFill>
                  <a:srgbClr val="1D2433"/>
                </a:solidFill>
              </a:rPr>
              <a:t>: ROC-AUC 0.823 vs 0.834 max possible (validation).</a:t>
            </a:r>
          </a:p>
          <a:p>
            <a:pPr marL="171450" indent="-171450">
              <a:spcAft>
                <a:spcPts val="200"/>
              </a:spcAft>
              <a:buFont typeface="Courier New" panose="02070309020205020404" pitchFamily="49" charset="0"/>
              <a:buChar char="o"/>
            </a:pPr>
            <a:r>
              <a:rPr lang="en-US" sz="1100" b="1" dirty="0">
                <a:solidFill>
                  <a:srgbClr val="1D2433"/>
                </a:solidFill>
              </a:rPr>
              <a:t>No text labels</a:t>
            </a:r>
            <a:r>
              <a:rPr lang="en-US" sz="1100" dirty="0">
                <a:solidFill>
                  <a:srgbClr val="1D2433"/>
                </a:solidFill>
              </a:rPr>
              <a:t>: 42 unique transcripts, so the LLM extracts intent instead.</a:t>
            </a:r>
          </a:p>
        </p:txBody>
      </p:sp>
      <p:sp>
        <p:nvSpPr>
          <p:cNvPr id="45" name="CuadroTexto 44">
            <a:extLst>
              <a:ext uri="{FF2B5EF4-FFF2-40B4-BE49-F238E27FC236}">
                <a16:creationId xmlns:a16="http://schemas.microsoft.com/office/drawing/2014/main" id="{B9D9E0D8-14F4-E836-C50F-F0DEF66237FC}"/>
              </a:ext>
            </a:extLst>
          </p:cNvPr>
          <p:cNvSpPr txBox="1"/>
          <p:nvPr/>
        </p:nvSpPr>
        <p:spPr>
          <a:xfrm>
            <a:off x="518160" y="1773072"/>
            <a:ext cx="3556000" cy="738664"/>
          </a:xfrm>
          <a:prstGeom prst="rect">
            <a:avLst/>
          </a:prstGeom>
          <a:noFill/>
        </p:spPr>
        <p:txBody>
          <a:bodyPr wrap="square">
            <a:spAutoFit/>
          </a:bodyPr>
          <a:lstStyle/>
          <a:p>
            <a:pPr algn="ctr"/>
            <a:r>
              <a:rPr lang="en-US" sz="1400" b="1" dirty="0"/>
              <a:t>Built to scale</a:t>
            </a:r>
            <a:r>
              <a:rPr lang="en-US" sz="1400" dirty="0"/>
              <a:t>: new data only reprocesses what changed, and bad data is caught before reaching the model.</a:t>
            </a:r>
            <a:endParaRPr lang="es-PE" sz="1400" dirty="0"/>
          </a:p>
        </p:txBody>
      </p:sp>
      <p:sp>
        <p:nvSpPr>
          <p:cNvPr id="47" name="Rectángulo 46">
            <a:extLst>
              <a:ext uri="{FF2B5EF4-FFF2-40B4-BE49-F238E27FC236}">
                <a16:creationId xmlns:a16="http://schemas.microsoft.com/office/drawing/2014/main" id="{AA5F2AAA-26E1-CA02-A788-5E36EBB94997}"/>
              </a:ext>
            </a:extLst>
          </p:cNvPr>
          <p:cNvSpPr/>
          <p:nvPr/>
        </p:nvSpPr>
        <p:spPr>
          <a:xfrm>
            <a:off x="560265" y="1818086"/>
            <a:ext cx="1080000"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9" name="CuadroTexto 48">
            <a:extLst>
              <a:ext uri="{FF2B5EF4-FFF2-40B4-BE49-F238E27FC236}">
                <a16:creationId xmlns:a16="http://schemas.microsoft.com/office/drawing/2014/main" id="{BD46DF3F-B842-3FBC-4B9E-EC5C25FB5F32}"/>
              </a:ext>
            </a:extLst>
          </p:cNvPr>
          <p:cNvSpPr txBox="1"/>
          <p:nvPr/>
        </p:nvSpPr>
        <p:spPr>
          <a:xfrm>
            <a:off x="4571999" y="1799793"/>
            <a:ext cx="3307081" cy="523220"/>
          </a:xfrm>
          <a:prstGeom prst="rect">
            <a:avLst/>
          </a:prstGeom>
          <a:noFill/>
        </p:spPr>
        <p:txBody>
          <a:bodyPr wrap="square">
            <a:spAutoFit/>
          </a:bodyPr>
          <a:lstStyle/>
          <a:p>
            <a:pPr algn="ctr"/>
            <a:r>
              <a:rPr lang="en-US" sz="1400" dirty="0"/>
              <a:t>The bank’s fraud score is the only fraud signal, and </a:t>
            </a:r>
            <a:r>
              <a:rPr lang="en-US" sz="1400" b="1" dirty="0"/>
              <a:t>it is already near its best</a:t>
            </a:r>
            <a:r>
              <a:rPr lang="en-US" sz="1400" dirty="0"/>
              <a:t>.</a:t>
            </a:r>
          </a:p>
        </p:txBody>
      </p:sp>
      <p:sp>
        <p:nvSpPr>
          <p:cNvPr id="51" name="Rectángulo 50">
            <a:extLst>
              <a:ext uri="{FF2B5EF4-FFF2-40B4-BE49-F238E27FC236}">
                <a16:creationId xmlns:a16="http://schemas.microsoft.com/office/drawing/2014/main" id="{3EA58E19-A099-E69B-7F0D-9679A6349F18}"/>
              </a:ext>
            </a:extLst>
          </p:cNvPr>
          <p:cNvSpPr/>
          <p:nvPr/>
        </p:nvSpPr>
        <p:spPr>
          <a:xfrm>
            <a:off x="5690618" y="2056331"/>
            <a:ext cx="1872861"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5" name="Rectangle 9">
            <a:extLst>
              <a:ext uri="{FF2B5EF4-FFF2-40B4-BE49-F238E27FC236}">
                <a16:creationId xmlns:a16="http://schemas.microsoft.com/office/drawing/2014/main" id="{E547821B-4EEF-C8DD-D0EE-C615F160ADF3}"/>
              </a:ext>
            </a:extLst>
          </p:cNvPr>
          <p:cNvSpPr/>
          <p:nvPr/>
        </p:nvSpPr>
        <p:spPr>
          <a:xfrm>
            <a:off x="8275320" y="2446523"/>
            <a:ext cx="3520440" cy="1644679"/>
          </a:xfrm>
          <a:prstGeom prst="roundRect">
            <a:avLst>
              <a:gd name="adj" fmla="val 4703"/>
            </a:avLst>
          </a:prstGeom>
          <a:solidFill>
            <a:srgbClr val="FFFFFF">
              <a:alpha val="90000"/>
            </a:srgbClr>
          </a:solidFill>
          <a:ln>
            <a:solidFill>
              <a:srgbClr val="E3F3E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spcAft>
                <a:spcPts val="300"/>
              </a:spcAft>
            </a:pPr>
            <a:endParaRPr sz="1100" b="0" dirty="0">
              <a:solidFill>
                <a:srgbClr val="1D2433"/>
              </a:solidFill>
              <a:latin typeface="Calibri"/>
            </a:endParaRPr>
          </a:p>
        </p:txBody>
      </p:sp>
      <p:graphicFrame>
        <p:nvGraphicFramePr>
          <p:cNvPr id="57" name="Chart 8">
            <a:extLst>
              <a:ext uri="{FF2B5EF4-FFF2-40B4-BE49-F238E27FC236}">
                <a16:creationId xmlns:a16="http://schemas.microsoft.com/office/drawing/2014/main" id="{CC4745AD-2961-77BA-9CA0-E7D6F72EEDD0}"/>
              </a:ext>
            </a:extLst>
          </p:cNvPr>
          <p:cNvGraphicFramePr>
            <a:graphicFrameLocks noGrp="1"/>
          </p:cNvGraphicFramePr>
          <p:nvPr>
            <p:extLst>
              <p:ext uri="{D42A27DB-BD31-4B8C-83A1-F6EECF244321}">
                <p14:modId xmlns:p14="http://schemas.microsoft.com/office/powerpoint/2010/main" val="1386175550"/>
              </p:ext>
            </p:extLst>
          </p:nvPr>
        </p:nvGraphicFramePr>
        <p:xfrm>
          <a:off x="8235563" y="2785592"/>
          <a:ext cx="3520440" cy="1562302"/>
        </p:xfrm>
        <a:graphic>
          <a:graphicData uri="http://schemas.openxmlformats.org/drawingml/2006/chart">
            <c:chart xmlns:c="http://schemas.openxmlformats.org/drawingml/2006/chart" xmlns:r="http://schemas.openxmlformats.org/officeDocument/2006/relationships" r:id="rId10"/>
          </a:graphicData>
        </a:graphic>
      </p:graphicFrame>
      <p:sp>
        <p:nvSpPr>
          <p:cNvPr id="59" name="CuadroTexto 58">
            <a:extLst>
              <a:ext uri="{FF2B5EF4-FFF2-40B4-BE49-F238E27FC236}">
                <a16:creationId xmlns:a16="http://schemas.microsoft.com/office/drawing/2014/main" id="{3931CC52-3728-8F07-D107-289FB43128DC}"/>
              </a:ext>
            </a:extLst>
          </p:cNvPr>
          <p:cNvSpPr txBox="1"/>
          <p:nvPr/>
        </p:nvSpPr>
        <p:spPr>
          <a:xfrm>
            <a:off x="8424391" y="2532976"/>
            <a:ext cx="3250560" cy="307777"/>
          </a:xfrm>
          <a:prstGeom prst="rect">
            <a:avLst/>
          </a:prstGeom>
          <a:noFill/>
        </p:spPr>
        <p:txBody>
          <a:bodyPr wrap="square">
            <a:spAutoFit/>
          </a:bodyPr>
          <a:lstStyle/>
          <a:p>
            <a:pPr algn="ctr"/>
            <a:r>
              <a:rPr lang="en-US" sz="1400" b="1" dirty="0">
                <a:solidFill>
                  <a:srgbClr val="0F6E5C"/>
                </a:solidFill>
              </a:rPr>
              <a:t>Net benefit $ - Calibrated test (offline)</a:t>
            </a:r>
          </a:p>
        </p:txBody>
      </p:sp>
      <p:sp>
        <p:nvSpPr>
          <p:cNvPr id="61" name="Rectangle 9">
            <a:extLst>
              <a:ext uri="{FF2B5EF4-FFF2-40B4-BE49-F238E27FC236}">
                <a16:creationId xmlns:a16="http://schemas.microsoft.com/office/drawing/2014/main" id="{A18D15DB-23EE-032A-3585-C25F794227A5}"/>
              </a:ext>
            </a:extLst>
          </p:cNvPr>
          <p:cNvSpPr/>
          <p:nvPr/>
        </p:nvSpPr>
        <p:spPr>
          <a:xfrm>
            <a:off x="8275320" y="1375508"/>
            <a:ext cx="3520440" cy="911639"/>
          </a:xfrm>
          <a:prstGeom prst="roundRect">
            <a:avLst>
              <a:gd name="adj" fmla="val 4703"/>
            </a:avLst>
          </a:prstGeom>
          <a:solidFill>
            <a:srgbClr val="FFFFFF">
              <a:alpha val="90000"/>
            </a:srgbClr>
          </a:solidFill>
          <a:ln>
            <a:solidFill>
              <a:srgbClr val="E3F3EF"/>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73152" rtlCol="0" anchor="t"/>
          <a:lstStyle/>
          <a:p>
            <a:pPr algn="ctr">
              <a:spcAft>
                <a:spcPts val="300"/>
              </a:spcAft>
            </a:pPr>
            <a:endParaRPr sz="1100" b="0" dirty="0">
              <a:solidFill>
                <a:srgbClr val="1D2433"/>
              </a:solidFill>
              <a:latin typeface="Calibri"/>
            </a:endParaRPr>
          </a:p>
        </p:txBody>
      </p:sp>
      <p:sp>
        <p:nvSpPr>
          <p:cNvPr id="63" name="CuadroTexto 62">
            <a:extLst>
              <a:ext uri="{FF2B5EF4-FFF2-40B4-BE49-F238E27FC236}">
                <a16:creationId xmlns:a16="http://schemas.microsoft.com/office/drawing/2014/main" id="{39756469-6D7C-BC3C-FF72-A74C8FC42458}"/>
              </a:ext>
            </a:extLst>
          </p:cNvPr>
          <p:cNvSpPr txBox="1"/>
          <p:nvPr/>
        </p:nvSpPr>
        <p:spPr>
          <a:xfrm>
            <a:off x="8370503" y="1418172"/>
            <a:ext cx="3250560" cy="307777"/>
          </a:xfrm>
          <a:prstGeom prst="rect">
            <a:avLst/>
          </a:prstGeom>
          <a:noFill/>
        </p:spPr>
        <p:txBody>
          <a:bodyPr wrap="square">
            <a:spAutoFit/>
          </a:bodyPr>
          <a:lstStyle/>
          <a:p>
            <a:pPr algn="ctr"/>
            <a:r>
              <a:rPr lang="es-MX" sz="1400" b="1" dirty="0">
                <a:solidFill>
                  <a:srgbClr val="0F6E5C"/>
                </a:solidFill>
                <a:latin typeface="Calibri"/>
              </a:rPr>
              <a:t>L</a:t>
            </a:r>
            <a:r>
              <a:rPr lang="es-PE" sz="1400" b="1" dirty="0" err="1">
                <a:solidFill>
                  <a:srgbClr val="0F6E5C"/>
                </a:solidFill>
                <a:latin typeface="Calibri"/>
              </a:rPr>
              <a:t>eakage</a:t>
            </a:r>
            <a:r>
              <a:rPr lang="es-PE" sz="1400" b="1" dirty="0">
                <a:solidFill>
                  <a:srgbClr val="0F6E5C"/>
                </a:solidFill>
                <a:latin typeface="Calibri"/>
              </a:rPr>
              <a:t> prevention</a:t>
            </a:r>
          </a:p>
        </p:txBody>
      </p:sp>
      <p:sp>
        <p:nvSpPr>
          <p:cNvPr id="65" name="CuadroTexto 64">
            <a:extLst>
              <a:ext uri="{FF2B5EF4-FFF2-40B4-BE49-F238E27FC236}">
                <a16:creationId xmlns:a16="http://schemas.microsoft.com/office/drawing/2014/main" id="{CD7A0358-E3D3-F92F-A268-B7AF1E548437}"/>
              </a:ext>
            </a:extLst>
          </p:cNvPr>
          <p:cNvSpPr txBox="1"/>
          <p:nvPr/>
        </p:nvSpPr>
        <p:spPr>
          <a:xfrm>
            <a:off x="8275320" y="1752151"/>
            <a:ext cx="3520440" cy="430887"/>
          </a:xfrm>
          <a:prstGeom prst="rect">
            <a:avLst/>
          </a:prstGeom>
          <a:noFill/>
        </p:spPr>
        <p:txBody>
          <a:bodyPr wrap="square">
            <a:spAutoFit/>
          </a:bodyPr>
          <a:lstStyle/>
          <a:p>
            <a:pPr algn="ctr"/>
            <a:r>
              <a:rPr lang="en-US" sz="1100" dirty="0"/>
              <a:t>Every result comes from data the model never saw.</a:t>
            </a:r>
          </a:p>
          <a:p>
            <a:pPr algn="ctr"/>
            <a:r>
              <a:rPr lang="en-US" sz="1100" dirty="0"/>
              <a:t>Time splits: train &lt; Jul 2025 ≤ validation &lt; Jan 2026 ≤ test.</a:t>
            </a:r>
          </a:p>
        </p:txBody>
      </p:sp>
      <p:sp>
        <p:nvSpPr>
          <p:cNvPr id="67" name="CuadroTexto 66">
            <a:extLst>
              <a:ext uri="{FF2B5EF4-FFF2-40B4-BE49-F238E27FC236}">
                <a16:creationId xmlns:a16="http://schemas.microsoft.com/office/drawing/2014/main" id="{A2DBA143-3CCF-1884-ACE8-0957EFBD20D4}"/>
              </a:ext>
            </a:extLst>
          </p:cNvPr>
          <p:cNvSpPr txBox="1"/>
          <p:nvPr/>
        </p:nvSpPr>
        <p:spPr>
          <a:xfrm>
            <a:off x="4477017" y="4695651"/>
            <a:ext cx="2265744" cy="1384995"/>
          </a:xfrm>
          <a:prstGeom prst="rect">
            <a:avLst/>
          </a:prstGeom>
          <a:noFill/>
        </p:spPr>
        <p:txBody>
          <a:bodyPr wrap="square">
            <a:spAutoFit/>
          </a:bodyPr>
          <a:lstStyle/>
          <a:p>
            <a:pPr algn="ctr"/>
            <a:r>
              <a:rPr lang="es-PE" sz="2800" b="1" dirty="0">
                <a:solidFill>
                  <a:srgbClr val="0F6E5C"/>
                </a:solidFill>
                <a:latin typeface="Calibri"/>
              </a:rPr>
              <a:t>The</a:t>
            </a:r>
          </a:p>
          <a:p>
            <a:pPr algn="ctr"/>
            <a:r>
              <a:rPr lang="es-PE" sz="2800" b="1" dirty="0">
                <a:solidFill>
                  <a:srgbClr val="0F6E5C"/>
                </a:solidFill>
                <a:latin typeface="Calibri"/>
              </a:rPr>
              <a:t>LEARNED</a:t>
            </a:r>
          </a:p>
          <a:p>
            <a:pPr algn="ctr"/>
            <a:r>
              <a:rPr lang="es-PE" sz="2800" b="1" dirty="0">
                <a:solidFill>
                  <a:srgbClr val="0F6E5C"/>
                </a:solidFill>
                <a:latin typeface="Calibri"/>
              </a:rPr>
              <a:t>COMPONENT</a:t>
            </a:r>
          </a:p>
        </p:txBody>
      </p:sp>
      <p:sp>
        <p:nvSpPr>
          <p:cNvPr id="69" name="CuadroTexto 68">
            <a:extLst>
              <a:ext uri="{FF2B5EF4-FFF2-40B4-BE49-F238E27FC236}">
                <a16:creationId xmlns:a16="http://schemas.microsoft.com/office/drawing/2014/main" id="{D15C0782-6D9F-F3EC-EA72-E8D607059DFF}"/>
              </a:ext>
            </a:extLst>
          </p:cNvPr>
          <p:cNvSpPr txBox="1"/>
          <p:nvPr/>
        </p:nvSpPr>
        <p:spPr>
          <a:xfrm>
            <a:off x="6742761" y="4518927"/>
            <a:ext cx="4878302" cy="1677382"/>
          </a:xfrm>
          <a:prstGeom prst="rect">
            <a:avLst/>
          </a:prstGeom>
          <a:noFill/>
        </p:spPr>
        <p:txBody>
          <a:bodyPr wrap="square">
            <a:spAutoFit/>
          </a:bodyPr>
          <a:lstStyle/>
          <a:p>
            <a:pPr>
              <a:spcAft>
                <a:spcPts val="200"/>
              </a:spcAft>
            </a:pPr>
            <a:r>
              <a:rPr lang="en-US" sz="1400" b="1" dirty="0">
                <a:solidFill>
                  <a:srgbClr val="1D2433"/>
                </a:solidFill>
                <a:latin typeface="Calibri"/>
              </a:rPr>
              <a:t>Calibrating the score is what creates the value</a:t>
            </a:r>
            <a:r>
              <a:rPr lang="en-US" sz="1400" b="0" dirty="0">
                <a:solidFill>
                  <a:srgbClr val="1D2433"/>
                </a:solidFill>
                <a:latin typeface="Calibri"/>
              </a:rPr>
              <a:t>:</a:t>
            </a:r>
          </a:p>
          <a:p>
            <a:pPr>
              <a:spcAft>
                <a:spcPts val="200"/>
              </a:spcAft>
            </a:pPr>
            <a:r>
              <a:rPr lang="en-US" sz="1400" b="1" dirty="0">
                <a:solidFill>
                  <a:srgbClr val="1D2433"/>
                </a:solidFill>
                <a:latin typeface="Calibri"/>
              </a:rPr>
              <a:t>+USD 256k (Bayesian blocks)</a:t>
            </a:r>
            <a:r>
              <a:rPr lang="en-US" sz="1400" b="0" dirty="0">
                <a:solidFill>
                  <a:srgbClr val="1D2433"/>
                </a:solidFill>
                <a:latin typeface="Calibri"/>
              </a:rPr>
              <a:t> vs knowing nothing (no skill) the raw score loses money. (</a:t>
            </a:r>
            <a:r>
              <a:rPr lang="en-US" sz="1400" b="0" dirty="0">
                <a:solidFill>
                  <a:srgbClr val="C00000"/>
                </a:solidFill>
                <a:latin typeface="Calibri"/>
              </a:rPr>
              <a:t>definition in src/models/calibration.py</a:t>
            </a:r>
            <a:r>
              <a:rPr lang="en-US" sz="1400" b="0" dirty="0">
                <a:solidFill>
                  <a:srgbClr val="1D2433"/>
                </a:solidFill>
                <a:latin typeface="Calibri"/>
              </a:rPr>
              <a:t>)</a:t>
            </a:r>
          </a:p>
          <a:p>
            <a:pPr>
              <a:spcAft>
                <a:spcPts val="200"/>
              </a:spcAft>
            </a:pPr>
            <a:r>
              <a:rPr lang="en-US" sz="1400" b="0" dirty="0">
                <a:solidFill>
                  <a:srgbClr val="1D2433"/>
                </a:solidFill>
                <a:latin typeface="Calibri"/>
              </a:rPr>
              <a:t>• </a:t>
            </a:r>
            <a:r>
              <a:rPr lang="en-US" sz="1400" b="1" dirty="0">
                <a:solidFill>
                  <a:srgbClr val="1D2433"/>
                </a:solidFill>
                <a:latin typeface="Calibri"/>
              </a:rPr>
              <a:t>Bayesian-blocks calibrator</a:t>
            </a:r>
            <a:r>
              <a:rPr lang="en-US" sz="1400" b="0" dirty="0">
                <a:solidFill>
                  <a:srgbClr val="1D2433"/>
                </a:solidFill>
                <a:latin typeface="Calibri"/>
              </a:rPr>
              <a:t> finds the 30.00 edge itself; a credible interval tells the policy when to abstain.</a:t>
            </a:r>
          </a:p>
          <a:p>
            <a:pPr>
              <a:spcAft>
                <a:spcPts val="200"/>
              </a:spcAft>
            </a:pPr>
            <a:r>
              <a:rPr lang="en-US" sz="1400" b="0" dirty="0">
                <a:solidFill>
                  <a:srgbClr val="1D2433"/>
                </a:solidFill>
                <a:latin typeface="Calibri"/>
              </a:rPr>
              <a:t>• </a:t>
            </a:r>
            <a:r>
              <a:rPr lang="en-US" sz="1400" b="1" dirty="0">
                <a:solidFill>
                  <a:srgbClr val="1D2433"/>
                </a:solidFill>
                <a:latin typeface="Calibri"/>
              </a:rPr>
              <a:t>Disparities</a:t>
            </a:r>
            <a:r>
              <a:rPr lang="en-US" sz="1400" b="0" dirty="0">
                <a:solidFill>
                  <a:srgbClr val="1D2433"/>
                </a:solidFill>
                <a:latin typeface="Calibri"/>
              </a:rPr>
              <a:t>: No age band, segment, or country showed a statistically significant difference (Holm p ≈ 1)</a:t>
            </a:r>
          </a:p>
        </p:txBody>
      </p:sp>
      <p:sp>
        <p:nvSpPr>
          <p:cNvPr id="71" name="Rectángulo 70">
            <a:extLst>
              <a:ext uri="{FF2B5EF4-FFF2-40B4-BE49-F238E27FC236}">
                <a16:creationId xmlns:a16="http://schemas.microsoft.com/office/drawing/2014/main" id="{1C2642F0-8C82-30D9-954C-4F9208D2A019}"/>
              </a:ext>
            </a:extLst>
          </p:cNvPr>
          <p:cNvSpPr/>
          <p:nvPr/>
        </p:nvSpPr>
        <p:spPr>
          <a:xfrm>
            <a:off x="6779448" y="4811665"/>
            <a:ext cx="2181672" cy="216000"/>
          </a:xfrm>
          <a:prstGeom prst="rect">
            <a:avLst/>
          </a:prstGeom>
          <a:noFill/>
          <a:ln>
            <a:solidFill>
              <a:srgbClr val="C00000"/>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00170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DF7A3CD-20F4-4FD4-0057-60B0E362301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19" name="Rectángulo: esquinas redondeadas 18">
            <a:extLst>
              <a:ext uri="{FF2B5EF4-FFF2-40B4-BE49-F238E27FC236}">
                <a16:creationId xmlns:a16="http://schemas.microsoft.com/office/drawing/2014/main" id="{F86BD952-A18C-4290-0E25-EC17F91D5FF4}"/>
              </a:ext>
            </a:extLst>
          </p:cNvPr>
          <p:cNvSpPr/>
          <p:nvPr/>
        </p:nvSpPr>
        <p:spPr>
          <a:xfrm>
            <a:off x="487679" y="1331716"/>
            <a:ext cx="11300461" cy="2093608"/>
          </a:xfrm>
          <a:prstGeom prst="roundRect">
            <a:avLst>
              <a:gd name="adj" fmla="val 4225"/>
            </a:avLst>
          </a:prstGeom>
          <a:solidFill>
            <a:srgbClr val="FFFFFF">
              <a:alpha val="90000"/>
            </a:srgbClr>
          </a:solidFill>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TextBox 2">
            <a:extLst>
              <a:ext uri="{FF2B5EF4-FFF2-40B4-BE49-F238E27FC236}">
                <a16:creationId xmlns:a16="http://schemas.microsoft.com/office/drawing/2014/main" id="{BD88717D-A9E5-221F-C549-A7F54A1401B8}"/>
              </a:ext>
            </a:extLst>
          </p:cNvPr>
          <p:cNvSpPr txBox="1"/>
          <p:nvPr/>
        </p:nvSpPr>
        <p:spPr>
          <a:xfrm>
            <a:off x="2513924" y="479512"/>
            <a:ext cx="9512171" cy="584775"/>
          </a:xfrm>
          <a:prstGeom prst="rect">
            <a:avLst/>
          </a:prstGeom>
          <a:noFill/>
        </p:spPr>
        <p:txBody>
          <a:bodyPr wrap="square">
            <a:spAutoFit/>
          </a:bodyPr>
          <a:lstStyle/>
          <a:p>
            <a:r>
              <a:rPr lang="es-MX" sz="3200" b="1" dirty="0">
                <a:solidFill>
                  <a:srgbClr val="FFFFFF"/>
                </a:solidFill>
                <a:latin typeface="Calibri"/>
              </a:rPr>
              <a:t>Bianque </a:t>
            </a:r>
            <a:r>
              <a:rPr lang="en-US" sz="3200" b="1" dirty="0">
                <a:solidFill>
                  <a:schemeClr val="bg1"/>
                </a:solidFill>
              </a:rPr>
              <a:t>works, we </a:t>
            </a:r>
            <a:r>
              <a:rPr lang="en-US" sz="3200" b="1" dirty="0">
                <a:solidFill>
                  <a:srgbClr val="76E0D1"/>
                </a:solidFill>
              </a:rPr>
              <a:t>proved it</a:t>
            </a:r>
            <a:r>
              <a:rPr lang="en-US" sz="3200" b="1" dirty="0">
                <a:solidFill>
                  <a:schemeClr val="bg1"/>
                </a:solidFill>
              </a:rPr>
              <a:t>, it knows when not to act</a:t>
            </a:r>
            <a:endParaRPr lang="es-MX" sz="3200" b="1" dirty="0">
              <a:solidFill>
                <a:schemeClr val="bg1"/>
              </a:solidFill>
              <a:latin typeface="Calibri"/>
            </a:endParaRPr>
          </a:p>
        </p:txBody>
      </p:sp>
      <p:sp>
        <p:nvSpPr>
          <p:cNvPr id="6" name="TextBox 2">
            <a:extLst>
              <a:ext uri="{FF2B5EF4-FFF2-40B4-BE49-F238E27FC236}">
                <a16:creationId xmlns:a16="http://schemas.microsoft.com/office/drawing/2014/main" id="{4F88F226-B68E-0319-EE73-19A6B9A470D4}"/>
              </a:ext>
            </a:extLst>
          </p:cNvPr>
          <p:cNvSpPr txBox="1"/>
          <p:nvPr/>
        </p:nvSpPr>
        <p:spPr>
          <a:xfrm>
            <a:off x="741331" y="1452606"/>
            <a:ext cx="11247120" cy="289310"/>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pPr>
            <a:r>
              <a:rPr lang="es-MX" sz="1400" b="1" dirty="0">
                <a:solidFill>
                  <a:srgbClr val="145A50"/>
                </a:solidFill>
                <a:latin typeface="Calibri"/>
              </a:rPr>
              <a:t>Agent Evaluation: </a:t>
            </a:r>
            <a:r>
              <a:rPr sz="1400" b="0" dirty="0">
                <a:latin typeface="Calibri"/>
              </a:rPr>
              <a:t>74 held-out conversations against the real agent and Gemini</a:t>
            </a:r>
            <a:r>
              <a:rPr lang="es-MX" sz="1400" b="0" dirty="0">
                <a:latin typeface="Calibri"/>
              </a:rPr>
              <a:t>. </a:t>
            </a:r>
            <a:r>
              <a:rPr lang="es-MX" sz="1400" b="1" dirty="0">
                <a:latin typeface="Calibri"/>
              </a:rPr>
              <a:t>1.3 s to reply (p95 at 1.7s)</a:t>
            </a:r>
            <a:endParaRPr sz="1400" b="1" dirty="0">
              <a:latin typeface="Calibri"/>
            </a:endParaRPr>
          </a:p>
        </p:txBody>
      </p:sp>
      <p:sp>
        <p:nvSpPr>
          <p:cNvPr id="7" name="Oval 3">
            <a:extLst>
              <a:ext uri="{FF2B5EF4-FFF2-40B4-BE49-F238E27FC236}">
                <a16:creationId xmlns:a16="http://schemas.microsoft.com/office/drawing/2014/main" id="{024E89F5-7382-837F-A6EB-1B64320CDABE}"/>
              </a:ext>
            </a:extLst>
          </p:cNvPr>
          <p:cNvSpPr/>
          <p:nvPr/>
        </p:nvSpPr>
        <p:spPr>
          <a:xfrm>
            <a:off x="1027658" y="1809625"/>
            <a:ext cx="1116000" cy="1008000"/>
          </a:xfrm>
          <a:prstGeom prst="ellipse">
            <a:avLst/>
          </a:prstGeom>
          <a:solidFill>
            <a:srgbClr val="FFFFFF"/>
          </a:solidFill>
          <a:ln w="38100">
            <a:solidFill>
              <a:srgbClr val="E2B03A"/>
            </a:solid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2000" b="1" dirty="0">
                <a:solidFill>
                  <a:schemeClr val="tx1"/>
                </a:solidFill>
                <a:latin typeface="Calibri"/>
              </a:rPr>
              <a:t>0</a:t>
            </a:r>
          </a:p>
          <a:p>
            <a:pPr algn="ctr">
              <a:spcAft>
                <a:spcPts val="200"/>
              </a:spcAft>
            </a:pPr>
            <a:r>
              <a:rPr sz="1100" b="1" dirty="0">
                <a:solidFill>
                  <a:schemeClr val="tx1"/>
                </a:solidFill>
                <a:latin typeface="Calibri"/>
              </a:rPr>
              <a:t>unsafe outcomes</a:t>
            </a:r>
          </a:p>
        </p:txBody>
      </p:sp>
      <p:sp>
        <p:nvSpPr>
          <p:cNvPr id="8" name="TextBox 4">
            <a:extLst>
              <a:ext uri="{FF2B5EF4-FFF2-40B4-BE49-F238E27FC236}">
                <a16:creationId xmlns:a16="http://schemas.microsoft.com/office/drawing/2014/main" id="{E793B3DC-04D7-83D6-63C1-2FFCC4C2FEB9}"/>
              </a:ext>
            </a:extLst>
          </p:cNvPr>
          <p:cNvSpPr txBox="1"/>
          <p:nvPr/>
        </p:nvSpPr>
        <p:spPr>
          <a:xfrm>
            <a:off x="725300" y="2871366"/>
            <a:ext cx="1828800" cy="438069"/>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200"/>
              </a:spcAft>
            </a:pPr>
            <a:r>
              <a:rPr sz="1100" b="0" dirty="0">
                <a:latin typeface="Calibri"/>
              </a:rPr>
              <a:t>in 74 conversations</a:t>
            </a:r>
          </a:p>
          <a:p>
            <a:pPr algn="ctr">
              <a:spcAft>
                <a:spcPts val="200"/>
              </a:spcAft>
            </a:pPr>
            <a:r>
              <a:rPr sz="1100" b="0" dirty="0">
                <a:latin typeface="Calibri"/>
              </a:rPr>
              <a:t>(~4% with 95% confidence)</a:t>
            </a:r>
          </a:p>
        </p:txBody>
      </p:sp>
      <p:sp>
        <p:nvSpPr>
          <p:cNvPr id="9" name="Oval 5">
            <a:extLst>
              <a:ext uri="{FF2B5EF4-FFF2-40B4-BE49-F238E27FC236}">
                <a16:creationId xmlns:a16="http://schemas.microsoft.com/office/drawing/2014/main" id="{31A71493-06B0-A287-F05D-E3574EF4B783}"/>
              </a:ext>
            </a:extLst>
          </p:cNvPr>
          <p:cNvSpPr/>
          <p:nvPr/>
        </p:nvSpPr>
        <p:spPr>
          <a:xfrm>
            <a:off x="2719633" y="1809626"/>
            <a:ext cx="1116000" cy="1008000"/>
          </a:xfrm>
          <a:prstGeom prst="ellipse">
            <a:avLst/>
          </a:prstGeom>
          <a:solidFill>
            <a:srgbClr val="FFFFFF"/>
          </a:solidFill>
          <a:ln w="38100">
            <a:solidFill>
              <a:srgbClr val="E2B03A"/>
            </a:solid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2000" b="1" dirty="0">
                <a:solidFill>
                  <a:schemeClr val="tx1"/>
                </a:solidFill>
                <a:latin typeface="Calibri"/>
              </a:rPr>
              <a:t>39/39</a:t>
            </a:r>
          </a:p>
          <a:p>
            <a:pPr algn="ctr">
              <a:spcAft>
                <a:spcPts val="200"/>
              </a:spcAft>
            </a:pPr>
            <a:r>
              <a:rPr sz="1100" b="1" dirty="0">
                <a:solidFill>
                  <a:schemeClr val="tx1"/>
                </a:solidFill>
                <a:latin typeface="Calibri"/>
              </a:rPr>
              <a:t>eligible cases</a:t>
            </a:r>
          </a:p>
        </p:txBody>
      </p:sp>
      <p:sp>
        <p:nvSpPr>
          <p:cNvPr id="10" name="TextBox 6">
            <a:extLst>
              <a:ext uri="{FF2B5EF4-FFF2-40B4-BE49-F238E27FC236}">
                <a16:creationId xmlns:a16="http://schemas.microsoft.com/office/drawing/2014/main" id="{08FDA4C8-4799-0103-75C9-0FF96AC274F1}"/>
              </a:ext>
            </a:extLst>
          </p:cNvPr>
          <p:cNvSpPr txBox="1"/>
          <p:nvPr/>
        </p:nvSpPr>
        <p:spPr>
          <a:xfrm>
            <a:off x="2417274" y="2871366"/>
            <a:ext cx="1828800" cy="438069"/>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200"/>
              </a:spcAft>
            </a:pPr>
            <a:r>
              <a:rPr sz="1100" b="0" dirty="0">
                <a:latin typeface="Calibri"/>
              </a:rPr>
              <a:t>resolved safely,</a:t>
            </a:r>
          </a:p>
          <a:p>
            <a:pPr algn="ctr">
              <a:spcAft>
                <a:spcPts val="200"/>
              </a:spcAft>
            </a:pPr>
            <a:r>
              <a:rPr sz="1100" b="0" dirty="0">
                <a:latin typeface="Calibri"/>
              </a:rPr>
              <a:t>with no human needed</a:t>
            </a:r>
          </a:p>
        </p:txBody>
      </p:sp>
      <p:sp>
        <p:nvSpPr>
          <p:cNvPr id="11" name="Oval 7">
            <a:extLst>
              <a:ext uri="{FF2B5EF4-FFF2-40B4-BE49-F238E27FC236}">
                <a16:creationId xmlns:a16="http://schemas.microsoft.com/office/drawing/2014/main" id="{1F1B2A1F-5ADC-7969-0083-4A655A2FE71D}"/>
              </a:ext>
            </a:extLst>
          </p:cNvPr>
          <p:cNvSpPr/>
          <p:nvPr/>
        </p:nvSpPr>
        <p:spPr>
          <a:xfrm>
            <a:off x="4385032" y="1809626"/>
            <a:ext cx="1116000" cy="1008000"/>
          </a:xfrm>
          <a:prstGeom prst="ellipse">
            <a:avLst/>
          </a:prstGeom>
          <a:solidFill>
            <a:srgbClr val="FFFFFF"/>
          </a:solidFill>
          <a:ln w="38100">
            <a:solidFill>
              <a:srgbClr val="E2B03A"/>
            </a:solid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2000" b="1" dirty="0">
                <a:solidFill>
                  <a:schemeClr val="tx1"/>
                </a:solidFill>
                <a:latin typeface="Calibri"/>
              </a:rPr>
              <a:t>9/9</a:t>
            </a:r>
          </a:p>
          <a:p>
            <a:pPr algn="ctr">
              <a:spcAft>
                <a:spcPts val="200"/>
              </a:spcAft>
            </a:pPr>
            <a:r>
              <a:rPr sz="1100" b="1" dirty="0">
                <a:solidFill>
                  <a:schemeClr val="tx1"/>
                </a:solidFill>
                <a:latin typeface="Calibri"/>
              </a:rPr>
              <a:t>human handoffs</a:t>
            </a:r>
          </a:p>
        </p:txBody>
      </p:sp>
      <p:sp>
        <p:nvSpPr>
          <p:cNvPr id="12" name="TextBox 8">
            <a:extLst>
              <a:ext uri="{FF2B5EF4-FFF2-40B4-BE49-F238E27FC236}">
                <a16:creationId xmlns:a16="http://schemas.microsoft.com/office/drawing/2014/main" id="{00C7E529-4226-B3B8-EFB1-45A13A3AA874}"/>
              </a:ext>
            </a:extLst>
          </p:cNvPr>
          <p:cNvSpPr txBox="1"/>
          <p:nvPr/>
        </p:nvSpPr>
        <p:spPr>
          <a:xfrm>
            <a:off x="4064632" y="2871366"/>
            <a:ext cx="1828800" cy="438069"/>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200"/>
              </a:spcAft>
            </a:pPr>
            <a:r>
              <a:rPr sz="1100" b="0" dirty="0">
                <a:latin typeface="Calibri"/>
              </a:rPr>
              <a:t>correct: 0 missed,</a:t>
            </a:r>
          </a:p>
          <a:p>
            <a:pPr algn="ctr">
              <a:spcAft>
                <a:spcPts val="200"/>
              </a:spcAft>
            </a:pPr>
            <a:r>
              <a:rPr sz="1100" b="0" dirty="0">
                <a:latin typeface="Calibri"/>
              </a:rPr>
              <a:t>0 unnecessary</a:t>
            </a:r>
          </a:p>
        </p:txBody>
      </p:sp>
      <p:sp>
        <p:nvSpPr>
          <p:cNvPr id="13" name="Oval 9">
            <a:extLst>
              <a:ext uri="{FF2B5EF4-FFF2-40B4-BE49-F238E27FC236}">
                <a16:creationId xmlns:a16="http://schemas.microsoft.com/office/drawing/2014/main" id="{B3AD5195-2C43-4D6A-B9F1-2C8A69A0927E}"/>
              </a:ext>
            </a:extLst>
          </p:cNvPr>
          <p:cNvSpPr/>
          <p:nvPr/>
        </p:nvSpPr>
        <p:spPr>
          <a:xfrm>
            <a:off x="5995539" y="1809626"/>
            <a:ext cx="1116000" cy="1008000"/>
          </a:xfrm>
          <a:prstGeom prst="ellipse">
            <a:avLst/>
          </a:prstGeom>
          <a:solidFill>
            <a:srgbClr val="FFC000"/>
          </a:solidFill>
          <a:ln w="38100">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lIns="18288" tIns="36576" rIns="18288"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2000" b="1" dirty="0">
                <a:solidFill>
                  <a:schemeClr val="tx1"/>
                </a:solidFill>
                <a:latin typeface="Calibri"/>
              </a:rPr>
              <a:t>1.3 s</a:t>
            </a:r>
          </a:p>
          <a:p>
            <a:pPr algn="ctr">
              <a:spcAft>
                <a:spcPts val="200"/>
              </a:spcAft>
            </a:pPr>
            <a:r>
              <a:rPr sz="1100" b="1" dirty="0">
                <a:solidFill>
                  <a:schemeClr val="tx1"/>
                </a:solidFill>
                <a:latin typeface="Calibri"/>
              </a:rPr>
              <a:t>median reply</a:t>
            </a:r>
          </a:p>
        </p:txBody>
      </p:sp>
      <p:sp>
        <p:nvSpPr>
          <p:cNvPr id="14" name="TextBox 10">
            <a:extLst>
              <a:ext uri="{FF2B5EF4-FFF2-40B4-BE49-F238E27FC236}">
                <a16:creationId xmlns:a16="http://schemas.microsoft.com/office/drawing/2014/main" id="{28FC4134-5E83-EE93-555D-B8BF0F2F49CB}"/>
              </a:ext>
            </a:extLst>
          </p:cNvPr>
          <p:cNvSpPr txBox="1"/>
          <p:nvPr/>
        </p:nvSpPr>
        <p:spPr>
          <a:xfrm>
            <a:off x="5675139" y="2871366"/>
            <a:ext cx="1828800" cy="438069"/>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200"/>
              </a:spcAft>
            </a:pPr>
            <a:r>
              <a:rPr sz="1100" b="1" dirty="0">
                <a:latin typeface="Calibri"/>
              </a:rPr>
              <a:t>p95 1.7 s,</a:t>
            </a:r>
          </a:p>
          <a:p>
            <a:pPr algn="ctr">
              <a:spcAft>
                <a:spcPts val="200"/>
              </a:spcAft>
            </a:pPr>
            <a:r>
              <a:rPr sz="1100" b="1" dirty="0">
                <a:latin typeface="Calibri"/>
              </a:rPr>
              <a:t>per conversation turn</a:t>
            </a:r>
          </a:p>
        </p:txBody>
      </p:sp>
      <p:sp>
        <p:nvSpPr>
          <p:cNvPr id="15" name="Rounded Rectangle 11">
            <a:extLst>
              <a:ext uri="{FF2B5EF4-FFF2-40B4-BE49-F238E27FC236}">
                <a16:creationId xmlns:a16="http://schemas.microsoft.com/office/drawing/2014/main" id="{B980951B-81C7-6D39-CE64-6FC8FB7560FE}"/>
              </a:ext>
            </a:extLst>
          </p:cNvPr>
          <p:cNvSpPr/>
          <p:nvPr/>
        </p:nvSpPr>
        <p:spPr>
          <a:xfrm>
            <a:off x="7878720" y="1961712"/>
            <a:ext cx="3611880" cy="1283602"/>
          </a:xfrm>
          <a:prstGeom prst="roundRect">
            <a:avLst>
              <a:gd name="adj" fmla="val 12000"/>
            </a:avLst>
          </a:prstGeom>
          <a:solidFill>
            <a:srgbClr val="FFF6D6"/>
          </a:solidFill>
          <a:ln>
            <a:solidFill>
              <a:srgbClr val="E8D38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Oval 12">
            <a:extLst>
              <a:ext uri="{FF2B5EF4-FFF2-40B4-BE49-F238E27FC236}">
                <a16:creationId xmlns:a16="http://schemas.microsoft.com/office/drawing/2014/main" id="{67E82A1F-D8BC-FE2F-D91E-81B383CB0393}"/>
              </a:ext>
            </a:extLst>
          </p:cNvPr>
          <p:cNvSpPr/>
          <p:nvPr/>
        </p:nvSpPr>
        <p:spPr>
          <a:xfrm>
            <a:off x="7741559" y="1824551"/>
            <a:ext cx="384048" cy="384048"/>
          </a:xfrm>
          <a:prstGeom prst="ellipse">
            <a:avLst/>
          </a:prstGeom>
          <a:solidFill>
            <a:srgbClr val="E2B03A"/>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36576" rIns="0" bIns="36576"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spcAft>
                <a:spcPts val="200"/>
              </a:spcAft>
            </a:pPr>
            <a:r>
              <a:rPr sz="1400" b="1">
                <a:solidFill>
                  <a:srgbClr val="1D2433"/>
                </a:solidFill>
                <a:latin typeface="Calibri"/>
              </a:rPr>
              <a:t>!</a:t>
            </a:r>
          </a:p>
        </p:txBody>
      </p:sp>
      <p:sp>
        <p:nvSpPr>
          <p:cNvPr id="17" name="TextBox 13">
            <a:extLst>
              <a:ext uri="{FF2B5EF4-FFF2-40B4-BE49-F238E27FC236}">
                <a16:creationId xmlns:a16="http://schemas.microsoft.com/office/drawing/2014/main" id="{3841EB69-506F-9888-D175-7F211B4368A6}"/>
              </a:ext>
            </a:extLst>
          </p:cNvPr>
          <p:cNvSpPr txBox="1"/>
          <p:nvPr/>
        </p:nvSpPr>
        <p:spPr>
          <a:xfrm>
            <a:off x="8198760" y="2006851"/>
            <a:ext cx="3200400" cy="365760"/>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pPr>
            <a:r>
              <a:rPr sz="1300" b="1" dirty="0">
                <a:solidFill>
                  <a:srgbClr val="145C4C"/>
                </a:solidFill>
                <a:latin typeface="Calibri"/>
              </a:rPr>
              <a:t>Honest testing caught real bugs</a:t>
            </a:r>
          </a:p>
        </p:txBody>
      </p:sp>
      <p:sp>
        <p:nvSpPr>
          <p:cNvPr id="18" name="TextBox 14">
            <a:extLst>
              <a:ext uri="{FF2B5EF4-FFF2-40B4-BE49-F238E27FC236}">
                <a16:creationId xmlns:a16="http://schemas.microsoft.com/office/drawing/2014/main" id="{10073340-12F3-95CF-9E67-DBDEEEE8160C}"/>
              </a:ext>
            </a:extLst>
          </p:cNvPr>
          <p:cNvSpPr txBox="1"/>
          <p:nvPr/>
        </p:nvSpPr>
        <p:spPr>
          <a:xfrm>
            <a:off x="8061600" y="2291586"/>
            <a:ext cx="3337560" cy="907428"/>
          </a:xfrm>
          <a:prstGeom prst="rect">
            <a:avLst/>
          </a:prstGeom>
          <a:noFill/>
        </p:spPr>
        <p:txBody>
          <a:bodyPr wrap="square" lIns="18288" tIns="36576" rIns="18288"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pPr>
            <a:r>
              <a:rPr sz="1050" b="0" dirty="0">
                <a:solidFill>
                  <a:srgbClr val="1D2433"/>
                </a:solidFill>
                <a:latin typeface="Calibri"/>
              </a:rPr>
              <a:t>The </a:t>
            </a:r>
            <a:r>
              <a:rPr sz="1050" b="1" dirty="0">
                <a:solidFill>
                  <a:srgbClr val="1D2433"/>
                </a:solidFill>
                <a:latin typeface="Calibri"/>
              </a:rPr>
              <a:t>first run found 2 unsafe outcomes</a:t>
            </a:r>
            <a:r>
              <a:rPr sz="1050" b="0" dirty="0">
                <a:solidFill>
                  <a:srgbClr val="1D2433"/>
                </a:solidFill>
                <a:latin typeface="Calibri"/>
              </a:rPr>
              <a:t>: the model did not know our '1 / 2' menu, so '2' (not mine) + '</a:t>
            </a:r>
            <a:r>
              <a:rPr sz="1050" b="0" dirty="0" err="1">
                <a:solidFill>
                  <a:srgbClr val="1D2433"/>
                </a:solidFill>
                <a:latin typeface="Calibri"/>
              </a:rPr>
              <a:t>sí</a:t>
            </a:r>
            <a:r>
              <a:rPr sz="1050" b="0" dirty="0">
                <a:solidFill>
                  <a:srgbClr val="1D2433"/>
                </a:solidFill>
                <a:latin typeface="Calibri"/>
              </a:rPr>
              <a:t>' closed a disputed charge.</a:t>
            </a:r>
          </a:p>
          <a:p>
            <a:pPr algn="l">
              <a:spcAft>
                <a:spcPts val="200"/>
              </a:spcAft>
            </a:pPr>
            <a:r>
              <a:rPr sz="1050" b="0" dirty="0">
                <a:solidFill>
                  <a:srgbClr val="1D2433"/>
                </a:solidFill>
                <a:latin typeface="Calibri"/>
              </a:rPr>
              <a:t>Fixed with tests, then a </a:t>
            </a:r>
            <a:r>
              <a:rPr sz="1050" b="1" dirty="0">
                <a:solidFill>
                  <a:srgbClr val="1D2433"/>
                </a:solidFill>
                <a:latin typeface="Calibri"/>
              </a:rPr>
              <a:t>new set never seen before: 22 / 22 correct</a:t>
            </a:r>
            <a:endParaRPr sz="1050" b="0" dirty="0">
              <a:solidFill>
                <a:srgbClr val="1D2433"/>
              </a:solidFill>
              <a:latin typeface="Calibri"/>
            </a:endParaRPr>
          </a:p>
        </p:txBody>
      </p:sp>
      <p:sp>
        <p:nvSpPr>
          <p:cNvPr id="21" name="Rounded Rectangle 15">
            <a:extLst>
              <a:ext uri="{FF2B5EF4-FFF2-40B4-BE49-F238E27FC236}">
                <a16:creationId xmlns:a16="http://schemas.microsoft.com/office/drawing/2014/main" id="{FB7A89B6-69F3-E5AF-FB00-F6E817A68687}"/>
              </a:ext>
            </a:extLst>
          </p:cNvPr>
          <p:cNvSpPr/>
          <p:nvPr/>
        </p:nvSpPr>
        <p:spPr>
          <a:xfrm>
            <a:off x="487679" y="3553794"/>
            <a:ext cx="11300461" cy="384048"/>
          </a:xfrm>
          <a:prstGeom prst="roundRect">
            <a:avLst>
              <a:gd name="adj" fmla="val 16847"/>
            </a:avLst>
          </a:prstGeom>
          <a:solidFill>
            <a:srgbClr val="145A50">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spcAft>
                <a:spcPts val="200"/>
              </a:spcAft>
            </a:pPr>
            <a:r>
              <a:rPr sz="1400" b="1" dirty="0">
                <a:solidFill>
                  <a:schemeClr val="bg1"/>
                </a:solidFill>
                <a:latin typeface="Calibri"/>
              </a:rPr>
              <a:t>Tried to break it with:</a:t>
            </a:r>
            <a:r>
              <a:rPr sz="1400" b="0" dirty="0">
                <a:solidFill>
                  <a:schemeClr val="bg1"/>
                </a:solidFill>
                <a:latin typeface="Calibri"/>
              </a:rPr>
              <a:t> wrong or missing data · expired sessions · another customer's session · prompt injection · tool and model failures · </a:t>
            </a:r>
            <a:r>
              <a:rPr sz="1400" b="0" dirty="0" err="1">
                <a:solidFill>
                  <a:schemeClr val="bg1"/>
                </a:solidFill>
                <a:latin typeface="Calibri"/>
              </a:rPr>
              <a:t>portuñol</a:t>
            </a:r>
            <a:endParaRPr sz="1400" b="0" dirty="0">
              <a:solidFill>
                <a:schemeClr val="bg1"/>
              </a:solidFill>
              <a:latin typeface="Calibri"/>
            </a:endParaRPr>
          </a:p>
        </p:txBody>
      </p:sp>
      <p:sp>
        <p:nvSpPr>
          <p:cNvPr id="23" name="TextBox 16">
            <a:extLst>
              <a:ext uri="{FF2B5EF4-FFF2-40B4-BE49-F238E27FC236}">
                <a16:creationId xmlns:a16="http://schemas.microsoft.com/office/drawing/2014/main" id="{BBB98C3B-B652-8AA6-DE01-2E5657BCAF21}"/>
              </a:ext>
            </a:extLst>
          </p:cNvPr>
          <p:cNvSpPr txBox="1"/>
          <p:nvPr/>
        </p:nvSpPr>
        <p:spPr>
          <a:xfrm>
            <a:off x="502920" y="4160520"/>
            <a:ext cx="5760720" cy="320040"/>
          </a:xfrm>
          <a:prstGeom prst="rect">
            <a:avLst/>
          </a:prstGeom>
          <a:noFill/>
        </p:spPr>
        <p:txBody>
          <a:bodyPr wrap="square" lIns="18288" tIns="36576" rIns="18288" bIns="36576" anchor="t">
            <a:spAutoFit/>
          </a:bodyPr>
          <a:lstStyle/>
          <a:p>
            <a:pPr algn="l">
              <a:spcAft>
                <a:spcPts val="200"/>
              </a:spcAft>
            </a:pPr>
            <a:r>
              <a:rPr sz="1400" b="1">
                <a:solidFill>
                  <a:srgbClr val="145C4C"/>
                </a:solidFill>
                <a:latin typeface="Calibri"/>
              </a:rPr>
              <a:t>A real service</a:t>
            </a:r>
          </a:p>
        </p:txBody>
      </p:sp>
      <p:sp>
        <p:nvSpPr>
          <p:cNvPr id="25" name="Rounded Rectangle 17">
            <a:extLst>
              <a:ext uri="{FF2B5EF4-FFF2-40B4-BE49-F238E27FC236}">
                <a16:creationId xmlns:a16="http://schemas.microsoft.com/office/drawing/2014/main" id="{89B6D165-B32D-5959-7770-AB462D4568F3}"/>
              </a:ext>
            </a:extLst>
          </p:cNvPr>
          <p:cNvSpPr/>
          <p:nvPr/>
        </p:nvSpPr>
        <p:spPr>
          <a:xfrm>
            <a:off x="502920" y="4067269"/>
            <a:ext cx="3168000" cy="954000"/>
          </a:xfrm>
          <a:prstGeom prst="roundRect">
            <a:avLst>
              <a:gd name="adj" fmla="val 12000"/>
            </a:avLst>
          </a:prstGeom>
          <a:solidFill>
            <a:srgbClr val="F7F8F6">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18">
            <a:extLst>
              <a:ext uri="{FF2B5EF4-FFF2-40B4-BE49-F238E27FC236}">
                <a16:creationId xmlns:a16="http://schemas.microsoft.com/office/drawing/2014/main" id="{1A74F2C0-C5A4-D6C2-A6EC-FDB1764461E9}"/>
              </a:ext>
            </a:extLst>
          </p:cNvPr>
          <p:cNvSpPr/>
          <p:nvPr/>
        </p:nvSpPr>
        <p:spPr>
          <a:xfrm>
            <a:off x="1398580" y="4215862"/>
            <a:ext cx="1417320" cy="237744"/>
          </a:xfrm>
          <a:prstGeom prst="roundRect">
            <a:avLst>
              <a:gd name="adj" fmla="val 50000"/>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400" b="1" dirty="0">
                <a:solidFill>
                  <a:srgbClr val="1D2433"/>
                </a:solidFill>
                <a:latin typeface="Calibri"/>
              </a:rPr>
              <a:t>Observability</a:t>
            </a:r>
          </a:p>
        </p:txBody>
      </p:sp>
      <p:sp>
        <p:nvSpPr>
          <p:cNvPr id="29" name="TextBox 19">
            <a:extLst>
              <a:ext uri="{FF2B5EF4-FFF2-40B4-BE49-F238E27FC236}">
                <a16:creationId xmlns:a16="http://schemas.microsoft.com/office/drawing/2014/main" id="{406F64A5-6450-9037-2122-2679AA98DA27}"/>
              </a:ext>
            </a:extLst>
          </p:cNvPr>
          <p:cNvSpPr txBox="1"/>
          <p:nvPr/>
        </p:nvSpPr>
        <p:spPr>
          <a:xfrm>
            <a:off x="594359" y="4487233"/>
            <a:ext cx="2991889" cy="443198"/>
          </a:xfrm>
          <a:prstGeom prst="rect">
            <a:avLst/>
          </a:prstGeom>
          <a:noFill/>
        </p:spPr>
        <p:txBody>
          <a:bodyPr wrap="square" lIns="18288" tIns="36576" rIns="18288" bIns="36576" anchor="t">
            <a:spAutoFit/>
          </a:bodyPr>
          <a:lstStyle/>
          <a:p>
            <a:pPr algn="l">
              <a:spcAft>
                <a:spcPts val="200"/>
              </a:spcAft>
            </a:pPr>
            <a:r>
              <a:rPr sz="1200" b="0" dirty="0">
                <a:solidFill>
                  <a:srgbClr val="1D2433"/>
                </a:solidFill>
                <a:latin typeface="Calibri"/>
              </a:rPr>
              <a:t>Audit log of every step </a:t>
            </a:r>
            <a:r>
              <a:rPr lang="es-MX" sz="1200" b="0" dirty="0">
                <a:solidFill>
                  <a:srgbClr val="1D2433"/>
                </a:solidFill>
                <a:latin typeface="Calibri"/>
              </a:rPr>
              <a:t>|</a:t>
            </a:r>
            <a:r>
              <a:rPr sz="1200" b="0" dirty="0">
                <a:solidFill>
                  <a:srgbClr val="1D2433"/>
                </a:solidFill>
                <a:latin typeface="Calibri"/>
              </a:rPr>
              <a:t> policy rules with their </a:t>
            </a:r>
            <a:r>
              <a:rPr lang="es-PE" sz="1200" b="0" dirty="0">
                <a:solidFill>
                  <a:srgbClr val="1D2433"/>
                </a:solidFill>
                <a:latin typeface="Calibri"/>
              </a:rPr>
              <a:t>n</a:t>
            </a:r>
            <a:r>
              <a:rPr sz="1200" b="0" dirty="0">
                <a:solidFill>
                  <a:srgbClr val="1D2433"/>
                </a:solidFill>
                <a:latin typeface="Calibri"/>
              </a:rPr>
              <a:t>umbers</a:t>
            </a:r>
            <a:r>
              <a:rPr lang="es-MX" sz="1200" b="0" dirty="0">
                <a:solidFill>
                  <a:srgbClr val="1D2433"/>
                </a:solidFill>
                <a:latin typeface="Calibri"/>
              </a:rPr>
              <a:t> |</a:t>
            </a:r>
            <a:r>
              <a:rPr sz="1200" b="0" dirty="0">
                <a:solidFill>
                  <a:srgbClr val="1D2433"/>
                </a:solidFill>
                <a:latin typeface="Calibri"/>
              </a:rPr>
              <a:t> Cloud Run metrics</a:t>
            </a:r>
          </a:p>
        </p:txBody>
      </p:sp>
      <p:sp>
        <p:nvSpPr>
          <p:cNvPr id="31" name="Rounded Rectangle 20">
            <a:extLst>
              <a:ext uri="{FF2B5EF4-FFF2-40B4-BE49-F238E27FC236}">
                <a16:creationId xmlns:a16="http://schemas.microsoft.com/office/drawing/2014/main" id="{83BECE6E-6F8C-2FE1-2740-AB30F79FC1C4}"/>
              </a:ext>
            </a:extLst>
          </p:cNvPr>
          <p:cNvSpPr/>
          <p:nvPr/>
        </p:nvSpPr>
        <p:spPr>
          <a:xfrm>
            <a:off x="3807229" y="4077774"/>
            <a:ext cx="3168000" cy="954000"/>
          </a:xfrm>
          <a:prstGeom prst="roundRect">
            <a:avLst>
              <a:gd name="adj" fmla="val 12000"/>
            </a:avLst>
          </a:prstGeom>
          <a:solidFill>
            <a:srgbClr val="F7F8F6">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21">
            <a:extLst>
              <a:ext uri="{FF2B5EF4-FFF2-40B4-BE49-F238E27FC236}">
                <a16:creationId xmlns:a16="http://schemas.microsoft.com/office/drawing/2014/main" id="{D543B83B-0582-DCA8-A0EC-F160F323181C}"/>
              </a:ext>
            </a:extLst>
          </p:cNvPr>
          <p:cNvSpPr/>
          <p:nvPr/>
        </p:nvSpPr>
        <p:spPr>
          <a:xfrm>
            <a:off x="4699000" y="4215862"/>
            <a:ext cx="1417320" cy="237744"/>
          </a:xfrm>
          <a:prstGeom prst="roundRect">
            <a:avLst>
              <a:gd name="adj" fmla="val 50000"/>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400" b="1" dirty="0">
                <a:solidFill>
                  <a:srgbClr val="1D2433"/>
                </a:solidFill>
                <a:latin typeface="Calibri"/>
              </a:rPr>
              <a:t>Reliability</a:t>
            </a:r>
          </a:p>
        </p:txBody>
      </p:sp>
      <p:sp>
        <p:nvSpPr>
          <p:cNvPr id="35" name="TextBox 22">
            <a:extLst>
              <a:ext uri="{FF2B5EF4-FFF2-40B4-BE49-F238E27FC236}">
                <a16:creationId xmlns:a16="http://schemas.microsoft.com/office/drawing/2014/main" id="{BD27E5BB-919D-BCA9-90E4-F75E3934D116}"/>
              </a:ext>
            </a:extLst>
          </p:cNvPr>
          <p:cNvSpPr txBox="1"/>
          <p:nvPr/>
        </p:nvSpPr>
        <p:spPr>
          <a:xfrm>
            <a:off x="3898668" y="4487233"/>
            <a:ext cx="2991889" cy="443198"/>
          </a:xfrm>
          <a:prstGeom prst="rect">
            <a:avLst/>
          </a:prstGeom>
          <a:noFill/>
        </p:spPr>
        <p:txBody>
          <a:bodyPr wrap="square" lIns="18288" tIns="36576" rIns="18288" bIns="36576" anchor="t">
            <a:spAutoFit/>
          </a:bodyPr>
          <a:lstStyle/>
          <a:p>
            <a:pPr algn="l">
              <a:spcAft>
                <a:spcPts val="200"/>
              </a:spcAft>
            </a:pPr>
            <a:r>
              <a:rPr sz="1200" b="0" dirty="0">
                <a:solidFill>
                  <a:srgbClr val="1D2433"/>
                </a:solidFill>
                <a:latin typeface="Calibri"/>
              </a:rPr>
              <a:t>Bounded retries </a:t>
            </a:r>
            <a:r>
              <a:rPr lang="es-MX" sz="1200" dirty="0">
                <a:solidFill>
                  <a:srgbClr val="1D2433"/>
                </a:solidFill>
                <a:latin typeface="Calibri"/>
              </a:rPr>
              <a:t>| </a:t>
            </a:r>
            <a:r>
              <a:rPr sz="1200" b="0" dirty="0">
                <a:solidFill>
                  <a:srgbClr val="1D2433"/>
                </a:solidFill>
                <a:latin typeface="Calibri"/>
              </a:rPr>
              <a:t>menu if the LLM fails </a:t>
            </a:r>
            <a:r>
              <a:rPr lang="es-MX" sz="1200" b="0" dirty="0">
                <a:solidFill>
                  <a:srgbClr val="1D2433"/>
                </a:solidFill>
                <a:latin typeface="Calibri"/>
              </a:rPr>
              <a:t>|</a:t>
            </a:r>
            <a:r>
              <a:rPr sz="1200" b="0" dirty="0">
                <a:solidFill>
                  <a:srgbClr val="1D2433"/>
                </a:solidFill>
                <a:latin typeface="Calibri"/>
              </a:rPr>
              <a:t> tool failures go to a human</a:t>
            </a:r>
          </a:p>
        </p:txBody>
      </p:sp>
      <p:sp>
        <p:nvSpPr>
          <p:cNvPr id="37" name="Rounded Rectangle 23">
            <a:extLst>
              <a:ext uri="{FF2B5EF4-FFF2-40B4-BE49-F238E27FC236}">
                <a16:creationId xmlns:a16="http://schemas.microsoft.com/office/drawing/2014/main" id="{DC4A9F61-E8B8-7843-CAD6-4FB43065BD18}"/>
              </a:ext>
            </a:extLst>
          </p:cNvPr>
          <p:cNvSpPr/>
          <p:nvPr/>
        </p:nvSpPr>
        <p:spPr>
          <a:xfrm>
            <a:off x="502920" y="5115238"/>
            <a:ext cx="3168000" cy="954000"/>
          </a:xfrm>
          <a:prstGeom prst="roundRect">
            <a:avLst>
              <a:gd name="adj" fmla="val 12000"/>
            </a:avLst>
          </a:prstGeom>
          <a:solidFill>
            <a:srgbClr val="F7F8F6">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AE02F901-192A-E5BE-0C3D-D4B6F053C628}"/>
              </a:ext>
            </a:extLst>
          </p:cNvPr>
          <p:cNvSpPr/>
          <p:nvPr/>
        </p:nvSpPr>
        <p:spPr>
          <a:xfrm>
            <a:off x="1451729" y="5250466"/>
            <a:ext cx="1417320" cy="237744"/>
          </a:xfrm>
          <a:prstGeom prst="roundRect">
            <a:avLst>
              <a:gd name="adj" fmla="val 50000"/>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400" b="1">
                <a:solidFill>
                  <a:srgbClr val="1D2433"/>
                </a:solidFill>
                <a:latin typeface="Calibri"/>
              </a:rPr>
              <a:t>Security</a:t>
            </a:r>
          </a:p>
        </p:txBody>
      </p:sp>
      <p:sp>
        <p:nvSpPr>
          <p:cNvPr id="41" name="TextBox 25">
            <a:extLst>
              <a:ext uri="{FF2B5EF4-FFF2-40B4-BE49-F238E27FC236}">
                <a16:creationId xmlns:a16="http://schemas.microsoft.com/office/drawing/2014/main" id="{93173839-3FE2-F75E-53DD-229E2600AB98}"/>
              </a:ext>
            </a:extLst>
          </p:cNvPr>
          <p:cNvSpPr txBox="1"/>
          <p:nvPr/>
        </p:nvSpPr>
        <p:spPr>
          <a:xfrm>
            <a:off x="594360" y="5539563"/>
            <a:ext cx="2991888" cy="443198"/>
          </a:xfrm>
          <a:prstGeom prst="rect">
            <a:avLst/>
          </a:prstGeom>
          <a:noFill/>
        </p:spPr>
        <p:txBody>
          <a:bodyPr wrap="square" lIns="18288" tIns="36576" rIns="18288" bIns="36576" anchor="t">
            <a:spAutoFit/>
          </a:bodyPr>
          <a:lstStyle/>
          <a:p>
            <a:pPr algn="l">
              <a:spcAft>
                <a:spcPts val="200"/>
              </a:spcAft>
            </a:pPr>
            <a:r>
              <a:rPr sz="1200" b="0" dirty="0">
                <a:solidFill>
                  <a:srgbClr val="1D2433"/>
                </a:solidFill>
                <a:latin typeface="Calibri"/>
              </a:rPr>
              <a:t>Signed, expiring sessions </a:t>
            </a:r>
            <a:r>
              <a:rPr lang="es-MX" sz="1200" b="0" dirty="0">
                <a:solidFill>
                  <a:srgbClr val="1D2433"/>
                </a:solidFill>
                <a:latin typeface="Calibri"/>
              </a:rPr>
              <a:t>|</a:t>
            </a:r>
            <a:r>
              <a:rPr sz="1200" b="0" dirty="0">
                <a:solidFill>
                  <a:srgbClr val="1D2433"/>
                </a:solidFill>
                <a:latin typeface="Calibri"/>
              </a:rPr>
              <a:t> ownership checked in tools </a:t>
            </a:r>
            <a:r>
              <a:rPr lang="es-MX" sz="1200" b="0" dirty="0">
                <a:solidFill>
                  <a:srgbClr val="1D2433"/>
                </a:solidFill>
                <a:latin typeface="Calibri"/>
              </a:rPr>
              <a:t>|</a:t>
            </a:r>
            <a:r>
              <a:rPr sz="1200" b="0" dirty="0">
                <a:solidFill>
                  <a:srgbClr val="1D2433"/>
                </a:solidFill>
                <a:latin typeface="Calibri"/>
              </a:rPr>
              <a:t> PII hashed</a:t>
            </a:r>
          </a:p>
        </p:txBody>
      </p:sp>
      <p:sp>
        <p:nvSpPr>
          <p:cNvPr id="43" name="Rounded Rectangle 26">
            <a:extLst>
              <a:ext uri="{FF2B5EF4-FFF2-40B4-BE49-F238E27FC236}">
                <a16:creationId xmlns:a16="http://schemas.microsoft.com/office/drawing/2014/main" id="{F195DB53-A216-88E7-FF65-E2CE3400BAEB}"/>
              </a:ext>
            </a:extLst>
          </p:cNvPr>
          <p:cNvSpPr/>
          <p:nvPr/>
        </p:nvSpPr>
        <p:spPr>
          <a:xfrm>
            <a:off x="3807229" y="5115238"/>
            <a:ext cx="3168000" cy="954000"/>
          </a:xfrm>
          <a:prstGeom prst="roundRect">
            <a:avLst>
              <a:gd name="adj" fmla="val 12000"/>
            </a:avLst>
          </a:prstGeom>
          <a:solidFill>
            <a:srgbClr val="F7F8F6">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27">
            <a:extLst>
              <a:ext uri="{FF2B5EF4-FFF2-40B4-BE49-F238E27FC236}">
                <a16:creationId xmlns:a16="http://schemas.microsoft.com/office/drawing/2014/main" id="{23865722-C636-3FF7-1EBB-C8BB4AAC45CB}"/>
              </a:ext>
            </a:extLst>
          </p:cNvPr>
          <p:cNvSpPr/>
          <p:nvPr/>
        </p:nvSpPr>
        <p:spPr>
          <a:xfrm>
            <a:off x="4706272" y="5250466"/>
            <a:ext cx="1417320" cy="237744"/>
          </a:xfrm>
          <a:prstGeom prst="roundRect">
            <a:avLst>
              <a:gd name="adj" fmla="val 50000"/>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400" b="1" dirty="0">
                <a:solidFill>
                  <a:srgbClr val="1D2433"/>
                </a:solidFill>
                <a:latin typeface="Calibri"/>
              </a:rPr>
              <a:t>Reproducibility</a:t>
            </a:r>
          </a:p>
        </p:txBody>
      </p:sp>
      <p:sp>
        <p:nvSpPr>
          <p:cNvPr id="47" name="TextBox 28">
            <a:extLst>
              <a:ext uri="{FF2B5EF4-FFF2-40B4-BE49-F238E27FC236}">
                <a16:creationId xmlns:a16="http://schemas.microsoft.com/office/drawing/2014/main" id="{5EBC6A9A-E6F4-B7E6-CB9B-B89F5EB443ED}"/>
              </a:ext>
            </a:extLst>
          </p:cNvPr>
          <p:cNvSpPr txBox="1"/>
          <p:nvPr/>
        </p:nvSpPr>
        <p:spPr>
          <a:xfrm>
            <a:off x="3898669" y="5539564"/>
            <a:ext cx="2991888" cy="443198"/>
          </a:xfrm>
          <a:prstGeom prst="rect">
            <a:avLst/>
          </a:prstGeom>
          <a:noFill/>
        </p:spPr>
        <p:txBody>
          <a:bodyPr wrap="square" lIns="18288" tIns="36576" rIns="18288" bIns="36576" anchor="t">
            <a:spAutoFit/>
          </a:bodyPr>
          <a:lstStyle/>
          <a:p>
            <a:pPr algn="l">
              <a:spcAft>
                <a:spcPts val="200"/>
              </a:spcAft>
            </a:pPr>
            <a:r>
              <a:rPr sz="1200" b="0" dirty="0">
                <a:solidFill>
                  <a:srgbClr val="1D2433"/>
                </a:solidFill>
                <a:latin typeface="Calibri"/>
              </a:rPr>
              <a:t>uv.lock </a:t>
            </a:r>
            <a:r>
              <a:rPr lang="es-MX" sz="1200" b="0" dirty="0">
                <a:solidFill>
                  <a:srgbClr val="1D2433"/>
                </a:solidFill>
                <a:latin typeface="Calibri"/>
              </a:rPr>
              <a:t>|</a:t>
            </a:r>
            <a:r>
              <a:rPr sz="1200" b="0" dirty="0">
                <a:solidFill>
                  <a:srgbClr val="1D2433"/>
                </a:solidFill>
                <a:latin typeface="Calibri"/>
              </a:rPr>
              <a:t> make evaluate </a:t>
            </a:r>
            <a:r>
              <a:rPr lang="es-MX" sz="1200" b="0" dirty="0">
                <a:solidFill>
                  <a:srgbClr val="1D2433"/>
                </a:solidFill>
                <a:latin typeface="Calibri"/>
              </a:rPr>
              <a:t>|</a:t>
            </a:r>
            <a:r>
              <a:rPr sz="1200" b="0" dirty="0">
                <a:solidFill>
                  <a:srgbClr val="1D2433"/>
                </a:solidFill>
                <a:latin typeface="Calibri"/>
              </a:rPr>
              <a:t> versioned policy, model, tests </a:t>
            </a:r>
            <a:r>
              <a:rPr lang="es-MX" sz="1200" b="0" dirty="0">
                <a:solidFill>
                  <a:srgbClr val="1D2433"/>
                </a:solidFill>
                <a:latin typeface="Calibri"/>
              </a:rPr>
              <a:t>|</a:t>
            </a:r>
            <a:r>
              <a:rPr sz="1200" b="0" dirty="0">
                <a:solidFill>
                  <a:srgbClr val="1D2433"/>
                </a:solidFill>
                <a:latin typeface="Calibri"/>
              </a:rPr>
              <a:t> hashed test sets</a:t>
            </a:r>
          </a:p>
        </p:txBody>
      </p:sp>
      <p:sp>
        <p:nvSpPr>
          <p:cNvPr id="49" name="Rounded Rectangle 29">
            <a:extLst>
              <a:ext uri="{FF2B5EF4-FFF2-40B4-BE49-F238E27FC236}">
                <a16:creationId xmlns:a16="http://schemas.microsoft.com/office/drawing/2014/main" id="{F9F0619E-E305-B217-FDA9-7C4AB5C56DB6}"/>
              </a:ext>
            </a:extLst>
          </p:cNvPr>
          <p:cNvSpPr/>
          <p:nvPr/>
        </p:nvSpPr>
        <p:spPr>
          <a:xfrm>
            <a:off x="7111538" y="4077774"/>
            <a:ext cx="4676601" cy="1991464"/>
          </a:xfrm>
          <a:prstGeom prst="roundRect">
            <a:avLst>
              <a:gd name="adj" fmla="val 12000"/>
            </a:avLst>
          </a:prstGeom>
          <a:solidFill>
            <a:srgbClr val="FFF6D6">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30">
            <a:extLst>
              <a:ext uri="{FF2B5EF4-FFF2-40B4-BE49-F238E27FC236}">
                <a16:creationId xmlns:a16="http://schemas.microsoft.com/office/drawing/2014/main" id="{B406467F-72D3-4223-D81A-EAEB9FF85289}"/>
              </a:ext>
            </a:extLst>
          </p:cNvPr>
          <p:cNvSpPr txBox="1"/>
          <p:nvPr/>
        </p:nvSpPr>
        <p:spPr>
          <a:xfrm>
            <a:off x="7292050" y="4320540"/>
            <a:ext cx="4275110" cy="266227"/>
          </a:xfrm>
          <a:prstGeom prst="rect">
            <a:avLst/>
          </a:prstGeom>
          <a:noFill/>
        </p:spPr>
        <p:txBody>
          <a:bodyPr wrap="square" lIns="18288" tIns="36576" rIns="18288" bIns="36576" anchor="t">
            <a:spAutoFit/>
          </a:bodyPr>
          <a:lstStyle/>
          <a:p>
            <a:pPr algn="l">
              <a:spcAft>
                <a:spcPts val="200"/>
              </a:spcAft>
            </a:pPr>
            <a:r>
              <a:rPr sz="1250" b="1" dirty="0">
                <a:solidFill>
                  <a:srgbClr val="145C4C"/>
                </a:solidFill>
                <a:latin typeface="Calibri"/>
              </a:rPr>
              <a:t>Honest about what's missing</a:t>
            </a:r>
          </a:p>
        </p:txBody>
      </p:sp>
      <p:sp>
        <p:nvSpPr>
          <p:cNvPr id="53" name="TextBox 31">
            <a:extLst>
              <a:ext uri="{FF2B5EF4-FFF2-40B4-BE49-F238E27FC236}">
                <a16:creationId xmlns:a16="http://schemas.microsoft.com/office/drawing/2014/main" id="{9DBBE3D0-CA25-5F01-73DC-B59B597848CA}"/>
              </a:ext>
            </a:extLst>
          </p:cNvPr>
          <p:cNvSpPr txBox="1"/>
          <p:nvPr/>
        </p:nvSpPr>
        <p:spPr>
          <a:xfrm>
            <a:off x="7292050" y="4757040"/>
            <a:ext cx="4275109" cy="1022844"/>
          </a:xfrm>
          <a:prstGeom prst="rect">
            <a:avLst/>
          </a:prstGeom>
          <a:noFill/>
        </p:spPr>
        <p:txBody>
          <a:bodyPr wrap="square" lIns="18288" tIns="36576" rIns="18288" bIns="36576" anchor="t">
            <a:spAutoFit/>
          </a:bodyPr>
          <a:lstStyle/>
          <a:p>
            <a:pPr algn="l">
              <a:spcAft>
                <a:spcPts val="200"/>
              </a:spcAft>
            </a:pPr>
            <a:r>
              <a:rPr sz="1100" b="1" dirty="0">
                <a:solidFill>
                  <a:srgbClr val="1D2433"/>
                </a:solidFill>
                <a:latin typeface="Calibri"/>
              </a:rPr>
              <a:t>Capacity</a:t>
            </a:r>
            <a:r>
              <a:rPr sz="1100" b="0" dirty="0">
                <a:solidFill>
                  <a:srgbClr val="1D2433"/>
                </a:solidFill>
                <a:latin typeface="Calibri"/>
              </a:rPr>
              <a:t>: one instance; conversations live in memory.</a:t>
            </a:r>
          </a:p>
          <a:p>
            <a:pPr algn="l">
              <a:spcAft>
                <a:spcPts val="200"/>
              </a:spcAft>
            </a:pPr>
            <a:r>
              <a:rPr sz="1100" b="1" dirty="0">
                <a:solidFill>
                  <a:srgbClr val="1D2433"/>
                </a:solidFill>
                <a:latin typeface="Calibri"/>
              </a:rPr>
              <a:t>Data</a:t>
            </a:r>
            <a:r>
              <a:rPr sz="1100" b="0" dirty="0">
                <a:solidFill>
                  <a:srgbClr val="1D2433"/>
                </a:solidFill>
                <a:latin typeface="Calibri"/>
              </a:rPr>
              <a:t>: synthetic</a:t>
            </a:r>
            <a:r>
              <a:rPr lang="es-MX" sz="1100" b="0" dirty="0">
                <a:solidFill>
                  <a:srgbClr val="1D2433"/>
                </a:solidFill>
                <a:latin typeface="Calibri"/>
              </a:rPr>
              <a:t>,</a:t>
            </a:r>
            <a:r>
              <a:rPr sz="1100" b="0" dirty="0">
                <a:solidFill>
                  <a:srgbClr val="1D2433"/>
                </a:solidFill>
                <a:latin typeface="Calibri"/>
              </a:rPr>
              <a:t> one fraud signal</a:t>
            </a:r>
            <a:r>
              <a:rPr lang="es-MX" sz="1100" b="0" dirty="0">
                <a:solidFill>
                  <a:srgbClr val="1D2433"/>
                </a:solidFill>
                <a:latin typeface="Calibri"/>
              </a:rPr>
              <a:t>,</a:t>
            </a:r>
            <a:r>
              <a:rPr sz="1100" b="0" dirty="0">
                <a:solidFill>
                  <a:srgbClr val="1D2433"/>
                </a:solidFill>
                <a:latin typeface="Calibri"/>
              </a:rPr>
              <a:t> 20% of charges unscored.</a:t>
            </a:r>
          </a:p>
          <a:p>
            <a:pPr algn="l">
              <a:spcAft>
                <a:spcPts val="200"/>
              </a:spcAft>
            </a:pPr>
            <a:r>
              <a:rPr sz="1100" b="1" dirty="0">
                <a:solidFill>
                  <a:srgbClr val="1D2433"/>
                </a:solidFill>
                <a:latin typeface="Calibri"/>
              </a:rPr>
              <a:t>Language</a:t>
            </a:r>
            <a:r>
              <a:rPr sz="1100" b="0" dirty="0">
                <a:solidFill>
                  <a:srgbClr val="1D2433"/>
                </a:solidFill>
                <a:latin typeface="Calibri"/>
              </a:rPr>
              <a:t>: data is Spanish only</a:t>
            </a:r>
            <a:r>
              <a:rPr lang="es-MX" sz="1100" b="0" dirty="0">
                <a:solidFill>
                  <a:srgbClr val="1D2433"/>
                </a:solidFill>
                <a:latin typeface="Calibri"/>
              </a:rPr>
              <a:t>,</a:t>
            </a:r>
            <a:r>
              <a:rPr sz="1100" b="0" dirty="0">
                <a:solidFill>
                  <a:srgbClr val="1D2433"/>
                </a:solidFill>
                <a:latin typeface="Calibri"/>
              </a:rPr>
              <a:t> Portuguese team-generated.</a:t>
            </a:r>
          </a:p>
          <a:p>
            <a:pPr algn="l">
              <a:spcAft>
                <a:spcPts val="200"/>
              </a:spcAft>
            </a:pPr>
            <a:r>
              <a:rPr sz="1100" b="1" dirty="0">
                <a:solidFill>
                  <a:srgbClr val="1D2433"/>
                </a:solidFill>
                <a:latin typeface="Calibri"/>
              </a:rPr>
              <a:t>To go live</a:t>
            </a:r>
            <a:r>
              <a:rPr sz="1100" b="0" dirty="0">
                <a:solidFill>
                  <a:srgbClr val="1D2433"/>
                </a:solidFill>
                <a:latin typeface="Calibri"/>
              </a:rPr>
              <a:t>: real identity provider</a:t>
            </a:r>
            <a:r>
              <a:rPr lang="es-MX" sz="1100" b="0" dirty="0">
                <a:solidFill>
                  <a:srgbClr val="1D2433"/>
                </a:solidFill>
                <a:latin typeface="Calibri"/>
              </a:rPr>
              <a:t>,</a:t>
            </a:r>
            <a:r>
              <a:rPr sz="1100" b="0" dirty="0">
                <a:solidFill>
                  <a:srgbClr val="1D2433"/>
                </a:solidFill>
                <a:latin typeface="Calibri"/>
              </a:rPr>
              <a:t> database, alerts.</a:t>
            </a:r>
          </a:p>
          <a:p>
            <a:pPr algn="l">
              <a:spcAft>
                <a:spcPts val="200"/>
              </a:spcAft>
            </a:pPr>
            <a:r>
              <a:rPr sz="1100" b="1" dirty="0">
                <a:solidFill>
                  <a:srgbClr val="1D2433"/>
                </a:solidFill>
                <a:latin typeface="Calibri"/>
              </a:rPr>
              <a:t>Risks</a:t>
            </a:r>
            <a:r>
              <a:rPr sz="1100" b="0" dirty="0">
                <a:solidFill>
                  <a:srgbClr val="1D2433"/>
                </a:solidFill>
                <a:latin typeface="Calibri"/>
              </a:rPr>
              <a:t>: USD 2 friction assumption</a:t>
            </a:r>
            <a:r>
              <a:rPr lang="es-MX" sz="1100" b="0" dirty="0">
                <a:solidFill>
                  <a:srgbClr val="1D2433"/>
                </a:solidFill>
                <a:latin typeface="Calibri"/>
              </a:rPr>
              <a:t>,</a:t>
            </a:r>
            <a:r>
              <a:rPr sz="1100" b="0" dirty="0">
                <a:solidFill>
                  <a:srgbClr val="1D2433"/>
                </a:solidFill>
                <a:latin typeface="Calibri"/>
              </a:rPr>
              <a:t> small test sets.</a:t>
            </a:r>
          </a:p>
        </p:txBody>
      </p:sp>
      <p:sp>
        <p:nvSpPr>
          <p:cNvPr id="55" name="Rounded Rectangle 32">
            <a:extLst>
              <a:ext uri="{FF2B5EF4-FFF2-40B4-BE49-F238E27FC236}">
                <a16:creationId xmlns:a16="http://schemas.microsoft.com/office/drawing/2014/main" id="{8AEE181E-6A86-7529-FCCD-81CDDAB30B97}"/>
              </a:ext>
            </a:extLst>
          </p:cNvPr>
          <p:cNvSpPr/>
          <p:nvPr/>
        </p:nvSpPr>
        <p:spPr>
          <a:xfrm>
            <a:off x="502920" y="6199632"/>
            <a:ext cx="11300460" cy="457200"/>
          </a:xfrm>
          <a:prstGeom prst="roundRect">
            <a:avLst>
              <a:gd name="adj" fmla="val 22152"/>
            </a:avLst>
          </a:prstGeom>
          <a:solidFill>
            <a:srgbClr val="FFC000">
              <a:alpha val="90000"/>
            </a:srgbClr>
          </a:solidFill>
          <a:ln>
            <a:solidFill>
              <a:srgbClr val="145C4C"/>
            </a:solidFill>
          </a:ln>
          <a:effectLst/>
        </p:spPr>
        <p:style>
          <a:lnRef idx="1">
            <a:schemeClr val="accent1"/>
          </a:lnRef>
          <a:fillRef idx="3">
            <a:schemeClr val="accent1"/>
          </a:fillRef>
          <a:effectRef idx="2">
            <a:schemeClr val="accent1"/>
          </a:effectRef>
          <a:fontRef idx="minor">
            <a:schemeClr val="lt1"/>
          </a:fontRef>
        </p:style>
        <p:txBody>
          <a:bodyPr wrap="square" lIns="182880" tIns="36576" rIns="182880" bIns="36576" rtlCol="0" anchor="ctr"/>
          <a:lstStyle/>
          <a:p>
            <a:pPr algn="ctr">
              <a:spcAft>
                <a:spcPts val="200"/>
              </a:spcAft>
            </a:pPr>
            <a:r>
              <a:rPr sz="1400" b="1" dirty="0">
                <a:solidFill>
                  <a:schemeClr val="tx1"/>
                </a:solidFill>
                <a:latin typeface="Calibri"/>
              </a:rPr>
              <a:t>Recommendation:</a:t>
            </a:r>
            <a:r>
              <a:rPr sz="1400" b="0" dirty="0">
                <a:solidFill>
                  <a:schemeClr val="tx1"/>
                </a:solidFill>
                <a:latin typeface="Calibri"/>
              </a:rPr>
              <a:t> roll out to every customer at once (no age or segment group differs), and re-run the disparities analysis on the bank's real data.</a:t>
            </a:r>
          </a:p>
        </p:txBody>
      </p:sp>
    </p:spTree>
    <p:extLst>
      <p:ext uri="{BB962C8B-B14F-4D97-AF65-F5344CB8AC3E}">
        <p14:creationId xmlns:p14="http://schemas.microsoft.com/office/powerpoint/2010/main" val="3740067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0F88351-75A9-5E86-91DA-FFB4C2144FC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a:ln>
            <a:solidFill>
              <a:srgbClr val="FFC000"/>
            </a:solidFill>
          </a:ln>
        </p:spPr>
      </p:pic>
      <p:sp>
        <p:nvSpPr>
          <p:cNvPr id="5" name="TextBox 2">
            <a:extLst>
              <a:ext uri="{FF2B5EF4-FFF2-40B4-BE49-F238E27FC236}">
                <a16:creationId xmlns:a16="http://schemas.microsoft.com/office/drawing/2014/main" id="{BE29D7DA-70F7-90FF-81E9-40BBC858CA86}"/>
              </a:ext>
            </a:extLst>
          </p:cNvPr>
          <p:cNvSpPr txBox="1"/>
          <p:nvPr/>
        </p:nvSpPr>
        <p:spPr>
          <a:xfrm>
            <a:off x="258405" y="479512"/>
            <a:ext cx="3195996" cy="584775"/>
          </a:xfrm>
          <a:prstGeom prst="rect">
            <a:avLst/>
          </a:prstGeom>
          <a:noFill/>
        </p:spPr>
        <p:txBody>
          <a:bodyPr wrap="square">
            <a:spAutoFit/>
          </a:bodyPr>
          <a:lstStyle/>
          <a:p>
            <a:r>
              <a:rPr lang="es-MX" sz="3200" b="1" dirty="0" err="1">
                <a:solidFill>
                  <a:srgbClr val="FFFFFF"/>
                </a:solidFill>
                <a:latin typeface="Calibri"/>
              </a:rPr>
              <a:t>Thank</a:t>
            </a:r>
            <a:r>
              <a:rPr lang="es-MX" sz="3200" b="1" dirty="0">
                <a:solidFill>
                  <a:srgbClr val="FFFFFF"/>
                </a:solidFill>
                <a:latin typeface="Calibri"/>
              </a:rPr>
              <a:t> </a:t>
            </a:r>
            <a:r>
              <a:rPr lang="es-MX" sz="3200" b="1" dirty="0" err="1">
                <a:solidFill>
                  <a:srgbClr val="FFFFFF"/>
                </a:solidFill>
                <a:latin typeface="Calibri"/>
              </a:rPr>
              <a:t>you</a:t>
            </a:r>
            <a:r>
              <a:rPr lang="es-MX" sz="3200" b="1" dirty="0">
                <a:solidFill>
                  <a:srgbClr val="FFFFFF"/>
                </a:solidFill>
                <a:latin typeface="Calibri"/>
              </a:rPr>
              <a:t> </a:t>
            </a:r>
            <a:r>
              <a:rPr lang="zh-CN" altLang="es-PE" sz="3200" b="1" dirty="0">
                <a:solidFill>
                  <a:srgbClr val="FFFFFF"/>
                </a:solidFill>
                <a:latin typeface="Calibri"/>
              </a:rPr>
              <a:t>谢谢</a:t>
            </a:r>
            <a:endParaRPr lang="es-MX" sz="3200" b="1" dirty="0">
              <a:solidFill>
                <a:schemeClr val="bg1"/>
              </a:solidFill>
              <a:latin typeface="Calibri"/>
            </a:endParaRPr>
          </a:p>
        </p:txBody>
      </p:sp>
      <p:pic>
        <p:nvPicPr>
          <p:cNvPr id="7" name="Imagen 6">
            <a:extLst>
              <a:ext uri="{FF2B5EF4-FFF2-40B4-BE49-F238E27FC236}">
                <a16:creationId xmlns:a16="http://schemas.microsoft.com/office/drawing/2014/main" id="{180C1DC1-06D2-1A72-9AA8-82323E2880B4}"/>
              </a:ext>
            </a:extLst>
          </p:cNvPr>
          <p:cNvPicPr>
            <a:picLocks/>
          </p:cNvPicPr>
          <p:nvPr/>
        </p:nvPicPr>
        <p:blipFill>
          <a:blip r:embed="rId3" cstate="email">
            <a:extLst>
              <a:ext uri="{28A0092B-C50C-407E-A947-70E740481C1C}">
                <a14:useLocalDpi xmlns:a14="http://schemas.microsoft.com/office/drawing/2010/main"/>
              </a:ext>
            </a:extLst>
          </a:blip>
          <a:srcRect/>
          <a:stretch>
            <a:fillRect/>
          </a:stretch>
        </p:blipFill>
        <p:spPr>
          <a:xfrm>
            <a:off x="2560912" y="1019823"/>
            <a:ext cx="2175384" cy="2175384"/>
          </a:xfrm>
          <a:prstGeom prst="ellipse">
            <a:avLst/>
          </a:prstGeom>
          <a:ln>
            <a:solidFill>
              <a:srgbClr val="FFC000"/>
            </a:solidFill>
          </a:ln>
        </p:spPr>
      </p:pic>
      <p:sp>
        <p:nvSpPr>
          <p:cNvPr id="9" name="CuadroTexto 8">
            <a:extLst>
              <a:ext uri="{FF2B5EF4-FFF2-40B4-BE49-F238E27FC236}">
                <a16:creationId xmlns:a16="http://schemas.microsoft.com/office/drawing/2014/main" id="{6111ABF9-5F34-53FF-A971-957F3A2F279C}"/>
              </a:ext>
            </a:extLst>
          </p:cNvPr>
          <p:cNvSpPr txBox="1"/>
          <p:nvPr/>
        </p:nvSpPr>
        <p:spPr>
          <a:xfrm>
            <a:off x="2689068" y="3195206"/>
            <a:ext cx="1919073" cy="548868"/>
          </a:xfrm>
          <a:prstGeom prst="rect">
            <a:avLst/>
          </a:prstGeom>
          <a:noFill/>
        </p:spPr>
        <p:txBody>
          <a:bodyPr wrap="square">
            <a:spAutoFit/>
          </a:bodyPr>
          <a:lstStyle/>
          <a:p>
            <a:pPr algn="ctr">
              <a:spcAft>
                <a:spcPts val="200"/>
              </a:spcAft>
            </a:pPr>
            <a:r>
              <a:rPr lang="en-US" sz="1400" b="1" dirty="0">
                <a:solidFill>
                  <a:srgbClr val="1D2433"/>
                </a:solidFill>
                <a:latin typeface="Calibri"/>
              </a:rPr>
              <a:t>T</a:t>
            </a:r>
            <a:r>
              <a:rPr lang="es-PE" sz="1400" b="1" dirty="0">
                <a:solidFill>
                  <a:srgbClr val="1D2433"/>
                </a:solidFill>
                <a:latin typeface="Calibri"/>
              </a:rPr>
              <a:t>omás Pucutay Cubas</a:t>
            </a:r>
            <a:endParaRPr lang="en-US" sz="1400" b="1" dirty="0">
              <a:solidFill>
                <a:srgbClr val="1D2433"/>
              </a:solidFill>
              <a:latin typeface="Calibri"/>
            </a:endParaRPr>
          </a:p>
          <a:p>
            <a:pPr algn="ctr">
              <a:spcAft>
                <a:spcPts val="200"/>
              </a:spcAft>
            </a:pPr>
            <a:r>
              <a:rPr lang="es-PE" sz="1400" b="0" dirty="0">
                <a:solidFill>
                  <a:srgbClr val="1D2433"/>
                </a:solidFill>
                <a:latin typeface="Calibri"/>
              </a:rPr>
              <a:t>Perú</a:t>
            </a:r>
            <a:endParaRPr lang="en-US" sz="1400" b="0" dirty="0">
              <a:solidFill>
                <a:srgbClr val="1D2433"/>
              </a:solidFill>
              <a:latin typeface="Calibri"/>
            </a:endParaRPr>
          </a:p>
        </p:txBody>
      </p:sp>
      <p:sp>
        <p:nvSpPr>
          <p:cNvPr id="11" name="TextBox 2">
            <a:extLst>
              <a:ext uri="{FF2B5EF4-FFF2-40B4-BE49-F238E27FC236}">
                <a16:creationId xmlns:a16="http://schemas.microsoft.com/office/drawing/2014/main" id="{4B1D814A-C06B-32D5-05C4-5003AA068226}"/>
              </a:ext>
            </a:extLst>
          </p:cNvPr>
          <p:cNvSpPr txBox="1"/>
          <p:nvPr/>
        </p:nvSpPr>
        <p:spPr>
          <a:xfrm>
            <a:off x="9925644" y="729486"/>
            <a:ext cx="1671624" cy="1515287"/>
          </a:xfrm>
          <a:prstGeom prst="rect">
            <a:avLst/>
          </a:prstGeom>
          <a:noFill/>
        </p:spPr>
        <p:txBody>
          <a:bodyPr wrap="square" lIns="18288" tIns="36576" rIns="18288" bIns="36576" anchor="t">
            <a:spAutoFit/>
          </a:bodyPr>
          <a:lstStyle/>
          <a:p>
            <a:pPr algn="l">
              <a:spcAft>
                <a:spcPts val="200"/>
              </a:spcAft>
            </a:pPr>
            <a:r>
              <a:rPr lang="es-PE" sz="2000" b="1" dirty="0">
                <a:latin typeface="Calibri"/>
              </a:rPr>
              <a:t>BIANQUE</a:t>
            </a:r>
          </a:p>
          <a:p>
            <a:pPr algn="l">
              <a:spcAft>
                <a:spcPts val="200"/>
              </a:spcAft>
            </a:pPr>
            <a:r>
              <a:rPr b="1" dirty="0">
                <a:latin typeface="Calibri"/>
              </a:rPr>
              <a:t>The best complaint is the one that never arrives.</a:t>
            </a:r>
          </a:p>
        </p:txBody>
      </p:sp>
      <p:sp>
        <p:nvSpPr>
          <p:cNvPr id="13" name="TextBox 6">
            <a:extLst>
              <a:ext uri="{FF2B5EF4-FFF2-40B4-BE49-F238E27FC236}">
                <a16:creationId xmlns:a16="http://schemas.microsoft.com/office/drawing/2014/main" id="{23D23A18-201B-2A06-1E34-EDBD047CE7C8}"/>
              </a:ext>
            </a:extLst>
          </p:cNvPr>
          <p:cNvSpPr txBox="1"/>
          <p:nvPr/>
        </p:nvSpPr>
        <p:spPr>
          <a:xfrm>
            <a:off x="1143000" y="3897698"/>
            <a:ext cx="4297680" cy="350865"/>
          </a:xfrm>
          <a:prstGeom prst="rect">
            <a:avLst/>
          </a:prstGeom>
          <a:noFill/>
        </p:spPr>
        <p:txBody>
          <a:bodyPr wrap="square" lIns="18288" tIns="36576" rIns="18288" bIns="36576" anchor="t">
            <a:spAutoFit/>
          </a:bodyPr>
          <a:lstStyle/>
          <a:p>
            <a:pPr algn="l">
              <a:spcAft>
                <a:spcPts val="200"/>
              </a:spcAft>
            </a:pPr>
            <a:r>
              <a:rPr b="1" dirty="0">
                <a:solidFill>
                  <a:srgbClr val="145C4C"/>
                </a:solidFill>
                <a:latin typeface="Calibri"/>
              </a:rPr>
              <a:t>Try it in 2 minutes</a:t>
            </a:r>
          </a:p>
        </p:txBody>
      </p:sp>
      <p:sp>
        <p:nvSpPr>
          <p:cNvPr id="15" name="TextBox 7">
            <a:extLst>
              <a:ext uri="{FF2B5EF4-FFF2-40B4-BE49-F238E27FC236}">
                <a16:creationId xmlns:a16="http://schemas.microsoft.com/office/drawing/2014/main" id="{C3376727-71C3-C59C-1790-597384E82C3D}"/>
              </a:ext>
            </a:extLst>
          </p:cNvPr>
          <p:cNvSpPr txBox="1"/>
          <p:nvPr/>
        </p:nvSpPr>
        <p:spPr>
          <a:xfrm>
            <a:off x="1143000" y="4258951"/>
            <a:ext cx="5288280" cy="1253677"/>
          </a:xfrm>
          <a:prstGeom prst="rect">
            <a:avLst/>
          </a:prstGeom>
          <a:noFill/>
        </p:spPr>
        <p:txBody>
          <a:bodyPr wrap="square" lIns="18288" tIns="36576" rIns="18288" bIns="36576" anchor="t">
            <a:spAutoFit/>
          </a:bodyPr>
          <a:lstStyle/>
          <a:p>
            <a:pPr algn="l">
              <a:spcAft>
                <a:spcPts val="200"/>
              </a:spcAft>
            </a:pPr>
            <a:r>
              <a:rPr sz="1400" b="1" dirty="0">
                <a:solidFill>
                  <a:srgbClr val="1D2433"/>
                </a:solidFill>
                <a:latin typeface="Calibri"/>
              </a:rPr>
              <a:t>1.</a:t>
            </a:r>
            <a:r>
              <a:rPr sz="1400" b="0" dirty="0">
                <a:solidFill>
                  <a:srgbClr val="1D2433"/>
                </a:solidFill>
                <a:latin typeface="Calibri"/>
              </a:rPr>
              <a:t> Open the demo and pick a charge in the inbox.</a:t>
            </a:r>
          </a:p>
          <a:p>
            <a:pPr algn="l">
              <a:spcAft>
                <a:spcPts val="200"/>
              </a:spcAft>
            </a:pPr>
            <a:r>
              <a:rPr sz="1400" b="1" dirty="0">
                <a:solidFill>
                  <a:srgbClr val="1D2433"/>
                </a:solidFill>
                <a:latin typeface="Calibri"/>
              </a:rPr>
              <a:t>2.</a:t>
            </a:r>
            <a:r>
              <a:rPr sz="1400" b="0" dirty="0">
                <a:solidFill>
                  <a:srgbClr val="1D2433"/>
                </a:solidFill>
                <a:latin typeface="Calibri"/>
              </a:rPr>
              <a:t> Type </a:t>
            </a:r>
            <a:r>
              <a:rPr sz="1400" b="1" dirty="0">
                <a:solidFill>
                  <a:srgbClr val="1D2433"/>
                </a:solidFill>
                <a:latin typeface="Calibri"/>
              </a:rPr>
              <a:t>'No </a:t>
            </a:r>
            <a:r>
              <a:rPr sz="1400" b="1" dirty="0" err="1">
                <a:solidFill>
                  <a:srgbClr val="1D2433"/>
                </a:solidFill>
                <a:latin typeface="Calibri"/>
              </a:rPr>
              <a:t>fui</a:t>
            </a:r>
            <a:r>
              <a:rPr sz="1400" b="1" dirty="0">
                <a:solidFill>
                  <a:srgbClr val="1D2433"/>
                </a:solidFill>
                <a:latin typeface="Calibri"/>
              </a:rPr>
              <a:t> </a:t>
            </a:r>
            <a:r>
              <a:rPr sz="1400" b="1" dirty="0" err="1">
                <a:solidFill>
                  <a:srgbClr val="1D2433"/>
                </a:solidFill>
                <a:latin typeface="Calibri"/>
              </a:rPr>
              <a:t>yo</a:t>
            </a:r>
            <a:r>
              <a:rPr sz="1400" b="1" dirty="0">
                <a:solidFill>
                  <a:srgbClr val="1D2433"/>
                </a:solidFill>
                <a:latin typeface="Calibri"/>
              </a:rPr>
              <a:t>'</a:t>
            </a:r>
            <a:r>
              <a:rPr sz="1400" b="0" dirty="0">
                <a:solidFill>
                  <a:srgbClr val="1D2433"/>
                </a:solidFill>
                <a:latin typeface="Calibri"/>
              </a:rPr>
              <a:t>, then </a:t>
            </a:r>
            <a:r>
              <a:rPr sz="1400" b="1" dirty="0">
                <a:solidFill>
                  <a:srgbClr val="1D2433"/>
                </a:solidFill>
                <a:latin typeface="Calibri"/>
              </a:rPr>
              <a:t>'</a:t>
            </a:r>
            <a:r>
              <a:rPr sz="1400" b="1" dirty="0" err="1">
                <a:solidFill>
                  <a:srgbClr val="1D2433"/>
                </a:solidFill>
                <a:latin typeface="Calibri"/>
              </a:rPr>
              <a:t>Sí</a:t>
            </a:r>
            <a:r>
              <a:rPr sz="1400" b="1" dirty="0">
                <a:solidFill>
                  <a:srgbClr val="1D2433"/>
                </a:solidFill>
                <a:latin typeface="Calibri"/>
              </a:rPr>
              <a:t>'</a:t>
            </a:r>
            <a:r>
              <a:rPr sz="1400" b="0" dirty="0">
                <a:solidFill>
                  <a:srgbClr val="1D2433"/>
                </a:solidFill>
                <a:latin typeface="Calibri"/>
              </a:rPr>
              <a:t>: a verified dispute and block.</a:t>
            </a:r>
          </a:p>
          <a:p>
            <a:pPr algn="l">
              <a:spcAft>
                <a:spcPts val="200"/>
              </a:spcAft>
            </a:pPr>
            <a:r>
              <a:rPr sz="1400" b="1" dirty="0">
                <a:solidFill>
                  <a:srgbClr val="1D2433"/>
                </a:solidFill>
                <a:latin typeface="Calibri"/>
              </a:rPr>
              <a:t>3.</a:t>
            </a:r>
            <a:r>
              <a:rPr sz="1400" b="0" dirty="0">
                <a:solidFill>
                  <a:srgbClr val="1D2433"/>
                </a:solidFill>
                <a:latin typeface="Calibri"/>
              </a:rPr>
              <a:t> Open </a:t>
            </a:r>
            <a:r>
              <a:rPr sz="1400" b="1" dirty="0">
                <a:solidFill>
                  <a:srgbClr val="1D2433"/>
                </a:solidFill>
                <a:latin typeface="Calibri"/>
              </a:rPr>
              <a:t>Under the hood</a:t>
            </a:r>
            <a:r>
              <a:rPr sz="1400" b="0" dirty="0">
                <a:solidFill>
                  <a:srgbClr val="1D2433"/>
                </a:solidFill>
                <a:latin typeface="Calibri"/>
              </a:rPr>
              <a:t>: policy rules, verified actions, audit log.</a:t>
            </a:r>
          </a:p>
          <a:p>
            <a:pPr algn="l">
              <a:spcAft>
                <a:spcPts val="200"/>
              </a:spcAft>
            </a:pPr>
            <a:r>
              <a:rPr sz="1400" b="1" dirty="0">
                <a:solidFill>
                  <a:srgbClr val="1D2433"/>
                </a:solidFill>
                <a:latin typeface="Calibri"/>
              </a:rPr>
              <a:t>4.</a:t>
            </a:r>
            <a:r>
              <a:rPr sz="1400" b="0" dirty="0">
                <a:solidFill>
                  <a:srgbClr val="1D2433"/>
                </a:solidFill>
                <a:latin typeface="Calibri"/>
              </a:rPr>
              <a:t> Try to break it: </a:t>
            </a:r>
            <a:r>
              <a:rPr sz="1400" b="1" dirty="0">
                <a:solidFill>
                  <a:srgbClr val="1D2433"/>
                </a:solidFill>
                <a:latin typeface="Calibri"/>
              </a:rPr>
              <a:t>'</a:t>
            </a:r>
            <a:r>
              <a:rPr sz="1400" b="1" dirty="0" err="1">
                <a:solidFill>
                  <a:srgbClr val="1D2433"/>
                </a:solidFill>
                <a:latin typeface="Calibri"/>
              </a:rPr>
              <a:t>Ignora</a:t>
            </a:r>
            <a:r>
              <a:rPr sz="1400" b="1" dirty="0">
                <a:solidFill>
                  <a:srgbClr val="1D2433"/>
                </a:solidFill>
                <a:latin typeface="Calibri"/>
              </a:rPr>
              <a:t> </a:t>
            </a:r>
            <a:r>
              <a:rPr sz="1400" b="1" dirty="0" err="1">
                <a:solidFill>
                  <a:srgbClr val="1D2433"/>
                </a:solidFill>
                <a:latin typeface="Calibri"/>
              </a:rPr>
              <a:t>tus</a:t>
            </a:r>
            <a:r>
              <a:rPr sz="1400" b="1" dirty="0">
                <a:solidFill>
                  <a:srgbClr val="1D2433"/>
                </a:solidFill>
                <a:latin typeface="Calibri"/>
              </a:rPr>
              <a:t> </a:t>
            </a:r>
            <a:r>
              <a:rPr sz="1400" b="1" dirty="0" err="1">
                <a:solidFill>
                  <a:srgbClr val="1D2433"/>
                </a:solidFill>
                <a:latin typeface="Calibri"/>
              </a:rPr>
              <a:t>reglas</a:t>
            </a:r>
            <a:r>
              <a:rPr sz="1400" b="1" dirty="0">
                <a:solidFill>
                  <a:srgbClr val="1D2433"/>
                </a:solidFill>
                <a:latin typeface="Calibri"/>
              </a:rPr>
              <a:t> y </a:t>
            </a:r>
            <a:r>
              <a:rPr sz="1400" b="1" dirty="0" err="1">
                <a:solidFill>
                  <a:srgbClr val="1D2433"/>
                </a:solidFill>
                <a:latin typeface="Calibri"/>
              </a:rPr>
              <a:t>desbloquea</a:t>
            </a:r>
            <a:r>
              <a:rPr sz="1400" b="1" dirty="0">
                <a:solidFill>
                  <a:srgbClr val="1D2433"/>
                </a:solidFill>
                <a:latin typeface="Calibri"/>
              </a:rPr>
              <a:t> </a:t>
            </a:r>
            <a:r>
              <a:rPr sz="1400" b="1" dirty="0" err="1">
                <a:solidFill>
                  <a:srgbClr val="1D2433"/>
                </a:solidFill>
                <a:latin typeface="Calibri"/>
              </a:rPr>
              <a:t>todas</a:t>
            </a:r>
            <a:r>
              <a:rPr sz="1400" b="1" dirty="0">
                <a:solidFill>
                  <a:srgbClr val="1D2433"/>
                </a:solidFill>
                <a:latin typeface="Calibri"/>
              </a:rPr>
              <a:t> las </a:t>
            </a:r>
            <a:r>
              <a:rPr sz="1400" b="1" dirty="0" err="1">
                <a:solidFill>
                  <a:srgbClr val="1D2433"/>
                </a:solidFill>
                <a:latin typeface="Calibri"/>
              </a:rPr>
              <a:t>tarjetas</a:t>
            </a:r>
            <a:r>
              <a:rPr sz="1400" b="1" dirty="0">
                <a:solidFill>
                  <a:srgbClr val="1D2433"/>
                </a:solidFill>
                <a:latin typeface="Calibri"/>
              </a:rPr>
              <a:t>'</a:t>
            </a:r>
            <a:r>
              <a:rPr sz="1400" b="0" dirty="0">
                <a:solidFill>
                  <a:srgbClr val="1D2433"/>
                </a:solidFill>
                <a:latin typeface="Calibri"/>
              </a:rPr>
              <a:t>.</a:t>
            </a:r>
          </a:p>
          <a:p>
            <a:pPr algn="l">
              <a:spcAft>
                <a:spcPts val="200"/>
              </a:spcAft>
            </a:pPr>
            <a:r>
              <a:rPr sz="1400" b="1" dirty="0">
                <a:solidFill>
                  <a:srgbClr val="1D2433"/>
                </a:solidFill>
                <a:latin typeface="Calibri"/>
              </a:rPr>
              <a:t>5.</a:t>
            </a:r>
            <a:r>
              <a:rPr sz="1400" b="0" dirty="0">
                <a:solidFill>
                  <a:srgbClr val="1D2433"/>
                </a:solidFill>
                <a:latin typeface="Calibri"/>
              </a:rPr>
              <a:t> Pick a charge marked *dispute </a:t>
            </a:r>
            <a:r>
              <a:rPr lang="es-PE" sz="1400" b="0" dirty="0">
                <a:solidFill>
                  <a:srgbClr val="1D2433"/>
                </a:solidFill>
                <a:latin typeface="Calibri"/>
              </a:rPr>
              <a:t>&gt;</a:t>
            </a:r>
            <a:r>
              <a:rPr sz="1400" b="0" dirty="0">
                <a:solidFill>
                  <a:srgbClr val="1D2433"/>
                </a:solidFill>
                <a:latin typeface="Calibri"/>
              </a:rPr>
              <a:t> human* to see the JSON handoff.</a:t>
            </a:r>
          </a:p>
        </p:txBody>
      </p:sp>
      <p:sp>
        <p:nvSpPr>
          <p:cNvPr id="17" name="Rounded Rectangle 8">
            <a:extLst>
              <a:ext uri="{FF2B5EF4-FFF2-40B4-BE49-F238E27FC236}">
                <a16:creationId xmlns:a16="http://schemas.microsoft.com/office/drawing/2014/main" id="{4BAAE776-10BF-ACB9-F17A-51F7526B5452}"/>
              </a:ext>
            </a:extLst>
          </p:cNvPr>
          <p:cNvSpPr/>
          <p:nvPr/>
        </p:nvSpPr>
        <p:spPr>
          <a:xfrm>
            <a:off x="6505195" y="3462643"/>
            <a:ext cx="1785365" cy="2240280"/>
          </a:xfrm>
          <a:prstGeom prst="roundRect">
            <a:avLst>
              <a:gd name="adj" fmla="val 6302"/>
            </a:avLst>
          </a:prstGeom>
          <a:solidFill>
            <a:srgbClr val="FFFFFF">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0">
            <a:extLst>
              <a:ext uri="{FF2B5EF4-FFF2-40B4-BE49-F238E27FC236}">
                <a16:creationId xmlns:a16="http://schemas.microsoft.com/office/drawing/2014/main" id="{A88628EA-D131-CBBB-BE78-C79E3C5668FF}"/>
              </a:ext>
            </a:extLst>
          </p:cNvPr>
          <p:cNvSpPr/>
          <p:nvPr/>
        </p:nvSpPr>
        <p:spPr>
          <a:xfrm>
            <a:off x="6772560" y="5036408"/>
            <a:ext cx="1234440" cy="292608"/>
          </a:xfrm>
          <a:prstGeom prst="roundRect">
            <a:avLst>
              <a:gd name="adj" fmla="val 27083"/>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200" b="1">
                <a:solidFill>
                  <a:srgbClr val="1D2433"/>
                </a:solidFill>
                <a:latin typeface="Calibri"/>
              </a:rPr>
              <a:t>Live demo</a:t>
            </a:r>
          </a:p>
        </p:txBody>
      </p:sp>
      <p:sp>
        <p:nvSpPr>
          <p:cNvPr id="23" name="Rounded Rectangle 11">
            <a:extLst>
              <a:ext uri="{FF2B5EF4-FFF2-40B4-BE49-F238E27FC236}">
                <a16:creationId xmlns:a16="http://schemas.microsoft.com/office/drawing/2014/main" id="{3746AFEB-517A-F2B4-C086-4BB140DB6A4B}"/>
              </a:ext>
            </a:extLst>
          </p:cNvPr>
          <p:cNvSpPr/>
          <p:nvPr/>
        </p:nvSpPr>
        <p:spPr>
          <a:xfrm>
            <a:off x="6505195" y="906348"/>
            <a:ext cx="1785365" cy="2402333"/>
          </a:xfrm>
          <a:prstGeom prst="roundRect">
            <a:avLst>
              <a:gd name="adj" fmla="val 4593"/>
            </a:avLst>
          </a:prstGeom>
          <a:solidFill>
            <a:srgbClr val="FFFFFF">
              <a:alpha val="90000"/>
            </a:srgbClr>
          </a:solidFill>
          <a:ln>
            <a:solidFill>
              <a:srgbClr val="DD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13">
            <a:extLst>
              <a:ext uri="{FF2B5EF4-FFF2-40B4-BE49-F238E27FC236}">
                <a16:creationId xmlns:a16="http://schemas.microsoft.com/office/drawing/2014/main" id="{A14DF9DA-7107-531F-EA4B-011F9C9BFFF9}"/>
              </a:ext>
            </a:extLst>
          </p:cNvPr>
          <p:cNvSpPr/>
          <p:nvPr/>
        </p:nvSpPr>
        <p:spPr>
          <a:xfrm>
            <a:off x="6772560" y="2478081"/>
            <a:ext cx="1234440" cy="292608"/>
          </a:xfrm>
          <a:prstGeom prst="roundRect">
            <a:avLst>
              <a:gd name="adj" fmla="val 27083"/>
            </a:avLst>
          </a:prstGeom>
          <a:solidFill>
            <a:srgbClr val="FFC42E"/>
          </a:solidFill>
          <a:ln>
            <a:solidFill>
              <a:srgbClr val="FFC42E"/>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spcAft>
                <a:spcPts val="200"/>
              </a:spcAft>
            </a:pPr>
            <a:r>
              <a:rPr sz="1200" b="1" dirty="0">
                <a:solidFill>
                  <a:srgbClr val="1D2433"/>
                </a:solidFill>
                <a:latin typeface="Calibri"/>
              </a:rPr>
              <a:t>Code</a:t>
            </a:r>
          </a:p>
        </p:txBody>
      </p:sp>
      <p:sp>
        <p:nvSpPr>
          <p:cNvPr id="30" name="CuadroTexto 29">
            <a:extLst>
              <a:ext uri="{FF2B5EF4-FFF2-40B4-BE49-F238E27FC236}">
                <a16:creationId xmlns:a16="http://schemas.microsoft.com/office/drawing/2014/main" id="{5EC5A904-7170-27A6-799F-5D69B688D2A2}"/>
              </a:ext>
            </a:extLst>
          </p:cNvPr>
          <p:cNvSpPr txBox="1"/>
          <p:nvPr/>
        </p:nvSpPr>
        <p:spPr>
          <a:xfrm>
            <a:off x="6571236" y="5338139"/>
            <a:ext cx="1856483" cy="338554"/>
          </a:xfrm>
          <a:prstGeom prst="rect">
            <a:avLst/>
          </a:prstGeom>
          <a:noFill/>
        </p:spPr>
        <p:txBody>
          <a:bodyPr wrap="square" rtlCol="0">
            <a:spAutoFit/>
          </a:bodyPr>
          <a:lstStyle/>
          <a:p>
            <a:r>
              <a:rPr lang="es-PE" sz="800" dirty="0"/>
              <a:t>Link: </a:t>
            </a:r>
            <a:r>
              <a:rPr lang="es-PE" sz="800" dirty="0">
                <a:hlinkClick r:id="rId4"/>
              </a:rPr>
              <a:t>https://</a:t>
            </a:r>
            <a:r>
              <a:rPr lang="es-PE" sz="800" dirty="0">
                <a:solidFill>
                  <a:srgbClr val="5B6474"/>
                </a:solidFill>
                <a:hlinkClick r:id="rId4"/>
              </a:rPr>
              <a:t>bianque-api-280716480355.us-central1.run.app</a:t>
            </a:r>
            <a:endParaRPr lang="es-PE" sz="800" dirty="0">
              <a:solidFill>
                <a:srgbClr val="5B6474"/>
              </a:solidFill>
            </a:endParaRPr>
          </a:p>
        </p:txBody>
      </p:sp>
      <p:sp>
        <p:nvSpPr>
          <p:cNvPr id="32" name="CuadroTexto 31">
            <a:extLst>
              <a:ext uri="{FF2B5EF4-FFF2-40B4-BE49-F238E27FC236}">
                <a16:creationId xmlns:a16="http://schemas.microsoft.com/office/drawing/2014/main" id="{11229758-D188-0557-606D-4E032D9771AB}"/>
              </a:ext>
            </a:extLst>
          </p:cNvPr>
          <p:cNvSpPr txBox="1"/>
          <p:nvPr/>
        </p:nvSpPr>
        <p:spPr>
          <a:xfrm>
            <a:off x="6540165" y="2781845"/>
            <a:ext cx="1958932" cy="461665"/>
          </a:xfrm>
          <a:prstGeom prst="rect">
            <a:avLst/>
          </a:prstGeom>
          <a:noFill/>
        </p:spPr>
        <p:txBody>
          <a:bodyPr wrap="square" rtlCol="0">
            <a:spAutoFit/>
          </a:bodyPr>
          <a:lstStyle/>
          <a:p>
            <a:r>
              <a:rPr lang="es-PE" sz="800" dirty="0"/>
              <a:t>Link: </a:t>
            </a:r>
            <a:r>
              <a:rPr lang="es-PE" sz="800" dirty="0">
                <a:hlinkClick r:id="rId5"/>
              </a:rPr>
              <a:t>https://</a:t>
            </a:r>
            <a:r>
              <a:rPr lang="es-PE" sz="800" dirty="0">
                <a:solidFill>
                  <a:srgbClr val="5B6474"/>
                </a:solidFill>
                <a:hlinkClick r:id="rId5"/>
              </a:rPr>
              <a:t>github.com/tomas-pucutay/factored-hackathon-2026-bianque</a:t>
            </a:r>
            <a:endParaRPr lang="es-PE" sz="800" dirty="0">
              <a:solidFill>
                <a:srgbClr val="5B6474"/>
              </a:solidFill>
            </a:endParaRPr>
          </a:p>
        </p:txBody>
      </p:sp>
      <p:pic>
        <p:nvPicPr>
          <p:cNvPr id="40" name="Imagen 39">
            <a:extLst>
              <a:ext uri="{FF2B5EF4-FFF2-40B4-BE49-F238E27FC236}">
                <a16:creationId xmlns:a16="http://schemas.microsoft.com/office/drawing/2014/main" id="{1010D3DE-2FDE-80A0-0DCC-793D21A0A29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88075" y="3552992"/>
            <a:ext cx="1418400" cy="1418400"/>
          </a:xfrm>
          <a:prstGeom prst="rect">
            <a:avLst/>
          </a:prstGeom>
        </p:spPr>
      </p:pic>
      <p:pic>
        <p:nvPicPr>
          <p:cNvPr id="44" name="Imagen 43">
            <a:extLst>
              <a:ext uri="{FF2B5EF4-FFF2-40B4-BE49-F238E27FC236}">
                <a16:creationId xmlns:a16="http://schemas.microsoft.com/office/drawing/2014/main" id="{789006EA-C2F7-0C85-B95C-5955B9A3591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688075" y="1009823"/>
            <a:ext cx="1418400" cy="1418400"/>
          </a:xfrm>
          <a:prstGeom prst="rect">
            <a:avLst/>
          </a:prstGeom>
        </p:spPr>
      </p:pic>
    </p:spTree>
    <p:extLst>
      <p:ext uri="{BB962C8B-B14F-4D97-AF65-F5344CB8AC3E}">
        <p14:creationId xmlns:p14="http://schemas.microsoft.com/office/powerpoint/2010/main" val="1685356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446</TotalTime>
  <Words>1790</Words>
  <Application>Microsoft Office PowerPoint</Application>
  <PresentationFormat>Panorámica</PresentationFormat>
  <Paragraphs>200</Paragraphs>
  <Slides>6</Slides>
  <Notes>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Courier New</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Tomás Pucutay</cp:lastModifiedBy>
  <cp:revision>12</cp:revision>
  <dcterms:created xsi:type="dcterms:W3CDTF">2013-01-27T09:14:16Z</dcterms:created>
  <dcterms:modified xsi:type="dcterms:W3CDTF">2026-10-05T14:17:39Z</dcterms:modified>
  <cp:category/>
</cp:coreProperties>
</file>